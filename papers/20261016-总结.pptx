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5888" r:id="rId2"/>
    <p:sldId id="16602519" r:id="rId3"/>
    <p:sldId id="16602520" r:id="rId4"/>
    <p:sldId id="16602532" r:id="rId5"/>
    <p:sldId id="16602535" r:id="rId6"/>
    <p:sldId id="256" r:id="rId7"/>
    <p:sldId id="257" r:id="rId8"/>
    <p:sldId id="16602531" r:id="rId9"/>
    <p:sldId id="16602533" r:id="rId10"/>
    <p:sldId id="16602538" r:id="rId11"/>
    <p:sldId id="16602528" r:id="rId12"/>
    <p:sldId id="16602541" r:id="rId13"/>
    <p:sldId id="258" r:id="rId14"/>
    <p:sldId id="16602542" r:id="rId15"/>
    <p:sldId id="16602525" r:id="rId16"/>
    <p:sldId id="16602526" r:id="rId17"/>
    <p:sldId id="16602524" r:id="rId18"/>
    <p:sldId id="16602539" r:id="rId19"/>
    <p:sldId id="16602543" r:id="rId20"/>
    <p:sldId id="986" r:id="rId21"/>
  </p:sldIdLst>
  <p:sldSz cx="12192000" cy="6858000"/>
  <p:notesSz cx="6797675" cy="9928225"/>
  <p:custDataLst>
    <p:tags r:id="rId2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93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qiu" initials="q"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E4F3"/>
    <a:srgbClr val="0070C0"/>
    <a:srgbClr val="009EEA"/>
    <a:srgbClr val="009DEA"/>
    <a:srgbClr val="009DE9"/>
    <a:srgbClr val="7030A0"/>
    <a:srgbClr val="D0D8E8"/>
    <a:srgbClr val="4F81BD"/>
    <a:srgbClr val="E9EDF4"/>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1" autoAdjust="0"/>
    <p:restoredTop sz="77320" autoAdjust="0"/>
  </p:normalViewPr>
  <p:slideViewPr>
    <p:cSldViewPr showGuides="1">
      <p:cViewPr varScale="1">
        <p:scale>
          <a:sx n="44" d="100"/>
          <a:sy n="44" d="100"/>
        </p:scale>
        <p:origin x="408" y="32"/>
      </p:cViewPr>
      <p:guideLst>
        <p:guide orient="horz" pos="2160"/>
        <p:guide pos="3840"/>
        <p:guide orient="horz" pos="938"/>
      </p:guideLst>
    </p:cSldViewPr>
  </p:slideViewPr>
  <p:notesTextViewPr>
    <p:cViewPr>
      <p:scale>
        <a:sx n="100" d="100"/>
        <a:sy n="100" d="100"/>
      </p:scale>
      <p:origin x="0" y="0"/>
    </p:cViewPr>
  </p:notesTextViewPr>
  <p:notesViewPr>
    <p:cSldViewPr>
      <p:cViewPr varScale="1">
        <p:scale>
          <a:sx n="46" d="100"/>
          <a:sy n="46" d="100"/>
        </p:scale>
        <p:origin x="2736" y="2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2B283B59-E1BB-41C4-9604-E336B7B8A2B8}" type="datetimeFigureOut">
              <a:rPr lang="zh-CN" altLang="en-US" smtClean="0"/>
              <a:t>2026/10/16</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06AD2C13-FAA2-4584-9FFB-7BB706D3E3A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2"/>
          </a:xfrm>
          <a:prstGeom prst="rect">
            <a:avLst/>
          </a:prstGeom>
        </p:spPr>
        <p:txBody>
          <a:bodyPr vert="horz" lIns="95571" tIns="47786" rIns="95571" bIns="47786" rtlCol="0"/>
          <a:lstStyle>
            <a:lvl1pPr algn="l" fontAlgn="auto">
              <a:spcBef>
                <a:spcPts val="0"/>
              </a:spcBef>
              <a:spcAft>
                <a:spcPts val="0"/>
              </a:spcAft>
              <a:defRPr sz="1300">
                <a:latin typeface="+mn-lt"/>
                <a:ea typeface="+mn-ea"/>
              </a:defRPr>
            </a:lvl1pPr>
          </a:lstStyle>
          <a:p>
            <a:pPr>
              <a:defRPr/>
            </a:pPr>
            <a:endParaRPr lang="zh-CN" altLang="en-US"/>
          </a:p>
        </p:txBody>
      </p:sp>
      <p:sp>
        <p:nvSpPr>
          <p:cNvPr id="3" name="日期占位符 2"/>
          <p:cNvSpPr>
            <a:spLocks noGrp="1"/>
          </p:cNvSpPr>
          <p:nvPr>
            <p:ph type="dt" idx="1"/>
          </p:nvPr>
        </p:nvSpPr>
        <p:spPr>
          <a:xfrm>
            <a:off x="3850443" y="0"/>
            <a:ext cx="2945659" cy="496412"/>
          </a:xfrm>
          <a:prstGeom prst="rect">
            <a:avLst/>
          </a:prstGeom>
        </p:spPr>
        <p:txBody>
          <a:bodyPr vert="horz" lIns="95571" tIns="47786" rIns="95571" bIns="47786" rtlCol="0"/>
          <a:lstStyle>
            <a:lvl1pPr algn="r" fontAlgn="auto">
              <a:spcBef>
                <a:spcPts val="0"/>
              </a:spcBef>
              <a:spcAft>
                <a:spcPts val="0"/>
              </a:spcAft>
              <a:defRPr sz="1300" smtClean="0">
                <a:latin typeface="+mn-lt"/>
                <a:ea typeface="+mn-ea"/>
              </a:defRPr>
            </a:lvl1pPr>
          </a:lstStyle>
          <a:p>
            <a:pPr>
              <a:defRPr/>
            </a:pPr>
            <a:fld id="{E91BA727-1357-41EA-B0EB-9BD86419FA56}" type="datetimeFigureOut">
              <a:rPr lang="zh-CN" altLang="en-US"/>
              <a:t>2026/10/16</a:t>
            </a:fld>
            <a:endParaRPr lang="zh-CN" altLang="en-US"/>
          </a:p>
        </p:txBody>
      </p:sp>
      <p:sp>
        <p:nvSpPr>
          <p:cNvPr id="4" name="幻灯片图像占位符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zh-CN" altLang="en-US" noProof="0"/>
          </a:p>
        </p:txBody>
      </p:sp>
      <p:sp>
        <p:nvSpPr>
          <p:cNvPr id="5" name="备注占位符 4"/>
          <p:cNvSpPr>
            <a:spLocks noGrp="1"/>
          </p:cNvSpPr>
          <p:nvPr>
            <p:ph type="body" sz="quarter" idx="3"/>
          </p:nvPr>
        </p:nvSpPr>
        <p:spPr>
          <a:xfrm>
            <a:off x="679768" y="4715907"/>
            <a:ext cx="5438140" cy="4467701"/>
          </a:xfrm>
          <a:prstGeom prst="rect">
            <a:avLst/>
          </a:prstGeom>
        </p:spPr>
        <p:txBody>
          <a:bodyPr vert="horz" lIns="95571" tIns="47786" rIns="95571" bIns="47786"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30091"/>
            <a:ext cx="2945659" cy="496412"/>
          </a:xfrm>
          <a:prstGeom prst="rect">
            <a:avLst/>
          </a:prstGeom>
        </p:spPr>
        <p:txBody>
          <a:bodyPr vert="horz" lIns="95571" tIns="47786" rIns="95571" bIns="47786" rtlCol="0" anchor="b"/>
          <a:lstStyle>
            <a:lvl1pPr algn="l" fontAlgn="auto">
              <a:spcBef>
                <a:spcPts val="0"/>
              </a:spcBef>
              <a:spcAft>
                <a:spcPts val="0"/>
              </a:spcAft>
              <a:defRPr sz="13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50443" y="9430091"/>
            <a:ext cx="2945659" cy="496412"/>
          </a:xfrm>
          <a:prstGeom prst="rect">
            <a:avLst/>
          </a:prstGeom>
        </p:spPr>
        <p:txBody>
          <a:bodyPr vert="horz" lIns="95571" tIns="47786" rIns="95571" bIns="47786" rtlCol="0" anchor="b"/>
          <a:lstStyle>
            <a:lvl1pPr algn="r" fontAlgn="auto">
              <a:spcBef>
                <a:spcPts val="0"/>
              </a:spcBef>
              <a:spcAft>
                <a:spcPts val="0"/>
              </a:spcAft>
              <a:defRPr sz="1300" smtClean="0">
                <a:latin typeface="+mn-lt"/>
                <a:ea typeface="+mn-ea"/>
              </a:defRPr>
            </a:lvl1pPr>
          </a:lstStyle>
          <a:p>
            <a:pPr>
              <a:defRPr/>
            </a:pPr>
            <a:fld id="{FDA7E7B5-F830-4878-A4EA-20F362EAF8AE}"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p:cNvSpPr>
            <a:spLocks noGrp="1" noRot="1" noChangeAspect="1"/>
          </p:cNvSpPr>
          <p:nvPr>
            <p:ph type="sldImg"/>
          </p:nvPr>
        </p:nvSpPr>
        <p:spPr/>
      </p:sp>
      <p:sp>
        <p:nvSpPr>
          <p:cNvPr id="54274" name="文本占位符 2"/>
          <p:cNvSpPr>
            <a:spLocks noGrp="1"/>
          </p:cNvSpPr>
          <p:nvPr>
            <p:ph type="body"/>
          </p:nvPr>
        </p:nvSpPr>
        <p:spPr/>
        <p:txBody>
          <a:bodyPr lIns="94768" tIns="47384" rIns="94768" bIns="47384" anchor="t" anchorCtr="0"/>
          <a:lstStyle/>
          <a:p>
            <a:pPr lvl="0"/>
            <a:endParaRPr lang="zh-CN" altLang="en-US" dirty="0"/>
          </a:p>
        </p:txBody>
      </p:sp>
      <p:sp>
        <p:nvSpPr>
          <p:cNvPr id="3" name="灯片编号占位符 2"/>
          <p:cNvSpPr>
            <a:spLocks noGrp="1"/>
          </p:cNvSpPr>
          <p:nvPr>
            <p:ph type="sldNum" sz="quarter" idx="5"/>
          </p:nvPr>
        </p:nvSpPr>
        <p:spPr/>
        <p:txBody>
          <a:bodyPr/>
          <a:lstStyle/>
          <a:p>
            <a:fld id="{C20E6AF1-37CA-4EA0-83BC-C2E4F56A12C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BE0A5B41-9793-47E7-B034-BE39D4A932DA}"/>
              </a:ext>
            </a:extLst>
          </p:cNvPr>
          <p:cNvSpPr>
            <a:spLocks noGrp="1" noRot="1" noChangeAspect="1" noChangeArrowheads="1" noTextEdit="1"/>
          </p:cNvSpPr>
          <p:nvPr>
            <p:ph type="sldImg"/>
          </p:nvPr>
        </p:nvSpPr>
        <p:spPr>
          <a:ln/>
        </p:spPr>
      </p:sp>
      <p:sp>
        <p:nvSpPr>
          <p:cNvPr id="7171" name="备注占位符 2">
            <a:extLst>
              <a:ext uri="{FF2B5EF4-FFF2-40B4-BE49-F238E27FC236}">
                <a16:creationId xmlns:a16="http://schemas.microsoft.com/office/drawing/2014/main" id="{63EDA0AF-5E98-4EDE-9030-0553FA6F30D7}"/>
              </a:ext>
            </a:extLst>
          </p:cNvPr>
          <p:cNvSpPr>
            <a:spLocks noGrp="1" noChangeArrowheads="1"/>
          </p:cNvSpPr>
          <p:nvPr>
            <p:ph type="body" idx="1"/>
          </p:nvPr>
        </p:nvSpPr>
        <p:spPr>
          <a:noFill/>
        </p:spPr>
        <p:txBody>
          <a:bodyPr/>
          <a:lstStyle/>
          <a:p>
            <a:endParaRPr lang="zh-CN" altLang="en-US" dirty="0"/>
          </a:p>
        </p:txBody>
      </p:sp>
      <p:sp>
        <p:nvSpPr>
          <p:cNvPr id="7172" name="灯片编号占位符 3">
            <a:extLst>
              <a:ext uri="{FF2B5EF4-FFF2-40B4-BE49-F238E27FC236}">
                <a16:creationId xmlns:a16="http://schemas.microsoft.com/office/drawing/2014/main" id="{EC7D33A1-8E2E-4025-B48A-67FB9F49E557}"/>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pPr/>
              <a:t>2</a:t>
            </a:fld>
            <a:endParaRPr lang="en-US" altLang="zh-CN">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mc:AlternateContent xmlns:mc="http://schemas.openxmlformats.org/markup-compatibility/2006" xmlns:a14="http://schemas.microsoft.com/office/drawing/2010/main">
        <mc:Choice Requires="a14">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备注：复现 </a:t>
                </a:r>
                <a:r>
                  <a:rPr lang="en-US" altLang="zh-CN" dirty="0"/>
                  <a:t>Science </a:t>
                </a:r>
                <a:r>
                  <a:rPr lang="zh-CN" altLang="en-US" dirty="0"/>
                  <a:t>文章</a:t>
                </a:r>
                <a:r>
                  <a:rPr lang="en-US" altLang="zh-CN" dirty="0"/>
                  <a:t>Fig2B:</a:t>
                </a:r>
                <a:r>
                  <a:rPr lang="zh-CN" altLang="zh-CN" dirty="0"/>
                  <a:t>小尺寸 </a:t>
                </a:r>
                <a14:m>
                  <m:oMath xmlns:m="http://schemas.openxmlformats.org/officeDocument/2006/math">
                    <m:r>
                      <a:rPr lang="en-US" altLang="zh-CN" sz="1200" kern="1200">
                        <a:solidFill>
                          <a:schemeClr val="tx1"/>
                        </a:solidFill>
                        <a:latin typeface="Cambria Math" panose="02040503050406030204" pitchFamily="18" charset="0"/>
                        <a:ea typeface="+mn-ea"/>
                        <a:cs typeface="+mn-cs"/>
                      </a:rPr>
                      <m:t>6</m:t>
                    </m:r>
                    <m:r>
                      <a:rPr lang="en-US" altLang="zh-CN" sz="1200" i="0" kern="1200">
                        <a:solidFill>
                          <a:schemeClr val="tx1"/>
                        </a:solidFill>
                        <a:latin typeface="Cambria Math" panose="02040503050406030204" pitchFamily="18" charset="0"/>
                        <a:ea typeface="+mn-ea"/>
                        <a:cs typeface="+mn-cs"/>
                      </a:rPr>
                      <m:t>×6</m:t>
                    </m:r>
                  </m:oMath>
                </a14:m>
                <a:r>
                  <a:rPr lang="zh-CN" altLang="zh-CN" dirty="0"/>
                  <a:t>系统中，较低 bond dimension 的 MPS 已能较好逼近高精度结果</a:t>
                </a:r>
                <a:r>
                  <a:rPr lang="en-US" altLang="zh-CN" dirty="0"/>
                  <a:t>,</a:t>
                </a:r>
                <a:r>
                  <a:rPr lang="zh-CN" altLang="en-US" dirty="0"/>
                  <a:t>复现结果与论文相近</a:t>
                </a:r>
              </a:p>
            </p:txBody>
          </p:sp>
        </mc:Choice>
        <mc:Fallback xmlns="">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备注：复现 </a:t>
                </a:r>
                <a:r>
                  <a:rPr lang="en-US" altLang="zh-CN" dirty="0"/>
                  <a:t>Science </a:t>
                </a:r>
                <a:r>
                  <a:rPr lang="zh-CN" altLang="en-US" dirty="0"/>
                  <a:t>文章</a:t>
                </a:r>
                <a:r>
                  <a:rPr lang="en-US" altLang="zh-CN" dirty="0"/>
                  <a:t>Fig2B:</a:t>
                </a:r>
                <a:r>
                  <a:rPr lang="zh-CN" altLang="zh-CN" dirty="0"/>
                  <a:t>小尺寸 </a:t>
                </a:r>
                <a:r>
                  <a:rPr lang="en-US" altLang="zh-CN" sz="1200" i="0" kern="1200">
                    <a:solidFill>
                      <a:schemeClr val="tx1"/>
                    </a:solidFill>
                    <a:latin typeface="+mn-lt"/>
                    <a:ea typeface="+mn-ea"/>
                    <a:cs typeface="+mn-cs"/>
                  </a:rPr>
                  <a:t>6×6</a:t>
                </a:r>
                <a:r>
                  <a:rPr lang="zh-CN" altLang="zh-CN" dirty="0"/>
                  <a:t>系统中，较低 bond dimension 的 MPS 已能较好逼近高精度结果</a:t>
                </a:r>
                <a:r>
                  <a:rPr lang="en-US" altLang="zh-CN" dirty="0"/>
                  <a:t>,</a:t>
                </a:r>
                <a:r>
                  <a:rPr lang="zh-CN" altLang="en-US" dirty="0"/>
                  <a:t>复现结果与论文相近</a:t>
                </a:r>
              </a:p>
            </p:txBody>
          </p:sp>
        </mc:Fallback>
      </mc:AlternateContent>
      <p:sp>
        <p:nvSpPr>
          <p:cNvPr id="717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3</a:t>
            </a:fld>
            <a:endParaRPr lang="en-US" altLang="zh-CN">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546A-3B16-70AE-BF22-43B84780E392}"/>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669705C0-744A-AB69-84F9-D2A57EE16FE9}"/>
              </a:ext>
            </a:extLst>
          </p:cNvPr>
          <p:cNvSpPr>
            <a:spLocks noGrp="1" noRot="1" noChangeAspect="1" noChangeArrowheads="1" noTextEdit="1"/>
          </p:cNvSpPr>
          <p:nvPr>
            <p:ph type="sldImg"/>
          </p:nvPr>
        </p:nvSpPr>
        <p:spPr/>
      </p:sp>
      <mc:AlternateContent xmlns:mc="http://schemas.openxmlformats.org/markup-compatibility/2006" xmlns:a14="http://schemas.microsoft.com/office/drawing/2010/main">
        <mc:Choice Requires="a14">
          <p:sp>
            <p:nvSpPr>
              <p:cNvPr id="7171" name="备注占位符 2">
                <a:extLst>
                  <a:ext uri="{FF2B5EF4-FFF2-40B4-BE49-F238E27FC236}">
                    <a16:creationId xmlns:a16="http://schemas.microsoft.com/office/drawing/2014/main" id="{56A4D34C-0541-BC19-A039-AF60C506024C}"/>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备注：左图可以看到，随着 </a:t>
                </a:r>
                <a:r>
                  <a:rPr lang="en-US" altLang="zh-CN" dirty="0" err="1"/>
                  <a:t>maxdim</a:t>
                </a:r>
                <a:r>
                  <a:rPr lang="en-US" altLang="zh-CN" dirty="0"/>
                  <a:t> </a:t>
                </a:r>
                <a:r>
                  <a:rPr lang="zh-CN" altLang="en-US" dirty="0"/>
                  <a:t>从 </a:t>
                </a:r>
                <a:r>
                  <a:rPr lang="en-US" altLang="zh-CN" dirty="0"/>
                  <a:t>32 </a:t>
                </a:r>
                <a:r>
                  <a:rPr lang="zh-CN" altLang="en-US" dirty="0"/>
                  <a:t>增加到 </a:t>
                </a:r>
                <a:r>
                  <a:rPr lang="en-US" altLang="zh-CN" dirty="0"/>
                  <a:t>128</a:t>
                </a:r>
                <a:r>
                  <a:rPr lang="zh-CN" altLang="en-US" dirty="0"/>
                  <a:t>、</a:t>
                </a:r>
                <a:r>
                  <a:rPr lang="en-US" altLang="zh-CN" dirty="0"/>
                  <a:t>256</a:t>
                </a:r>
                <a:r>
                  <a:rPr lang="zh-CN" altLang="en-US" dirty="0"/>
                  <a:t>，</a:t>
                </a:r>
                <a:r>
                  <a:rPr lang="en-US" altLang="zh-CN" dirty="0"/>
                  <a:t>(q^2) </a:t>
                </a:r>
                <a:r>
                  <a:rPr lang="zh-CN" altLang="en-US" dirty="0"/>
                  <a:t>的变化逐渐变小，结果趋于稳定。</a:t>
                </a:r>
                <a:r>
                  <a:rPr lang="zh-CN" altLang="zh-CN" dirty="0"/>
                  <a:t>进一步比较了不同退火时间 </a:t>
                </a:r>
                <a14:m>
                  <m:oMath xmlns:m="http://schemas.openxmlformats.org/officeDocument/2006/math">
                    <m:sSub>
                      <m:sSubPr>
                        <m:ctrlPr>
                          <a:rPr lang="zh-CN" altLang="en-US" sz="1200" i="1" kern="1200">
                            <a:solidFill>
                              <a:schemeClr val="tx1"/>
                            </a:solidFill>
                            <a:latin typeface="Cambria Math" panose="02040503050406030204" pitchFamily="18" charset="0"/>
                            <a:ea typeface="+mn-ea"/>
                            <a:cs typeface="+mn-cs"/>
                          </a:rPr>
                        </m:ctrlPr>
                      </m:sSubPr>
                      <m:e>
                        <m:r>
                          <a:rPr lang="zh-CN" altLang="en-US" sz="1200" i="1" kern="1200">
                            <a:solidFill>
                              <a:schemeClr val="tx1"/>
                            </a:solidFill>
                            <a:latin typeface="Cambria Math" panose="02040503050406030204" pitchFamily="18" charset="0"/>
                            <a:ea typeface="+mn-ea"/>
                            <a:cs typeface="+mn-cs"/>
                          </a:rPr>
                          <m:t>𝑡</m:t>
                        </m:r>
                      </m:e>
                      <m:sub>
                        <m:r>
                          <a:rPr lang="zh-CN" altLang="en-US" sz="1200" i="1" kern="1200">
                            <a:solidFill>
                              <a:schemeClr val="tx1"/>
                            </a:solidFill>
                            <a:latin typeface="Cambria Math" panose="02040503050406030204" pitchFamily="18" charset="0"/>
                            <a:ea typeface="+mn-ea"/>
                            <a:cs typeface="+mn-cs"/>
                          </a:rPr>
                          <m:t>𝑎</m:t>
                        </m:r>
                      </m:sub>
                    </m:sSub>
                    <m:r>
                      <a:rPr lang="en-US" altLang="zh-CN" sz="1200" i="0" kern="1200">
                        <a:solidFill>
                          <a:schemeClr val="tx1"/>
                        </a:solidFill>
                        <a:latin typeface="Cambria Math" panose="02040503050406030204" pitchFamily="18" charset="0"/>
                        <a:ea typeface="+mn-ea"/>
                        <a:cs typeface="+mn-cs"/>
                      </a:rPr>
                      <m:t>=7</m:t>
                    </m:r>
                    <m:r>
                      <m:rPr>
                        <m:nor/>
                      </m:rPr>
                      <a:rPr lang="zh-CN" altLang="en-US" sz="1200" b="0" i="0" kern="1200">
                        <a:solidFill>
                          <a:schemeClr val="tx1"/>
                        </a:solidFill>
                        <a:latin typeface="+mn-lt"/>
                        <a:ea typeface="+mn-ea"/>
                        <a:cs typeface="+mn-cs"/>
                      </a:rPr>
                      <m:t>、</m:t>
                    </m:r>
                    <m:r>
                      <a:rPr lang="en-US" altLang="zh-CN" sz="1200" b="0" i="0" kern="1200">
                        <a:solidFill>
                          <a:schemeClr val="tx1"/>
                        </a:solidFill>
                        <a:latin typeface="Cambria Math" panose="02040503050406030204" pitchFamily="18" charset="0"/>
                        <a:ea typeface="+mn-ea"/>
                        <a:cs typeface="+mn-cs"/>
                      </a:rPr>
                      <m:t>20</m:t>
                    </m:r>
                    <m:r>
                      <m:rPr>
                        <m:nor/>
                      </m:rPr>
                      <a:rPr lang="zh-CN" altLang="en-US" sz="1200" b="0" i="0" kern="1200">
                        <a:solidFill>
                          <a:schemeClr val="tx1"/>
                        </a:solidFill>
                        <a:latin typeface="+mn-lt"/>
                        <a:ea typeface="+mn-ea"/>
                        <a:cs typeface="+mn-cs"/>
                      </a:rPr>
                      <m:t>、</m:t>
                    </m:r>
                    <m:r>
                      <a:rPr lang="en-US" altLang="zh-CN" sz="1200" b="0" i="0" kern="1200">
                        <a:solidFill>
                          <a:schemeClr val="tx1"/>
                        </a:solidFill>
                        <a:latin typeface="Cambria Math" panose="02040503050406030204" pitchFamily="18" charset="0"/>
                        <a:ea typeface="+mn-ea"/>
                        <a:cs typeface="+mn-cs"/>
                      </a:rPr>
                      <m:t>100</m:t>
                    </m:r>
                    <m:r>
                      <m:rPr>
                        <m:nor/>
                      </m:rPr>
                      <a:rPr lang="zh-CN" altLang="en-US" sz="1200" b="0" i="0" kern="1200">
                        <a:solidFill>
                          <a:schemeClr val="tx1"/>
                        </a:solidFill>
                        <a:latin typeface="+mn-lt"/>
                        <a:ea typeface="+mn-ea"/>
                        <a:cs typeface="+mn-cs"/>
                      </a:rPr>
                      <m:t> </m:t>
                    </m:r>
                    <m:r>
                      <m:rPr>
                        <m:sty m:val="p"/>
                      </m:rPr>
                      <a:rPr lang="en-US" altLang="zh-CN" sz="1200" b="0" i="0" kern="1200">
                        <a:solidFill>
                          <a:schemeClr val="tx1"/>
                        </a:solidFill>
                        <a:latin typeface="Cambria Math" panose="02040503050406030204" pitchFamily="18" charset="0"/>
                        <a:ea typeface="+mn-ea"/>
                        <a:cs typeface="+mn-cs"/>
                      </a:rPr>
                      <m:t>ns</m:t>
                    </m:r>
                  </m:oMath>
                </a14:m>
                <a:r>
                  <a:rPr lang="zh-CN" altLang="zh-CN" dirty="0"/>
                  <a:t>下的末态结果。</a:t>
                </a:r>
                <a:r>
                  <a:rPr lang="zh-CN" altLang="en-US" dirty="0"/>
                  <a:t>右边上</a:t>
                </a:r>
                <a:r>
                  <a:rPr lang="zh-CN" altLang="zh-CN" dirty="0"/>
                  <a:t>图是自旋玻璃序参量 </a:t>
                </a:r>
                <a14:m>
                  <m:oMath xmlns:m="http://schemas.openxmlformats.org/officeDocument/2006/math">
                    <m:d>
                      <m:dPr>
                        <m:begChr m:val="⟨"/>
                        <m:endChr m:val="⟩"/>
                        <m:ctrlPr>
                          <a:rPr lang="zh-CN" altLang="en-US" sz="1200" i="1" kern="1200">
                            <a:solidFill>
                              <a:schemeClr val="tx1"/>
                            </a:solidFill>
                            <a:latin typeface="Cambria Math" panose="02040503050406030204" pitchFamily="18" charset="0"/>
                            <a:ea typeface="+mn-ea"/>
                            <a:cs typeface="+mn-cs"/>
                          </a:rPr>
                        </m:ctrlPr>
                      </m:dPr>
                      <m:e>
                        <m:sSup>
                          <m:sSupPr>
                            <m:ctrlPr>
                              <a:rPr lang="zh-CN" altLang="en-US" sz="1200" i="1" kern="1200">
                                <a:solidFill>
                                  <a:schemeClr val="tx1"/>
                                </a:solidFill>
                                <a:latin typeface="Cambria Math" panose="02040503050406030204" pitchFamily="18" charset="0"/>
                                <a:ea typeface="+mn-ea"/>
                                <a:cs typeface="+mn-cs"/>
                              </a:rPr>
                            </m:ctrlPr>
                          </m:sSupPr>
                          <m:e>
                            <m:r>
                              <a:rPr lang="zh-CN" altLang="en-US" sz="1200" i="1" kern="1200">
                                <a:solidFill>
                                  <a:schemeClr val="tx1"/>
                                </a:solidFill>
                                <a:latin typeface="Cambria Math" panose="02040503050406030204" pitchFamily="18" charset="0"/>
                                <a:ea typeface="+mn-ea"/>
                                <a:cs typeface="+mn-cs"/>
                              </a:rPr>
                              <m:t>𝑞</m:t>
                            </m:r>
                          </m:e>
                          <m:sup>
                            <m:r>
                              <a:rPr lang="en-US" altLang="zh-CN" sz="1200" i="0" kern="1200">
                                <a:solidFill>
                                  <a:schemeClr val="tx1"/>
                                </a:solidFill>
                                <a:latin typeface="Cambria Math" panose="02040503050406030204" pitchFamily="18" charset="0"/>
                                <a:ea typeface="+mn-ea"/>
                                <a:cs typeface="+mn-cs"/>
                              </a:rPr>
                              <m:t>2</m:t>
                            </m:r>
                          </m:sup>
                        </m:sSup>
                      </m:e>
                    </m:d>
                  </m:oMath>
                </a14:m>
                <a:r>
                  <a:rPr lang="zh-CN" altLang="zh-CN" dirty="0"/>
                  <a:t>，随着退火时间增加，</a:t>
                </a:r>
                <a14:m>
                  <m:oMath xmlns:m="http://schemas.openxmlformats.org/officeDocument/2006/math">
                    <m:d>
                      <m:dPr>
                        <m:begChr m:val="⟨"/>
                        <m:endChr m:val="⟩"/>
                        <m:ctrlPr>
                          <a:rPr lang="zh-CN" altLang="en-US" sz="1200" i="1" kern="1200">
                            <a:solidFill>
                              <a:schemeClr val="tx1"/>
                            </a:solidFill>
                            <a:latin typeface="Cambria Math" panose="02040503050406030204" pitchFamily="18" charset="0"/>
                            <a:ea typeface="+mn-ea"/>
                            <a:cs typeface="+mn-cs"/>
                          </a:rPr>
                        </m:ctrlPr>
                      </m:dPr>
                      <m:e>
                        <m:sSup>
                          <m:sSupPr>
                            <m:ctrlPr>
                              <a:rPr lang="zh-CN" altLang="en-US" sz="1200" i="1" kern="1200">
                                <a:solidFill>
                                  <a:schemeClr val="tx1"/>
                                </a:solidFill>
                                <a:latin typeface="Cambria Math" panose="02040503050406030204" pitchFamily="18" charset="0"/>
                                <a:ea typeface="+mn-ea"/>
                                <a:cs typeface="+mn-cs"/>
                              </a:rPr>
                            </m:ctrlPr>
                          </m:sSupPr>
                          <m:e>
                            <m:r>
                              <a:rPr lang="zh-CN" altLang="en-US" sz="1200" i="1" kern="1200">
                                <a:solidFill>
                                  <a:schemeClr val="tx1"/>
                                </a:solidFill>
                                <a:latin typeface="Cambria Math" panose="02040503050406030204" pitchFamily="18" charset="0"/>
                                <a:ea typeface="+mn-ea"/>
                                <a:cs typeface="+mn-cs"/>
                              </a:rPr>
                              <m:t>𝑞</m:t>
                            </m:r>
                          </m:e>
                          <m:sup>
                            <m:r>
                              <a:rPr lang="en-US" altLang="zh-CN" sz="1200" i="0" kern="1200">
                                <a:solidFill>
                                  <a:schemeClr val="tx1"/>
                                </a:solidFill>
                                <a:latin typeface="Cambria Math" panose="02040503050406030204" pitchFamily="18" charset="0"/>
                                <a:ea typeface="+mn-ea"/>
                                <a:cs typeface="+mn-cs"/>
                              </a:rPr>
                              <m:t>2</m:t>
                            </m:r>
                          </m:sup>
                        </m:sSup>
                      </m:e>
                    </m:d>
                  </m:oMath>
                </a14:m>
                <a:r>
                  <a:rPr lang="zh-CN" altLang="zh-CN" dirty="0"/>
                  <a:t> 增大，说明自旋之间逐渐建立起更强的自旋玻璃关联。右</a:t>
                </a:r>
                <a:r>
                  <a:rPr lang="zh-CN" altLang="en-US" dirty="0"/>
                  <a:t>下</a:t>
                </a:r>
                <a:r>
                  <a:rPr lang="zh-CN" altLang="zh-CN" dirty="0"/>
                  <a:t>图是单位自旋残余能量 </a:t>
                </a:r>
                <a14:m>
                  <m:oMath xmlns:m="http://schemas.openxmlformats.org/officeDocument/2006/math">
                    <m:sSub>
                      <m:sSubPr>
                        <m:ctrlPr>
                          <a:rPr lang="zh-CN" altLang="en-US" sz="1200" i="1" kern="1200">
                            <a:solidFill>
                              <a:schemeClr val="tx1"/>
                            </a:solidFill>
                            <a:latin typeface="Cambria Math" panose="02040503050406030204" pitchFamily="18" charset="0"/>
                            <a:ea typeface="+mn-ea"/>
                            <a:cs typeface="+mn-cs"/>
                          </a:rPr>
                        </m:ctrlPr>
                      </m:sSubPr>
                      <m:e>
                        <m:r>
                          <a:rPr lang="zh-CN" altLang="en-US" sz="1200" i="1" kern="1200">
                            <a:solidFill>
                              <a:schemeClr val="tx1"/>
                            </a:solidFill>
                            <a:latin typeface="Cambria Math" panose="02040503050406030204" pitchFamily="18" charset="0"/>
                            <a:ea typeface="+mn-ea"/>
                            <a:cs typeface="+mn-cs"/>
                          </a:rPr>
                          <m:t>𝐸</m:t>
                        </m:r>
                      </m:e>
                      <m:sub>
                        <m:r>
                          <m:rPr>
                            <m:sty m:val="p"/>
                          </m:rPr>
                          <a:rPr lang="en-US" altLang="zh-CN" sz="1200" i="0" kern="1200">
                            <a:solidFill>
                              <a:schemeClr val="tx1"/>
                            </a:solidFill>
                            <a:latin typeface="Cambria Math" panose="02040503050406030204" pitchFamily="18" charset="0"/>
                            <a:ea typeface="+mn-ea"/>
                            <a:cs typeface="+mn-cs"/>
                          </a:rPr>
                          <m:t>res</m:t>
                        </m:r>
                      </m:sub>
                    </m:sSub>
                    <m:r>
                      <a:rPr lang="en-US" altLang="zh-CN" sz="1200" i="0" kern="1200">
                        <a:solidFill>
                          <a:schemeClr val="tx1"/>
                        </a:solidFill>
                        <a:latin typeface="Cambria Math" panose="02040503050406030204" pitchFamily="18" charset="0"/>
                        <a:ea typeface="+mn-ea"/>
                        <a:cs typeface="+mn-cs"/>
                      </a:rPr>
                      <m:t>/</m:t>
                    </m:r>
                    <m:r>
                      <a:rPr lang="zh-CN" altLang="en-US" sz="1200" i="1" kern="1200">
                        <a:solidFill>
                          <a:schemeClr val="tx1"/>
                        </a:solidFill>
                        <a:latin typeface="Cambria Math" panose="02040503050406030204" pitchFamily="18" charset="0"/>
                        <a:ea typeface="+mn-ea"/>
                        <a:cs typeface="+mn-cs"/>
                      </a:rPr>
                      <m:t>𝑁</m:t>
                    </m:r>
                  </m:oMath>
                </a14:m>
                <a:r>
                  <a:rPr lang="zh-CN" altLang="zh-CN" dirty="0"/>
                  <a:t>，随着退火时间增加明显降低，说明末态能量逐渐接近问题哈密顿量的基态能量。这两个趋势与论文 Fig. 2A 所展示的物理行为是一致的。</a:t>
                </a:r>
                <a:endParaRPr lang="zh-CN" altLang="en-US" dirty="0"/>
              </a:p>
            </p:txBody>
          </p:sp>
        </mc:Choice>
        <mc:Fallback xmlns="">
          <p:sp>
            <p:nvSpPr>
              <p:cNvPr id="7171" name="备注占位符 2">
                <a:extLst>
                  <a:ext uri="{FF2B5EF4-FFF2-40B4-BE49-F238E27FC236}">
                    <a16:creationId xmlns:a16="http://schemas.microsoft.com/office/drawing/2014/main" id="{56A4D34C-0541-BC19-A039-AF60C506024C}"/>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备注：左图可以看到，随着 </a:t>
                </a:r>
                <a:r>
                  <a:rPr lang="en-US" altLang="zh-CN" dirty="0" err="1"/>
                  <a:t>maxdim</a:t>
                </a:r>
                <a:r>
                  <a:rPr lang="en-US" altLang="zh-CN" dirty="0"/>
                  <a:t> </a:t>
                </a:r>
                <a:r>
                  <a:rPr lang="zh-CN" altLang="en-US" dirty="0"/>
                  <a:t>从 </a:t>
                </a:r>
                <a:r>
                  <a:rPr lang="en-US" altLang="zh-CN" dirty="0"/>
                  <a:t>32 </a:t>
                </a:r>
                <a:r>
                  <a:rPr lang="zh-CN" altLang="en-US" dirty="0"/>
                  <a:t>增加到 </a:t>
                </a:r>
                <a:r>
                  <a:rPr lang="en-US" altLang="zh-CN" dirty="0"/>
                  <a:t>128</a:t>
                </a:r>
                <a:r>
                  <a:rPr lang="zh-CN" altLang="en-US" dirty="0"/>
                  <a:t>、</a:t>
                </a:r>
                <a:r>
                  <a:rPr lang="en-US" altLang="zh-CN" dirty="0"/>
                  <a:t>256</a:t>
                </a:r>
                <a:r>
                  <a:rPr lang="zh-CN" altLang="en-US" dirty="0"/>
                  <a:t>，</a:t>
                </a:r>
                <a:r>
                  <a:rPr lang="en-US" altLang="zh-CN" dirty="0"/>
                  <a:t>(q^2) </a:t>
                </a:r>
                <a:r>
                  <a:rPr lang="zh-CN" altLang="en-US" dirty="0"/>
                  <a:t>的变化逐渐变小，结果趋于稳定。</a:t>
                </a:r>
                <a:r>
                  <a:rPr lang="zh-CN" altLang="zh-CN" dirty="0"/>
                  <a:t>进一步比较了不同退火时间 </a:t>
                </a:r>
                <a:r>
                  <a:rPr lang="zh-CN" altLang="en-US" sz="1200" i="0" kern="1200">
                    <a:solidFill>
                      <a:schemeClr val="tx1"/>
                    </a:solidFill>
                    <a:latin typeface="+mn-lt"/>
                    <a:ea typeface="+mn-ea"/>
                    <a:cs typeface="+mn-cs"/>
                  </a:rPr>
                  <a:t>𝑡_𝑎</a:t>
                </a:r>
                <a:r>
                  <a:rPr lang="en-US" altLang="zh-CN" sz="1200" i="0" kern="1200">
                    <a:solidFill>
                      <a:schemeClr val="tx1"/>
                    </a:solidFill>
                    <a:latin typeface="+mn-lt"/>
                    <a:ea typeface="+mn-ea"/>
                    <a:cs typeface="+mn-cs"/>
                  </a:rPr>
                  <a:t>=7</a:t>
                </a:r>
                <a:r>
                  <a:rPr lang="zh-CN" altLang="en-US" sz="1200" b="0" i="0" kern="1200">
                    <a:solidFill>
                      <a:schemeClr val="tx1"/>
                    </a:solidFill>
                    <a:latin typeface="Cambria Math" panose="02040503050406030204" pitchFamily="18" charset="0"/>
                    <a:ea typeface="+mn-ea"/>
                    <a:cs typeface="+mn-cs"/>
                  </a:rPr>
                  <a:t>"、</a:t>
                </a:r>
                <a:r>
                  <a:rPr lang="en-US" altLang="zh-CN" sz="1200" b="0" i="0" kern="1200">
                    <a:solidFill>
                      <a:schemeClr val="tx1"/>
                    </a:solidFill>
                    <a:latin typeface="+mn-lt"/>
                    <a:ea typeface="+mn-ea"/>
                    <a:cs typeface="+mn-cs"/>
                  </a:rPr>
                  <a:t>" 20</a:t>
                </a:r>
                <a:r>
                  <a:rPr lang="zh-CN" altLang="en-US" sz="1200" b="0" i="0" kern="1200">
                    <a:solidFill>
                      <a:schemeClr val="tx1"/>
                    </a:solidFill>
                    <a:latin typeface="Cambria Math" panose="02040503050406030204" pitchFamily="18" charset="0"/>
                    <a:ea typeface="+mn-ea"/>
                    <a:cs typeface="+mn-cs"/>
                  </a:rPr>
                  <a:t>"、</a:t>
                </a:r>
                <a:r>
                  <a:rPr lang="en-US" altLang="zh-CN" sz="1200" b="0" i="0" kern="1200">
                    <a:solidFill>
                      <a:schemeClr val="tx1"/>
                    </a:solidFill>
                    <a:latin typeface="+mn-lt"/>
                    <a:ea typeface="+mn-ea"/>
                    <a:cs typeface="+mn-cs"/>
                  </a:rPr>
                  <a:t>" 100</a:t>
                </a:r>
                <a:r>
                  <a:rPr lang="zh-CN" altLang="en-US" sz="1200" b="0" i="0" kern="1200">
                    <a:solidFill>
                      <a:schemeClr val="tx1"/>
                    </a:solidFill>
                    <a:latin typeface="Cambria Math" panose="02040503050406030204" pitchFamily="18" charset="0"/>
                    <a:ea typeface="+mn-ea"/>
                    <a:cs typeface="+mn-cs"/>
                  </a:rPr>
                  <a:t>" </a:t>
                </a:r>
                <a:r>
                  <a:rPr lang="en-US" altLang="zh-CN" sz="1200" b="0" i="0" kern="1200">
                    <a:solidFill>
                      <a:schemeClr val="tx1"/>
                    </a:solidFill>
                    <a:latin typeface="+mn-lt"/>
                    <a:ea typeface="+mn-ea"/>
                    <a:cs typeface="+mn-cs"/>
                  </a:rPr>
                  <a:t>" ns</a:t>
                </a:r>
                <a:r>
                  <a:rPr lang="zh-CN" altLang="zh-CN" dirty="0"/>
                  <a:t>下的末态结果。</a:t>
                </a:r>
                <a:r>
                  <a:rPr lang="zh-CN" altLang="en-US" dirty="0"/>
                  <a:t>右边上</a:t>
                </a:r>
                <a:r>
                  <a:rPr lang="zh-CN" altLang="zh-CN" dirty="0"/>
                  <a:t>图是自旋玻璃序参量 </a:t>
                </a:r>
                <a:r>
                  <a:rPr lang="zh-CN" altLang="en-US" sz="1200" i="0" kern="1200">
                    <a:solidFill>
                      <a:schemeClr val="tx1"/>
                    </a:solidFill>
                    <a:latin typeface="+mn-lt"/>
                    <a:ea typeface="+mn-ea"/>
                    <a:cs typeface="+mn-cs"/>
                  </a:rPr>
                  <a:t>⟨𝑞^</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zh-CN" dirty="0"/>
                  <a:t>，随着退火时间增加，</a:t>
                </a:r>
                <a:r>
                  <a:rPr lang="zh-CN" altLang="en-US" sz="1200" i="0" kern="1200">
                    <a:solidFill>
                      <a:schemeClr val="tx1"/>
                    </a:solidFill>
                    <a:latin typeface="+mn-lt"/>
                    <a:ea typeface="+mn-ea"/>
                    <a:cs typeface="+mn-cs"/>
                  </a:rPr>
                  <a:t>⟨𝑞^</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zh-CN" dirty="0"/>
                  <a:t> 增大，说明自旋之间逐渐建立起更强的自旋玻璃关联。右</a:t>
                </a:r>
                <a:r>
                  <a:rPr lang="zh-CN" altLang="en-US" dirty="0"/>
                  <a:t>下</a:t>
                </a:r>
                <a:r>
                  <a:rPr lang="zh-CN" altLang="zh-CN" dirty="0"/>
                  <a:t>图是单位自旋残余能量 </a:t>
                </a:r>
                <a:r>
                  <a:rPr lang="zh-CN" altLang="en-US" sz="1200" i="0" kern="1200">
                    <a:solidFill>
                      <a:schemeClr val="tx1"/>
                    </a:solidFill>
                    <a:latin typeface="+mn-lt"/>
                    <a:ea typeface="+mn-ea"/>
                    <a:cs typeface="+mn-cs"/>
                  </a:rPr>
                  <a:t>𝐸_</a:t>
                </a:r>
                <a:r>
                  <a:rPr lang="en-US" altLang="zh-CN" sz="1200" i="0" kern="1200">
                    <a:solidFill>
                      <a:schemeClr val="tx1"/>
                    </a:solidFill>
                    <a:latin typeface="+mn-lt"/>
                    <a:ea typeface="+mn-ea"/>
                    <a:cs typeface="+mn-cs"/>
                  </a:rPr>
                  <a:t>res/</a:t>
                </a:r>
                <a:r>
                  <a:rPr lang="zh-CN" altLang="en-US" sz="1200" i="0" kern="1200">
                    <a:solidFill>
                      <a:schemeClr val="tx1"/>
                    </a:solidFill>
                    <a:latin typeface="+mn-lt"/>
                    <a:ea typeface="+mn-ea"/>
                    <a:cs typeface="+mn-cs"/>
                  </a:rPr>
                  <a:t>𝑁</a:t>
                </a:r>
                <a:r>
                  <a:rPr lang="zh-CN" altLang="zh-CN" dirty="0"/>
                  <a:t>，随着退火时间增加明显降低，说明末态能量逐渐接近问题哈密顿量的基态能量。这两个趋势与论文 Fig. 2A 所展示的物理行为是一致的。</a:t>
                </a:r>
                <a:endParaRPr lang="zh-CN" altLang="en-US" dirty="0"/>
              </a:p>
            </p:txBody>
          </p:sp>
        </mc:Fallback>
      </mc:AlternateContent>
      <p:sp>
        <p:nvSpPr>
          <p:cNvPr id="7172" name="灯片编号占位符 3">
            <a:extLst>
              <a:ext uri="{FF2B5EF4-FFF2-40B4-BE49-F238E27FC236}">
                <a16:creationId xmlns:a16="http://schemas.microsoft.com/office/drawing/2014/main" id="{4A0F7977-7E09-DE1E-00B7-CBE30F78658B}"/>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4</a:t>
            </a:fld>
            <a:endParaRPr lang="en-US" altLang="zh-CN">
              <a:latin typeface="Calibri" panose="020F0502020204030204" pitchFamily="34" charset="0"/>
            </a:endParaRPr>
          </a:p>
        </p:txBody>
      </p:sp>
    </p:spTree>
    <p:extLst>
      <p:ext uri="{BB962C8B-B14F-4D97-AF65-F5344CB8AC3E}">
        <p14:creationId xmlns:p14="http://schemas.microsoft.com/office/powerpoint/2010/main" val="2658016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mc:AlternateContent xmlns:mc="http://schemas.openxmlformats.org/markup-compatibility/2006" xmlns:a14="http://schemas.microsoft.com/office/drawing/2010/main">
        <mc:Choice Requires="a14">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endParaRPr lang="zh-CN" altLang="en-US" dirty="0"/>
              </a:p>
            </p:txBody>
          </p:sp>
        </mc:Choice>
        <mc:Fallback xmlns="">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备注：复现 </a:t>
                </a:r>
                <a:r>
                  <a:rPr lang="en-US" altLang="zh-CN" dirty="0"/>
                  <a:t>Science </a:t>
                </a:r>
                <a:r>
                  <a:rPr lang="zh-CN" altLang="en-US" dirty="0"/>
                  <a:t>文章</a:t>
                </a:r>
                <a:r>
                  <a:rPr lang="en-US" altLang="zh-CN" dirty="0"/>
                  <a:t>Fig2B:</a:t>
                </a:r>
                <a:r>
                  <a:rPr lang="zh-CN" altLang="zh-CN" dirty="0"/>
                  <a:t>小尺寸 </a:t>
                </a:r>
                <a:r>
                  <a:rPr lang="en-US" altLang="zh-CN" sz="1200" i="0" kern="1200">
                    <a:solidFill>
                      <a:schemeClr val="tx1"/>
                    </a:solidFill>
                    <a:latin typeface="+mn-lt"/>
                    <a:ea typeface="+mn-ea"/>
                    <a:cs typeface="+mn-cs"/>
                  </a:rPr>
                  <a:t>6×6</a:t>
                </a:r>
                <a:r>
                  <a:rPr lang="zh-CN" altLang="zh-CN" dirty="0"/>
                  <a:t>系统中，较低 bond dimension 的 MPS 已能较好逼近高精度结果</a:t>
                </a:r>
                <a:r>
                  <a:rPr lang="en-US" altLang="zh-CN" dirty="0"/>
                  <a:t>,</a:t>
                </a:r>
                <a:r>
                  <a:rPr lang="zh-CN" altLang="en-US" dirty="0"/>
                  <a:t>复现结果与论文相近</a:t>
                </a:r>
              </a:p>
            </p:txBody>
          </p:sp>
        </mc:Fallback>
      </mc:AlternateContent>
      <p:sp>
        <p:nvSpPr>
          <p:cNvPr id="717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5</a:t>
            </a:fld>
            <a:endParaRPr lang="en-US" altLang="zh-CN">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31D8366-C2F9-448B-B573-CCA36BB93963}" type="slidenum">
              <a:rPr lang="zh-CN" altLang="en-US" smtClean="0"/>
              <a:t>6</a:t>
            </a:fld>
            <a:endParaRPr lang="zh-CN" altLang="en-US"/>
          </a:p>
        </p:txBody>
      </p:sp>
    </p:spTree>
    <p:extLst>
      <p:ext uri="{BB962C8B-B14F-4D97-AF65-F5344CB8AC3E}">
        <p14:creationId xmlns:p14="http://schemas.microsoft.com/office/powerpoint/2010/main" val="983310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DA7E7B5-F830-4878-A4EA-20F362EAF8AE}" type="slidenum">
              <a:rPr lang="zh-CN" altLang="en-US" smtClean="0"/>
              <a:t>7</a:t>
            </a:fld>
            <a:endParaRPr lang="zh-CN" altLang="en-US"/>
          </a:p>
        </p:txBody>
      </p:sp>
    </p:spTree>
    <p:extLst>
      <p:ext uri="{BB962C8B-B14F-4D97-AF65-F5344CB8AC3E}">
        <p14:creationId xmlns:p14="http://schemas.microsoft.com/office/powerpoint/2010/main" val="3744017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7140D-152F-5E6D-DFF1-B67F16C261EA}"/>
            </a:ext>
          </a:extLst>
        </p:cNvPr>
        <p:cNvGrpSpPr/>
        <p:nvPr/>
      </p:nvGrpSpPr>
      <p:grpSpPr>
        <a:xfrm>
          <a:off x="0" y="0"/>
          <a:ext cx="0" cy="0"/>
          <a:chOff x="0" y="0"/>
          <a:chExt cx="0" cy="0"/>
        </a:xfrm>
      </p:grpSpPr>
      <p:sp>
        <p:nvSpPr>
          <p:cNvPr id="7170" name="幻灯片图像占位符 1">
            <a:extLst>
              <a:ext uri="{FF2B5EF4-FFF2-40B4-BE49-F238E27FC236}">
                <a16:creationId xmlns:a16="http://schemas.microsoft.com/office/drawing/2014/main" id="{76AEAA56-CD9D-45CA-262A-2A961F67F61B}"/>
              </a:ext>
            </a:extLst>
          </p:cNvPr>
          <p:cNvSpPr>
            <a:spLocks noGrp="1" noRot="1" noChangeAspect="1" noChangeArrowheads="1" noTextEdit="1"/>
          </p:cNvSpPr>
          <p:nvPr>
            <p:ph type="sldImg"/>
          </p:nvPr>
        </p:nvSpPr>
        <p:spPr/>
      </p:sp>
      <p:sp>
        <p:nvSpPr>
          <p:cNvPr id="7171" name="备注占位符 2">
            <a:extLst>
              <a:ext uri="{FF2B5EF4-FFF2-40B4-BE49-F238E27FC236}">
                <a16:creationId xmlns:a16="http://schemas.microsoft.com/office/drawing/2014/main" id="{ED845B19-59D5-69E1-8133-09CA5614B466}"/>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endParaRPr lang="zh-CN" altLang="en-US" dirty="0"/>
          </a:p>
        </p:txBody>
      </p:sp>
      <p:sp>
        <p:nvSpPr>
          <p:cNvPr id="7172" name="灯片编号占位符 3">
            <a:extLst>
              <a:ext uri="{FF2B5EF4-FFF2-40B4-BE49-F238E27FC236}">
                <a16:creationId xmlns:a16="http://schemas.microsoft.com/office/drawing/2014/main" id="{2046F547-061D-6D1C-B6E3-99D0E8D01BAE}"/>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8</a:t>
            </a:fld>
            <a:endParaRPr lang="en-US" altLang="zh-CN">
              <a:latin typeface="Calibri" panose="020F0502020204030204" pitchFamily="34" charset="0"/>
            </a:endParaRPr>
          </a:p>
        </p:txBody>
      </p:sp>
    </p:spTree>
    <p:extLst>
      <p:ext uri="{BB962C8B-B14F-4D97-AF65-F5344CB8AC3E}">
        <p14:creationId xmlns:p14="http://schemas.microsoft.com/office/powerpoint/2010/main" val="1817001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mc:AlternateContent xmlns:mc="http://schemas.openxmlformats.org/markup-compatibility/2006" xmlns:a14="http://schemas.microsoft.com/office/drawing/2010/main">
        <mc:Choice Requires="a14">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endParaRPr lang="zh-CN" altLang="en-US" dirty="0"/>
              </a:p>
            </p:txBody>
          </p:sp>
        </mc:Choice>
        <mc:Fallback xmlns="">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备注：复现 </a:t>
                </a:r>
                <a:r>
                  <a:rPr lang="en-US" altLang="zh-CN" dirty="0"/>
                  <a:t>Science </a:t>
                </a:r>
                <a:r>
                  <a:rPr lang="zh-CN" altLang="en-US" dirty="0"/>
                  <a:t>文章</a:t>
                </a:r>
                <a:r>
                  <a:rPr lang="en-US" altLang="zh-CN" dirty="0"/>
                  <a:t>Fig2B:</a:t>
                </a:r>
                <a:r>
                  <a:rPr lang="zh-CN" altLang="zh-CN" dirty="0"/>
                  <a:t>小尺寸 </a:t>
                </a:r>
                <a:r>
                  <a:rPr lang="en-US" altLang="zh-CN" sz="1200" i="0" kern="1200">
                    <a:solidFill>
                      <a:schemeClr val="tx1"/>
                    </a:solidFill>
                    <a:latin typeface="+mn-lt"/>
                    <a:ea typeface="+mn-ea"/>
                    <a:cs typeface="+mn-cs"/>
                  </a:rPr>
                  <a:t>6×6</a:t>
                </a:r>
                <a:r>
                  <a:rPr lang="zh-CN" altLang="zh-CN" dirty="0"/>
                  <a:t>系统中，较低 bond dimension 的 MPS 已能较好逼近高精度结果</a:t>
                </a:r>
                <a:r>
                  <a:rPr lang="en-US" altLang="zh-CN" dirty="0"/>
                  <a:t>,</a:t>
                </a:r>
                <a:r>
                  <a:rPr lang="zh-CN" altLang="en-US" dirty="0"/>
                  <a:t>复现结果与论文相近</a:t>
                </a:r>
              </a:p>
            </p:txBody>
          </p:sp>
        </mc:Fallback>
      </mc:AlternateContent>
      <p:sp>
        <p:nvSpPr>
          <p:cNvPr id="717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9</a:t>
            </a:fld>
            <a:endParaRPr lang="en-US" altLang="zh-CN">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备注：每项事项均需标明后续计划完成时间节点</a:t>
            </a:r>
          </a:p>
        </p:txBody>
      </p:sp>
      <p:sp>
        <p:nvSpPr>
          <p:cNvPr id="717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10</a:t>
            </a:fld>
            <a:endParaRPr lang="en-US" altLang="zh-CN">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A77A2F-4DAF-40CD-932F-8CCC10B905F6}" type="slidenum">
              <a:rPr lang="zh-CN" altLang="en-US" smtClean="0"/>
              <a:t>11</a:t>
            </a:fld>
            <a:endParaRPr lang="zh-CN" altLang="en-US"/>
          </a:p>
        </p:txBody>
      </p:sp>
    </p:spTree>
    <p:extLst>
      <p:ext uri="{BB962C8B-B14F-4D97-AF65-F5344CB8AC3E}">
        <p14:creationId xmlns:p14="http://schemas.microsoft.com/office/powerpoint/2010/main" val="4291947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备注：每项事项均需标明后续计划完成时间节点</a:t>
            </a:r>
          </a:p>
        </p:txBody>
      </p:sp>
      <p:sp>
        <p:nvSpPr>
          <p:cNvPr id="717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14</a:t>
            </a:fld>
            <a:endParaRPr lang="en-US" altLang="zh-CN">
              <a:latin typeface="Calibri" panose="020F050202020403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备注：每项事项均需标明后续计划完成时间节点</a:t>
            </a:r>
          </a:p>
        </p:txBody>
      </p:sp>
      <p:sp>
        <p:nvSpPr>
          <p:cNvPr id="717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15</a:t>
            </a:fld>
            <a:endParaRPr lang="en-US" altLang="zh-CN">
              <a:latin typeface="Calibri" panose="020F050202020403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备注：每项事项均需标明后续计划完成时间节点</a:t>
            </a:r>
          </a:p>
        </p:txBody>
      </p:sp>
      <p:sp>
        <p:nvSpPr>
          <p:cNvPr id="717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16</a:t>
            </a:fld>
            <a:endParaRPr lang="en-US" altLang="zh-CN">
              <a:latin typeface="Calibri" panose="020F050202020403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备注：每项事项均需标明后续计划完成时间节点</a:t>
            </a:r>
          </a:p>
        </p:txBody>
      </p:sp>
      <p:sp>
        <p:nvSpPr>
          <p:cNvPr id="717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17</a:t>
            </a:fld>
            <a:endParaRPr lang="en-US" altLang="zh-CN">
              <a:latin typeface="Calibri" panose="020F050202020403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备注：每项事项均需标明后续计划完成时间节点</a:t>
            </a:r>
          </a:p>
        </p:txBody>
      </p:sp>
      <p:sp>
        <p:nvSpPr>
          <p:cNvPr id="717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18</a:t>
            </a:fld>
            <a:endParaRPr lang="en-US" altLang="zh-CN">
              <a:latin typeface="Calibri" panose="020F050202020403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p:sp>
      <p:sp>
        <p:nvSpPr>
          <p:cNvPr id="7171" name="备注占位符 2"/>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t>备注：每项事项均需标明后续计划完成时间节点</a:t>
            </a:r>
          </a:p>
        </p:txBody>
      </p:sp>
      <p:sp>
        <p:nvSpPr>
          <p:cNvPr id="7172"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B395DA-F930-419A-BC08-004A58553DC3}" type="slidenum">
              <a:rPr lang="zh-CN" altLang="en-US" smtClean="0">
                <a:latin typeface="Calibri" panose="020F0502020204030204" pitchFamily="34" charset="0"/>
              </a:rPr>
              <a:t>19</a:t>
            </a:fld>
            <a:endParaRPr lang="en-US" altLang="zh-CN">
              <a:latin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DA7E7B5-F830-4878-A4EA-20F362EAF8AE}" type="slidenum">
              <a:rPr lang="zh-CN" altLang="en-US" smtClean="0"/>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1.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5" name="标题 26"/>
          <p:cNvSpPr/>
          <p:nvPr userDrawn="1"/>
        </p:nvSpPr>
        <p:spPr bwMode="auto">
          <a:xfrm>
            <a:off x="0" y="106681"/>
            <a:ext cx="12192000" cy="526103"/>
          </a:xfrm>
          <a:prstGeom prst="rect">
            <a:avLst/>
          </a:prstGeom>
          <a:solidFill>
            <a:srgbClr val="FF00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4400">
              <a:solidFill>
                <a:srgbClr val="000000"/>
              </a:solidFill>
            </a:endParaRPr>
          </a:p>
        </p:txBody>
      </p:sp>
      <p:cxnSp>
        <p:nvCxnSpPr>
          <p:cNvPr id="3" name="直接连接符 2"/>
          <p:cNvCxnSpPr/>
          <p:nvPr userDrawn="1"/>
        </p:nvCxnSpPr>
        <p:spPr>
          <a:xfrm>
            <a:off x="0" y="692696"/>
            <a:ext cx="12192000" cy="0"/>
          </a:xfrm>
          <a:prstGeom prst="line">
            <a:avLst/>
          </a:prstGeom>
          <a:ln w="15240">
            <a:solidFill>
              <a:srgbClr val="536B95"/>
            </a:solidFill>
            <a:prstDash val="dash"/>
          </a:ln>
        </p:spPr>
        <p:style>
          <a:lnRef idx="1">
            <a:schemeClr val="accent1"/>
          </a:lnRef>
          <a:fillRef idx="0">
            <a:schemeClr val="accent1"/>
          </a:fillRef>
          <a:effectRef idx="0">
            <a:schemeClr val="accent1"/>
          </a:effectRef>
          <a:fontRef idx="minor">
            <a:schemeClr val="tx1"/>
          </a:fontRef>
        </p:style>
      </p:cxnSp>
      <p:sp>
        <p:nvSpPr>
          <p:cNvPr id="12" name="文本占位符 11"/>
          <p:cNvSpPr>
            <a:spLocks noGrp="1"/>
          </p:cNvSpPr>
          <p:nvPr>
            <p:ph type="body" sz="quarter" idx="10"/>
          </p:nvPr>
        </p:nvSpPr>
        <p:spPr>
          <a:xfrm>
            <a:off x="0" y="46769"/>
            <a:ext cx="10715889" cy="581881"/>
          </a:xfrm>
        </p:spPr>
        <p:txBody>
          <a:bodyPr>
            <a:noAutofit/>
          </a:bodyPr>
          <a:lstStyle>
            <a:lvl1pPr marL="0" indent="0">
              <a:lnSpc>
                <a:spcPct val="100000"/>
              </a:lnSpc>
              <a:spcBef>
                <a:spcPts val="0"/>
              </a:spcBef>
              <a:buNone/>
              <a:defRPr sz="3600" b="1">
                <a:solidFill>
                  <a:schemeClr val="bg1"/>
                </a:solidFill>
                <a:latin typeface="微软雅黑" panose="020B0503020204020204" pitchFamily="34" charset="-122"/>
                <a:ea typeface="微软雅黑" panose="020B0503020204020204" pitchFamily="34" charset="-122"/>
              </a:defRPr>
            </a:lvl1pPr>
          </a:lstStyle>
          <a:p>
            <a:pPr lvl="0"/>
            <a:endParaRPr lang="zh-CN" altLang="en-US" dirty="0"/>
          </a:p>
        </p:txBody>
      </p:sp>
      <p:sp>
        <p:nvSpPr>
          <p:cNvPr id="13" name="Rectangle 3"/>
          <p:cNvSpPr>
            <a:spLocks noGrp="1" noChangeArrowheads="1"/>
          </p:cNvSpPr>
          <p:nvPr>
            <p:ph idx="1"/>
          </p:nvPr>
        </p:nvSpPr>
        <p:spPr bwMode="auto">
          <a:xfrm>
            <a:off x="335360" y="812769"/>
            <a:ext cx="11468733" cy="5373553"/>
          </a:xfrm>
          <a:prstGeom prst="rect">
            <a:avLst/>
          </a:prstGeom>
          <a:noFill/>
          <a:ln w="9525">
            <a:noFill/>
            <a:miter lim="800000"/>
          </a:ln>
        </p:spPr>
        <p:txBody>
          <a:bodyPr vert="horz" wrap="square" lIns="91440" tIns="45720" rIns="91440" bIns="45720" numCol="1" anchor="t" anchorCtr="0" compatLnSpc="1"/>
          <a:lstStyle>
            <a:lvl1pPr marL="228600" indent="-228600">
              <a:buFont typeface="Wingdings" panose="05000000000000000000" pitchFamily="2" charset="2"/>
              <a:buChar char="l"/>
              <a:defRPr>
                <a:latin typeface="黑体" panose="02010609060101010101" pitchFamily="49" charset="-122"/>
                <a:ea typeface="黑体" panose="02010609060101010101" pitchFamily="49" charset="-122"/>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1"/>
          </p:nvPr>
        </p:nvSpPr>
        <p:spPr/>
        <p:txBody>
          <a:bodyPr/>
          <a:lstStyle/>
          <a:p>
            <a:fld id="{E7E367E2-AB70-46AB-90C2-981F7A859DC1}" type="datetime1">
              <a:rPr lang="zh-CN" altLang="en-US" smtClean="0"/>
              <a:t>2026/10/16</a:t>
            </a:fld>
            <a:endParaRPr lang="en-US" dirty="0"/>
          </a:p>
        </p:txBody>
      </p:sp>
      <p:sp>
        <p:nvSpPr>
          <p:cNvPr id="8" name="页脚占位符 7"/>
          <p:cNvSpPr>
            <a:spLocks noGrp="1"/>
          </p:cNvSpPr>
          <p:nvPr>
            <p:ph type="ftr" sz="quarter" idx="12"/>
          </p:nvPr>
        </p:nvSpPr>
        <p:spPr/>
        <p:txBody>
          <a:bodyPr/>
          <a:lstStyle/>
          <a:p>
            <a:pPr>
              <a:defRPr/>
            </a:pPr>
            <a:endParaRPr lang="en-US" altLang="zh-CN" dirty="0"/>
          </a:p>
        </p:txBody>
      </p:sp>
      <p:sp>
        <p:nvSpPr>
          <p:cNvPr id="9" name="灯片编号占位符 8"/>
          <p:cNvSpPr>
            <a:spLocks noGrp="1"/>
          </p:cNvSpPr>
          <p:nvPr>
            <p:ph type="sldNum" sz="quarter" idx="13"/>
          </p:nvPr>
        </p:nvSpPr>
        <p:spPr/>
        <p:txBody>
          <a:bodyPr/>
          <a:lstStyle/>
          <a:p>
            <a:pPr>
              <a:defRPr/>
            </a:pPr>
            <a:fld id="{A4F1CF0E-A275-4991-BFC2-D3FA590A122F}" type="slidenum">
              <a:rPr lang="en-GB" altLang="zh-CN" smtClean="0">
                <a:solidFill>
                  <a:srgbClr val="808080"/>
                </a:solidFill>
              </a:rPr>
              <a:t>‹#›</a:t>
            </a:fld>
            <a:endParaRPr lang="en-GB" altLang="zh-CN" dirty="0"/>
          </a:p>
        </p:txBody>
      </p:sp>
      <p:pic>
        <p:nvPicPr>
          <p:cNvPr id="10" name="图片 9" descr="l1资源 23"/>
          <p:cNvPicPr>
            <a:picLocks noChangeAspect="1"/>
          </p:cNvPicPr>
          <p:nvPr userDrawn="1"/>
        </p:nvPicPr>
        <p:blipFill>
          <a:blip r:embed="rId2">
            <a:lum bright="70000" contrast="-70000"/>
          </a:blip>
          <a:stretch>
            <a:fillRect/>
          </a:stretch>
        </p:blipFill>
        <p:spPr>
          <a:xfrm>
            <a:off x="11244283" y="135104"/>
            <a:ext cx="606012" cy="48667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9" name="标题 26"/>
          <p:cNvSpPr/>
          <p:nvPr userDrawn="1"/>
        </p:nvSpPr>
        <p:spPr bwMode="auto">
          <a:xfrm>
            <a:off x="0" y="106681"/>
            <a:ext cx="12192000" cy="1148188"/>
          </a:xfrm>
          <a:prstGeom prst="rect">
            <a:avLst/>
          </a:prstGeom>
          <a:solidFill>
            <a:srgbClr val="C000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4400">
              <a:solidFill>
                <a:srgbClr val="000000"/>
              </a:solidFill>
            </a:endParaRPr>
          </a:p>
        </p:txBody>
      </p:sp>
      <p:sp>
        <p:nvSpPr>
          <p:cNvPr id="13" name="Rectangle 3"/>
          <p:cNvSpPr>
            <a:spLocks noGrp="1" noChangeArrowheads="1"/>
          </p:cNvSpPr>
          <p:nvPr>
            <p:ph idx="1"/>
          </p:nvPr>
        </p:nvSpPr>
        <p:spPr bwMode="auto">
          <a:xfrm>
            <a:off x="335360" y="1556795"/>
            <a:ext cx="11468733" cy="4629527"/>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标题 5"/>
          <p:cNvSpPr>
            <a:spLocks noGrp="1"/>
          </p:cNvSpPr>
          <p:nvPr>
            <p:ph type="title"/>
          </p:nvPr>
        </p:nvSpPr>
        <p:spPr>
          <a:xfrm>
            <a:off x="347440" y="88821"/>
            <a:ext cx="10515600" cy="1148189"/>
          </a:xfrm>
        </p:spPr>
        <p:txBody>
          <a:bodyPr/>
          <a:lstStyle>
            <a:lvl1pPr>
              <a:defRPr b="1">
                <a:solidFill>
                  <a:schemeClr val="bg1"/>
                </a:solidFill>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8" name="日期占位符 7"/>
          <p:cNvSpPr>
            <a:spLocks noGrp="1"/>
          </p:cNvSpPr>
          <p:nvPr>
            <p:ph type="dt" sz="half" idx="10"/>
          </p:nvPr>
        </p:nvSpPr>
        <p:spPr/>
        <p:txBody>
          <a:bodyPr/>
          <a:lstStyle/>
          <a:p>
            <a:fld id="{F26C7C84-ED5E-4E39-8D87-F7FCB8C15239}" type="datetime1">
              <a:rPr lang="zh-CN" altLang="en-US" smtClean="0"/>
              <a:t>2026/10/16</a:t>
            </a:fld>
            <a:endParaRPr lang="en-US" dirty="0"/>
          </a:p>
        </p:txBody>
      </p:sp>
      <p:sp>
        <p:nvSpPr>
          <p:cNvPr id="10" name="页脚占位符 9"/>
          <p:cNvSpPr>
            <a:spLocks noGrp="1"/>
          </p:cNvSpPr>
          <p:nvPr>
            <p:ph type="ftr" sz="quarter" idx="11"/>
          </p:nvPr>
        </p:nvSpPr>
        <p:spPr/>
        <p:txBody>
          <a:bodyPr/>
          <a:lstStyle/>
          <a:p>
            <a:pPr>
              <a:defRPr/>
            </a:pPr>
            <a:endParaRPr lang="en-US" altLang="zh-CN" dirty="0"/>
          </a:p>
        </p:txBody>
      </p:sp>
      <p:sp>
        <p:nvSpPr>
          <p:cNvPr id="14" name="灯片编号占位符 13"/>
          <p:cNvSpPr>
            <a:spLocks noGrp="1"/>
          </p:cNvSpPr>
          <p:nvPr>
            <p:ph type="sldNum" sz="quarter" idx="12"/>
          </p:nvPr>
        </p:nvSpPr>
        <p:spPr/>
        <p:txBody>
          <a:bodyPr/>
          <a:lstStyle/>
          <a:p>
            <a:pPr>
              <a:defRPr/>
            </a:pPr>
            <a:fld id="{A4F1CF0E-A275-4991-BFC2-D3FA590A122F}" type="slidenum">
              <a:rPr lang="en-GB" altLang="zh-CN" smtClean="0">
                <a:solidFill>
                  <a:srgbClr val="808080"/>
                </a:solidFill>
              </a:rPr>
              <a:t>‹#›</a:t>
            </a:fld>
            <a:endParaRPr lang="en-GB" altLang="zh-CN" dirty="0"/>
          </a:p>
        </p:txBody>
      </p:sp>
      <p:pic>
        <p:nvPicPr>
          <p:cNvPr id="11" name="图片 10" descr="l1资源 23"/>
          <p:cNvPicPr>
            <a:picLocks noChangeAspect="1"/>
          </p:cNvPicPr>
          <p:nvPr userDrawn="1"/>
        </p:nvPicPr>
        <p:blipFill>
          <a:blip r:embed="rId2">
            <a:lum bright="70000" contrast="-70000"/>
          </a:blip>
          <a:stretch>
            <a:fillRect/>
          </a:stretch>
        </p:blipFill>
        <p:spPr>
          <a:xfrm>
            <a:off x="10488488" y="135104"/>
            <a:ext cx="1361807" cy="109363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6_标题蓝底">
    <p:spTree>
      <p:nvGrpSpPr>
        <p:cNvPr id="1" name=""/>
        <p:cNvGrpSpPr/>
        <p:nvPr/>
      </p:nvGrpSpPr>
      <p:grpSpPr>
        <a:xfrm>
          <a:off x="0" y="0"/>
          <a:ext cx="0" cy="0"/>
          <a:chOff x="0" y="0"/>
          <a:chExt cx="0" cy="0"/>
        </a:xfrm>
      </p:grpSpPr>
      <p:sp>
        <p:nvSpPr>
          <p:cNvPr id="6" name="文本占位符 3"/>
          <p:cNvSpPr>
            <a:spLocks noGrp="1"/>
          </p:cNvSpPr>
          <p:nvPr>
            <p:ph type="body" sz="quarter" idx="10" hasCustomPrompt="1"/>
          </p:nvPr>
        </p:nvSpPr>
        <p:spPr>
          <a:xfrm>
            <a:off x="565200" y="332657"/>
            <a:ext cx="11075939" cy="6049094"/>
          </a:xfrm>
        </p:spPr>
        <p:txBody>
          <a:bodyPr/>
          <a:lstStyle>
            <a:lvl1pPr marL="257175" indent="-257175">
              <a:buClr>
                <a:schemeClr val="tx1"/>
              </a:buClr>
              <a:buFont typeface="Wingdings" panose="05000000000000000000" pitchFamily="2" charset="2"/>
              <a:buChar char="l"/>
              <a:defRPr>
                <a:latin typeface="黑体" panose="02010609060101010101" pitchFamily="49" charset="-122"/>
                <a:ea typeface="黑体" panose="02010609060101010101" pitchFamily="49" charset="-122"/>
              </a:defRPr>
            </a:lvl1pPr>
            <a:lvl2pPr marL="557530" indent="-214630">
              <a:buClr>
                <a:schemeClr val="tx1"/>
              </a:buClr>
              <a:buFont typeface="Wingdings" panose="05000000000000000000" pitchFamily="2" charset="2"/>
              <a:buChar char="Ø"/>
              <a:defRPr>
                <a:latin typeface="楷体" panose="02010609060101010101" pitchFamily="49" charset="-122"/>
                <a:ea typeface="楷体" panose="02010609060101010101" pitchFamily="49" charset="-122"/>
              </a:defRPr>
            </a:lvl2pPr>
          </a:lstStyle>
          <a:p>
            <a:pPr lvl="0"/>
            <a:r>
              <a:rPr lang="zh-CN" altLang="en-US" dirty="0"/>
              <a:t>编辑母版文本样式</a:t>
            </a:r>
            <a:endParaRPr lang="en-US" altLang="zh-CN" dirty="0"/>
          </a:p>
          <a:p>
            <a:pPr lvl="1"/>
            <a:endParaRPr lang="zh-CN" altLang="en-US" dirty="0"/>
          </a:p>
        </p:txBody>
      </p:sp>
      <p:sp>
        <p:nvSpPr>
          <p:cNvPr id="2" name="页脚占位符 1"/>
          <p:cNvSpPr>
            <a:spLocks noGrp="1"/>
          </p:cNvSpPr>
          <p:nvPr>
            <p:ph type="ftr" sz="quarter" idx="11"/>
          </p:nvPr>
        </p:nvSpPr>
        <p:spPr/>
        <p:txBody>
          <a:bodyPr/>
          <a:lstStyle/>
          <a:p>
            <a:pPr>
              <a:defRPr/>
            </a:pPr>
            <a:endParaRPr lang="en-US" altLang="zh-CN" dirty="0"/>
          </a:p>
        </p:txBody>
      </p:sp>
      <p:sp>
        <p:nvSpPr>
          <p:cNvPr id="3" name="灯片编号占位符 2"/>
          <p:cNvSpPr>
            <a:spLocks noGrp="1"/>
          </p:cNvSpPr>
          <p:nvPr>
            <p:ph type="sldNum" sz="quarter" idx="12"/>
          </p:nvPr>
        </p:nvSpPr>
        <p:spPr/>
        <p:txBody>
          <a:bodyPr/>
          <a:lstStyle/>
          <a:p>
            <a:pPr>
              <a:defRPr/>
            </a:pPr>
            <a:fld id="{A4F1CF0E-A275-4991-BFC2-D3FA590A122F}" type="slidenum">
              <a:rPr lang="en-GB" altLang="zh-CN" smtClean="0">
                <a:solidFill>
                  <a:srgbClr val="808080"/>
                </a:solidFill>
              </a:rPr>
              <a:t>‹#›</a:t>
            </a:fld>
            <a:endParaRPr lang="en-GB" altLang="zh-CN" dirty="0"/>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pic>
        <p:nvPicPr>
          <p:cNvPr id="8" name="图片 7" descr="资源 17@3x"/>
          <p:cNvPicPr>
            <a:picLocks noChangeAspect="1"/>
          </p:cNvPicPr>
          <p:nvPr userDrawn="1"/>
        </p:nvPicPr>
        <p:blipFill>
          <a:blip r:embed="rId3"/>
          <a:stretch>
            <a:fillRect/>
          </a:stretch>
        </p:blipFill>
        <p:spPr>
          <a:xfrm>
            <a:off x="0" y="0"/>
            <a:ext cx="12192635" cy="5375275"/>
          </a:xfrm>
          <a:prstGeom prst="rect">
            <a:avLst/>
          </a:prstGeom>
        </p:spPr>
      </p:pic>
      <p:sp>
        <p:nvSpPr>
          <p:cNvPr id="2" name="标题 1"/>
          <p:cNvSpPr>
            <a:spLocks noGrp="1"/>
          </p:cNvSpPr>
          <p:nvPr>
            <p:ph type="title"/>
          </p:nvPr>
        </p:nvSpPr>
        <p:spPr>
          <a:xfrm>
            <a:off x="337929" y="1229360"/>
            <a:ext cx="11516141" cy="2431907"/>
          </a:xfrm>
        </p:spPr>
        <p:txBody>
          <a:bodyPr/>
          <a:lstStyle>
            <a:lvl1pPr algn="ctr">
              <a:defRPr>
                <a:solidFill>
                  <a:schemeClr val="bg1"/>
                </a:solidFill>
              </a:defRPr>
            </a:lvl1pPr>
          </a:lstStyle>
          <a:p>
            <a:r>
              <a:rPr lang="zh-CN" altLang="en-US"/>
              <a:t>单击此处编辑母版标题样式</a:t>
            </a:r>
          </a:p>
        </p:txBody>
      </p:sp>
      <p:pic>
        <p:nvPicPr>
          <p:cNvPr id="6" name="图片 5" descr="资源 18@4x"/>
          <p:cNvPicPr>
            <a:picLocks noChangeAspect="1"/>
          </p:cNvPicPr>
          <p:nvPr userDrawn="1">
            <p:custDataLst>
              <p:tags r:id="rId1"/>
            </p:custDataLst>
          </p:nvPr>
        </p:nvPicPr>
        <p:blipFill>
          <a:blip r:embed="rId4"/>
          <a:stretch>
            <a:fillRect/>
          </a:stretch>
        </p:blipFill>
        <p:spPr>
          <a:xfrm>
            <a:off x="348615" y="5726717"/>
            <a:ext cx="5306060" cy="626110"/>
          </a:xfrm>
          <a:prstGeom prst="rect">
            <a:avLst/>
          </a:prstGeom>
        </p:spPr>
      </p:pic>
      <p:pic>
        <p:nvPicPr>
          <p:cNvPr id="7" name="图片 6" descr="l1资源 23"/>
          <p:cNvPicPr>
            <a:picLocks noChangeAspect="1"/>
          </p:cNvPicPr>
          <p:nvPr userDrawn="1"/>
        </p:nvPicPr>
        <p:blipFill>
          <a:blip r:embed="rId5"/>
          <a:stretch>
            <a:fillRect/>
          </a:stretch>
        </p:blipFill>
        <p:spPr>
          <a:xfrm>
            <a:off x="10234295" y="5261610"/>
            <a:ext cx="1609090" cy="1292225"/>
          </a:xfrm>
          <a:prstGeom prst="rect">
            <a:avLst/>
          </a:prstGeom>
        </p:spPr>
      </p:pic>
      <p:sp>
        <p:nvSpPr>
          <p:cNvPr id="9" name="文本占位符 8"/>
          <p:cNvSpPr>
            <a:spLocks noGrp="1"/>
          </p:cNvSpPr>
          <p:nvPr>
            <p:ph type="body" sz="quarter" idx="10"/>
          </p:nvPr>
        </p:nvSpPr>
        <p:spPr>
          <a:xfrm>
            <a:off x="3581399" y="4012709"/>
            <a:ext cx="5029200" cy="1025525"/>
          </a:xfrm>
        </p:spPr>
        <p:txBody>
          <a:bodyPr>
            <a:normAutofit/>
          </a:bodyPr>
          <a:lstStyle>
            <a:lvl1pPr marL="0" indent="0" algn="ctr">
              <a:buNone/>
              <a:defRPr sz="2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a:t>单击此处编辑母版文本样式</a:t>
            </a: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CBD258E-24BF-4D61-BAC5-25046BE5C396}" type="datetime1">
              <a:rPr lang="zh-CN" altLang="en-US" smtClean="0"/>
              <a:t>2026/10/16</a:t>
            </a:fld>
            <a:endParaRPr lang="en-US" dirty="0"/>
          </a:p>
        </p:txBody>
      </p:sp>
      <p:sp>
        <p:nvSpPr>
          <p:cNvPr id="3" name="页脚占位符 2"/>
          <p:cNvSpPr>
            <a:spLocks noGrp="1"/>
          </p:cNvSpPr>
          <p:nvPr>
            <p:ph type="ftr" sz="quarter" idx="11"/>
          </p:nvPr>
        </p:nvSpPr>
        <p:spPr/>
        <p:txBody>
          <a:bodyPr/>
          <a:lstStyle/>
          <a:p>
            <a:pPr>
              <a:defRPr/>
            </a:pPr>
            <a:endParaRPr lang="en-US" altLang="zh-CN" dirty="0"/>
          </a:p>
        </p:txBody>
      </p:sp>
      <p:sp>
        <p:nvSpPr>
          <p:cNvPr id="4" name="灯片编号占位符 3"/>
          <p:cNvSpPr>
            <a:spLocks noGrp="1"/>
          </p:cNvSpPr>
          <p:nvPr>
            <p:ph type="sldNum" sz="quarter" idx="12"/>
          </p:nvPr>
        </p:nvSpPr>
        <p:spPr/>
        <p:txBody>
          <a:bodyPr/>
          <a:lstStyle/>
          <a:p>
            <a:pPr>
              <a:defRPr/>
            </a:pPr>
            <a:fld id="{A4F1CF0E-A275-4991-BFC2-D3FA590A122F}" type="slidenum">
              <a:rPr lang="en-GB" altLang="zh-CN" smtClean="0">
                <a:solidFill>
                  <a:srgbClr val="808080"/>
                </a:solidFill>
              </a:rPr>
              <a:t>‹#›</a:t>
            </a:fld>
            <a:endParaRPr lang="en-GB"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62001" y="142876"/>
            <a:ext cx="7905751" cy="796925"/>
          </a:xfrm>
        </p:spPr>
        <p:txBody>
          <a:bodyPr/>
          <a:lstStyle/>
          <a:p>
            <a:r>
              <a:rPr lang="zh-CN" altLang="en-US"/>
              <a:t>单击此处编辑母版标题样式</a:t>
            </a:r>
          </a:p>
        </p:txBody>
      </p:sp>
      <p:sp>
        <p:nvSpPr>
          <p:cNvPr id="3" name="表格占位符 2"/>
          <p:cNvSpPr>
            <a:spLocks noGrp="1"/>
          </p:cNvSpPr>
          <p:nvPr>
            <p:ph type="tbl" idx="1"/>
          </p:nvPr>
        </p:nvSpPr>
        <p:spPr>
          <a:xfrm>
            <a:off x="609600" y="1357313"/>
            <a:ext cx="10972800" cy="4714875"/>
          </a:xfrm>
        </p:spPr>
        <p:txBody>
          <a:bodyPr/>
          <a:lstStyle/>
          <a:p>
            <a:pPr lvl="0"/>
            <a:endParaRPr lang="zh-CN" altLang="en-US" noProof="0"/>
          </a:p>
        </p:txBody>
      </p:sp>
      <p:sp>
        <p:nvSpPr>
          <p:cNvPr id="4" name="日期占位符 3"/>
          <p:cNvSpPr>
            <a:spLocks noGrp="1"/>
          </p:cNvSpPr>
          <p:nvPr>
            <p:ph type="dt" sz="half" idx="10"/>
          </p:nvPr>
        </p:nvSpPr>
        <p:spPr/>
        <p:txBody>
          <a:bodyPr/>
          <a:lstStyle>
            <a:lvl1pPr>
              <a:defRPr/>
            </a:lvl1pPr>
          </a:lstStyle>
          <a:p>
            <a:pPr>
              <a:defRPr/>
            </a:pPr>
            <a:fld id="{0E5C8363-86F5-4B34-A942-293113BB0ECB}" type="datetime1">
              <a:rPr lang="zh-CN" altLang="en-US" smtClean="0"/>
              <a:t>2026/10/16</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60EA27A-133F-45AA-8F39-06F9FC63F11A}"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335360" y="1825625"/>
            <a:ext cx="1152128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33536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FA261F-D0DE-4C52-BC24-6C67BD0EB7EE}" type="datetime1">
              <a:rPr lang="zh-CN" altLang="en-US" smtClean="0"/>
              <a:t>2026/10/16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dirty="0"/>
          </a:p>
        </p:txBody>
      </p:sp>
      <p:sp>
        <p:nvSpPr>
          <p:cNvPr id="6" name="Slide Number Placeholder 5"/>
          <p:cNvSpPr>
            <a:spLocks noGrp="1"/>
          </p:cNvSpPr>
          <p:nvPr>
            <p:ph type="sldNum" sz="quarter" idx="4"/>
          </p:nvPr>
        </p:nvSpPr>
        <p:spPr>
          <a:xfrm>
            <a:off x="911344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4F1CF0E-A275-4991-BFC2-D3FA590A122F}" type="slidenum">
              <a:rPr lang="en-GB" altLang="zh-CN" smtClean="0">
                <a:solidFill>
                  <a:srgbClr val="808080"/>
                </a:solidFill>
              </a:rPr>
              <a:t>‹#›</a:t>
            </a:fld>
            <a:endParaRPr lang="en-GB"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png"/><Relationship Id="rId11" Type="http://schemas.openxmlformats.org/officeDocument/2006/relationships/image" Target="NULL"/><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NULL"/></Relationships>
</file>

<file path=ppt/slides/_rels/slide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4.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6.png"/><Relationship Id="rId10" Type="http://schemas.openxmlformats.org/officeDocument/2006/relationships/image" Target="NULL"/><Relationship Id="rId4" Type="http://schemas.openxmlformats.org/officeDocument/2006/relationships/image" Target="../media/image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8.jpg"/><Relationship Id="rId5" Type="http://schemas.openxmlformats.org/officeDocument/2006/relationships/image" Target="../media/image1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30.jpg"/><Relationship Id="rId7" Type="http://schemas.openxmlformats.org/officeDocument/2006/relationships/image" Target="../media/image80.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33.jpg"/><Relationship Id="rId11" Type="http://schemas.openxmlformats.org/officeDocument/2006/relationships/image" Target="../media/image37.jpg"/><Relationship Id="rId5" Type="http://schemas.openxmlformats.org/officeDocument/2006/relationships/image" Target="../media/image32.jpg"/><Relationship Id="rId10" Type="http://schemas.openxmlformats.org/officeDocument/2006/relationships/image" Target="../media/image36.jpg"/><Relationship Id="rId4" Type="http://schemas.openxmlformats.org/officeDocument/2006/relationships/image" Target="../media/image31.jpg"/><Relationship Id="rId9" Type="http://schemas.openxmlformats.org/officeDocument/2006/relationships/image" Target="../media/image35.jp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5.xml"/><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52.jpeg"/><Relationship Id="rId5" Type="http://schemas.openxmlformats.org/officeDocument/2006/relationships/image" Target="../media/image51.png"/><Relationship Id="rId4" Type="http://schemas.openxmlformats.org/officeDocument/2006/relationships/image" Target="../media/image50.jpeg"/></Relationships>
</file>

<file path=ppt/slides/_rels/slide1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17.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55.png"/><Relationship Id="rId7"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NULL"/><Relationship Id="rId9" Type="http://schemas.openxmlformats.org/officeDocument/2006/relationships/image" Target="NULL"/></Relationships>
</file>

<file path=ppt/slides/_rels/slide1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59.png"/><Relationship Id="rId5" Type="http://schemas.openxmlformats.org/officeDocument/2006/relationships/image" Target="../media/image270.png"/><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p:cNvSpPr>
          <p:nvPr>
            <p:ph type="title"/>
          </p:nvPr>
        </p:nvSpPr>
        <p:spPr>
          <a:xfrm>
            <a:off x="340399" y="1412776"/>
            <a:ext cx="11516141" cy="2160241"/>
          </a:xfrm>
        </p:spPr>
        <p:txBody>
          <a:bodyPr vert="horz" wrap="none" lIns="91440" tIns="45720" rIns="91440" bIns="45720" anchor="ctr" anchorCtr="0">
            <a:noAutofit/>
          </a:bodyPr>
          <a:lstStyle/>
          <a:p>
            <a:pPr>
              <a:lnSpc>
                <a:spcPct val="130000"/>
              </a:lnSpc>
              <a:spcBef>
                <a:spcPts val="0"/>
              </a:spcBef>
            </a:pPr>
            <a:r>
              <a:rPr lang="zh-CN" altLang="en-US" sz="4800" b="1" noProof="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量子模拟和纠错理论工作进展汇报</a:t>
            </a:r>
            <a:endParaRPr kumimoji="0" lang="zh-CN" altLang="en-US" sz="4800" i="0" u="none" strike="noStrike" kern="1200" cap="none" spc="0" normalizeH="0" baseline="0" noProof="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endParaRPr>
          </a:p>
        </p:txBody>
      </p:sp>
      <p:sp>
        <p:nvSpPr>
          <p:cNvPr id="4" name="文本占位符 3"/>
          <p:cNvSpPr>
            <a:spLocks noGrp="1"/>
          </p:cNvSpPr>
          <p:nvPr>
            <p:ph type="body" sz="quarter" idx="10"/>
          </p:nvPr>
        </p:nvSpPr>
        <p:spPr>
          <a:xfrm>
            <a:off x="3218520" y="3542206"/>
            <a:ext cx="5754960" cy="864096"/>
          </a:xfrm>
        </p:spPr>
        <p:txBody>
          <a:bodyPr>
            <a:noAutofit/>
          </a:bodyPr>
          <a:lstStyle/>
          <a:p>
            <a:pPr>
              <a:lnSpc>
                <a:spcPct val="160000"/>
              </a:lnSpc>
            </a:pPr>
            <a:r>
              <a:rPr lang="zh-CN" altLang="en-US" sz="2000" b="1" dirty="0">
                <a:latin typeface="微软雅黑" panose="020B0503020204020204" pitchFamily="34" charset="-122"/>
              </a:rPr>
              <a:t>王珞珈，荆雨芒，张纯瑶，王雪仪</a:t>
            </a:r>
            <a:endParaRPr lang="en-US" altLang="zh-CN" sz="2000" b="1" dirty="0">
              <a:latin typeface="微软雅黑" panose="020B0503020204020204" pitchFamily="34" charset="-122"/>
            </a:endParaRPr>
          </a:p>
          <a:p>
            <a:pPr>
              <a:lnSpc>
                <a:spcPct val="160000"/>
              </a:lnSpc>
            </a:pPr>
            <a:r>
              <a:rPr lang="en-US" altLang="zh-CN" sz="2000" b="1" dirty="0">
                <a:latin typeface="微软雅黑" panose="020B0503020204020204" pitchFamily="34" charset="-122"/>
              </a:rPr>
              <a:t>2026</a:t>
            </a:r>
            <a:r>
              <a:rPr lang="zh-CN" altLang="en-US" sz="2000" b="1" dirty="0">
                <a:latin typeface="微软雅黑" panose="020B0503020204020204" pitchFamily="34" charset="-122"/>
              </a:rPr>
              <a:t>年</a:t>
            </a:r>
            <a:r>
              <a:rPr lang="en-US" altLang="zh-CN" sz="2000" b="1" dirty="0">
                <a:latin typeface="微软雅黑" panose="020B0503020204020204" pitchFamily="34" charset="-122"/>
              </a:rPr>
              <a:t>9</a:t>
            </a:r>
            <a:r>
              <a:rPr lang="zh-CN" altLang="en-US" sz="2000" b="1" dirty="0">
                <a:latin typeface="微软雅黑" panose="020B0503020204020204" pitchFamily="34" charset="-122"/>
              </a:rPr>
              <a:t>月</a:t>
            </a:r>
            <a:r>
              <a:rPr lang="en-US" altLang="zh-CN" sz="2000" b="1" dirty="0">
                <a:latin typeface="微软雅黑" panose="020B0503020204020204" pitchFamily="34" charset="-122"/>
              </a:rPr>
              <a:t>24</a:t>
            </a:r>
            <a:r>
              <a:rPr lang="zh-CN" altLang="en-US" sz="2000" b="1" dirty="0">
                <a:latin typeface="微软雅黑" panose="020B0503020204020204" pitchFamily="34" charset="-122"/>
              </a:rPr>
              <a:t>日</a:t>
            </a:r>
          </a:p>
        </p:txBody>
      </p:sp>
      <p:pic>
        <p:nvPicPr>
          <p:cNvPr id="3" name="图片 2" descr="l1资源 23"/>
          <p:cNvPicPr>
            <a:picLocks noChangeAspect="1"/>
          </p:cNvPicPr>
          <p:nvPr/>
        </p:nvPicPr>
        <p:blipFill>
          <a:blip r:embed="rId3"/>
          <a:stretch>
            <a:fillRect/>
          </a:stretch>
        </p:blipFill>
        <p:spPr>
          <a:xfrm>
            <a:off x="10234295" y="5261610"/>
            <a:ext cx="1609090" cy="1292225"/>
          </a:xfrm>
          <a:prstGeom prst="rect">
            <a:avLst/>
          </a:prstGeom>
        </p:spPr>
      </p:pic>
      <p:sp>
        <p:nvSpPr>
          <p:cNvPr id="5" name="标题 1"/>
          <p:cNvSpPr txBox="1"/>
          <p:nvPr/>
        </p:nvSpPr>
        <p:spPr>
          <a:xfrm>
            <a:off x="155340" y="610487"/>
            <a:ext cx="5472607" cy="576063"/>
          </a:xfrm>
          <a:prstGeom prst="rect">
            <a:avLst/>
          </a:prstGeom>
        </p:spPr>
        <p:txBody>
          <a:bodyPr vert="horz" wrap="none" lIns="91440" tIns="45720" rIns="91440" bIns="45720" rtlCol="0" anchor="ctr" anchorCtr="0">
            <a:noAutofit/>
          </a:bodyPr>
          <a:lstStyle>
            <a:lvl1pPr algn="ctr" defTabSz="914400" rtl="0" eaLnBrk="1" latinLnBrk="0" hangingPunct="1">
              <a:lnSpc>
                <a:spcPct val="90000"/>
              </a:lnSpc>
              <a:spcBef>
                <a:spcPct val="0"/>
              </a:spcBef>
              <a:buNone/>
              <a:defRPr sz="4400" kern="1200">
                <a:solidFill>
                  <a:schemeClr val="bg1"/>
                </a:solidFill>
                <a:latin typeface="+mj-lt"/>
                <a:ea typeface="+mj-ea"/>
                <a:cs typeface="+mj-cs"/>
              </a:defRPr>
            </a:lvl1pPr>
          </a:lstStyle>
          <a:p>
            <a:pPr>
              <a:lnSpc>
                <a:spcPct val="130000"/>
              </a:lnSpc>
              <a:spcBef>
                <a:spcPts val="0"/>
              </a:spcBef>
            </a:pPr>
            <a:r>
              <a:rPr lang="zh-CN" altLang="en-US" sz="3600" b="1" noProof="1">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中性原子量子计算</a:t>
            </a:r>
          </a:p>
        </p:txBody>
      </p:sp>
      <p:cxnSp>
        <p:nvCxnSpPr>
          <p:cNvPr id="6" name="直接连接符 5"/>
          <p:cNvCxnSpPr/>
          <p:nvPr/>
        </p:nvCxnSpPr>
        <p:spPr>
          <a:xfrm>
            <a:off x="407367" y="1268760"/>
            <a:ext cx="5040561" cy="0"/>
          </a:xfrm>
          <a:prstGeom prst="line">
            <a:avLst/>
          </a:prstGeom>
          <a:ln w="12700">
            <a:solidFill>
              <a:srgbClr val="FFFF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A2E70F73-9EDF-40F8-99CE-22CBFF5D0438}"/>
              </a:ext>
            </a:extLst>
          </p:cNvPr>
          <p:cNvSpPr>
            <a:spLocks noGrp="1"/>
          </p:cNvSpPr>
          <p:nvPr>
            <p:ph type="title"/>
          </p:nvPr>
        </p:nvSpPr>
        <p:spPr>
          <a:xfrm>
            <a:off x="263525" y="142875"/>
            <a:ext cx="8572500" cy="796925"/>
          </a:xfrm>
        </p:spPr>
        <p:txBody>
          <a:bodyPr/>
          <a:lstStyle/>
          <a:p>
            <a:r>
              <a:rPr lang="zh-CN" altLang="en-US" sz="3200" dirty="0">
                <a:solidFill>
                  <a:srgbClr val="000000"/>
                </a:solidFill>
                <a:latin typeface="黑体" panose="02010609060101010101" pitchFamily="49" charset="-122"/>
                <a:ea typeface="黑体" panose="02010609060101010101" pitchFamily="49" charset="-122"/>
              </a:rPr>
              <a:t>本周原定计划及目标</a:t>
            </a:r>
          </a:p>
        </p:txBody>
      </p:sp>
      <p:cxnSp>
        <p:nvCxnSpPr>
          <p:cNvPr id="3" name="直接连接符 2">
            <a:extLst>
              <a:ext uri="{FF2B5EF4-FFF2-40B4-BE49-F238E27FC236}">
                <a16:creationId xmlns:a16="http://schemas.microsoft.com/office/drawing/2014/main" id="{9549BAA8-9910-41E5-8520-35D49219958D}"/>
              </a:ext>
            </a:extLst>
          </p:cNvPr>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221D3C48-ED01-468B-9116-F68023F6F361}"/>
              </a:ext>
            </a:extLst>
          </p:cNvPr>
          <p:cNvGraphicFramePr>
            <a:graphicFrameLocks noGrp="1"/>
          </p:cNvGraphicFramePr>
          <p:nvPr>
            <p:extLst>
              <p:ext uri="{D42A27DB-BD31-4B8C-83A1-F6EECF244321}">
                <p14:modId xmlns:p14="http://schemas.microsoft.com/office/powerpoint/2010/main" val="1074927574"/>
              </p:ext>
            </p:extLst>
          </p:nvPr>
        </p:nvGraphicFramePr>
        <p:xfrm>
          <a:off x="335360" y="1588991"/>
          <a:ext cx="11521280" cy="2195717"/>
        </p:xfrm>
        <a:graphic>
          <a:graphicData uri="http://schemas.openxmlformats.org/drawingml/2006/table">
            <a:tbl>
              <a:tblPr firstRow="1" bandRow="1">
                <a:tableStyleId>{5C22544A-7EE6-4342-B048-85BDC9FD1C3A}</a:tableStyleId>
              </a:tblPr>
              <a:tblGrid>
                <a:gridCol w="1157748">
                  <a:extLst>
                    <a:ext uri="{9D8B030D-6E8A-4147-A177-3AD203B41FA5}">
                      <a16:colId xmlns:a16="http://schemas.microsoft.com/office/drawing/2014/main" val="486661085"/>
                    </a:ext>
                  </a:extLst>
                </a:gridCol>
                <a:gridCol w="3738796">
                  <a:extLst>
                    <a:ext uri="{9D8B030D-6E8A-4147-A177-3AD203B41FA5}">
                      <a16:colId xmlns:a16="http://schemas.microsoft.com/office/drawing/2014/main" val="1102549887"/>
                    </a:ext>
                  </a:extLst>
                </a:gridCol>
                <a:gridCol w="6624736">
                  <a:extLst>
                    <a:ext uri="{9D8B030D-6E8A-4147-A177-3AD203B41FA5}">
                      <a16:colId xmlns:a16="http://schemas.microsoft.com/office/drawing/2014/main" val="3598360594"/>
                    </a:ext>
                  </a:extLst>
                </a:gridCol>
              </a:tblGrid>
              <a:tr h="456125">
                <a:tc>
                  <a:txBody>
                    <a:bodyPr/>
                    <a:lstStyle/>
                    <a:p>
                      <a:pPr algn="ctr">
                        <a:lnSpc>
                          <a:spcPct val="150000"/>
                        </a:lnSpc>
                      </a:pPr>
                      <a:r>
                        <a:rPr lang="zh-CN" altLang="en-US" sz="1800" dirty="0"/>
                        <a:t>序号</a:t>
                      </a:r>
                    </a:p>
                  </a:txBody>
                  <a:tcPr marL="91447" marR="91447" marT="45674" marB="45674" anchor="ctr"/>
                </a:tc>
                <a:tc>
                  <a:txBody>
                    <a:bodyPr/>
                    <a:lstStyle/>
                    <a:p>
                      <a:pPr algn="ctr">
                        <a:lnSpc>
                          <a:spcPct val="150000"/>
                        </a:lnSpc>
                      </a:pPr>
                      <a:r>
                        <a:rPr lang="zh-CN" altLang="en-US" sz="1800" dirty="0"/>
                        <a:t>原定工作计划</a:t>
                      </a:r>
                    </a:p>
                  </a:txBody>
                  <a:tcPr marL="91447" marR="91447" marT="45674" marB="45674" anchor="ctr"/>
                </a:tc>
                <a:tc>
                  <a:txBody>
                    <a:bodyPr/>
                    <a:lstStyle/>
                    <a:p>
                      <a:pPr algn="ctr">
                        <a:lnSpc>
                          <a:spcPct val="150000"/>
                        </a:lnSpc>
                      </a:pPr>
                      <a:r>
                        <a:rPr lang="zh-CN" altLang="en-US" sz="1800" dirty="0"/>
                        <a:t>目标</a:t>
                      </a:r>
                    </a:p>
                  </a:txBody>
                  <a:tcPr marL="91447" marR="91447" marT="45674" marB="45674" anchor="ctr"/>
                </a:tc>
                <a:extLst>
                  <a:ext uri="{0D108BD9-81ED-4DB2-BD59-A6C34878D82A}">
                    <a16:rowId xmlns:a16="http://schemas.microsoft.com/office/drawing/2014/main" val="2522524445"/>
                  </a:ext>
                </a:extLst>
              </a:tr>
              <a:tr h="867431">
                <a:tc>
                  <a:txBody>
                    <a:bodyPr/>
                    <a:lstStyle/>
                    <a:p>
                      <a:pPr algn="ctr">
                        <a:lnSpc>
                          <a:spcPct val="150000"/>
                        </a:lnSpc>
                      </a:pPr>
                      <a:r>
                        <a:rPr lang="en-US" altLang="zh-CN" sz="1800" dirty="0"/>
                        <a:t>1</a:t>
                      </a:r>
                      <a:endParaRPr lang="zh-CN" altLang="en-US" sz="1800" dirty="0"/>
                    </a:p>
                  </a:txBody>
                  <a:tcPr marL="91447" marR="91447" marT="45674" marB="45674"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800" dirty="0">
                          <a:effectLst/>
                        </a:rPr>
                        <a:t>横场伊辛模型相变研究</a:t>
                      </a:r>
                    </a:p>
                  </a:txBody>
                  <a:tcPr marL="91447" marR="91447" marT="45674" marB="45674"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800" kern="1200" dirty="0">
                          <a:solidFill>
                            <a:schemeClr val="dk1"/>
                          </a:solidFill>
                          <a:latin typeface="+mn-lt"/>
                          <a:ea typeface="+mn-ea"/>
                          <a:cs typeface="+mn-cs"/>
                        </a:rPr>
                        <a:t>随机相互作用方晶格和阻挫晶格模拟，</a:t>
                      </a:r>
                      <a:r>
                        <a:rPr lang="zh-CN" altLang="en-US" sz="1800" dirty="0">
                          <a:effectLst/>
                        </a:rPr>
                        <a:t>自旋玻璃态序参量计算</a:t>
                      </a:r>
                    </a:p>
                  </a:txBody>
                  <a:tcPr marL="91447" marR="91447" marT="45674" marB="45674" anchor="ctr"/>
                </a:tc>
                <a:extLst>
                  <a:ext uri="{0D108BD9-81ED-4DB2-BD59-A6C34878D82A}">
                    <a16:rowId xmlns:a16="http://schemas.microsoft.com/office/drawing/2014/main" val="3057603524"/>
                  </a:ext>
                </a:extLst>
              </a:tr>
              <a:tr h="867431">
                <a:tc>
                  <a:txBody>
                    <a:bodyPr/>
                    <a:lstStyle/>
                    <a:p>
                      <a:pPr algn="ctr">
                        <a:lnSpc>
                          <a:spcPct val="150000"/>
                        </a:lnSpc>
                      </a:pPr>
                      <a:r>
                        <a:rPr lang="en-US" altLang="zh-CN" sz="1800" dirty="0"/>
                        <a:t>2</a:t>
                      </a:r>
                      <a:endParaRPr lang="zh-CN" altLang="en-US" sz="1800" dirty="0"/>
                    </a:p>
                  </a:txBody>
                  <a:tcPr marL="91447" marR="91447" marT="45674" marB="45674"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800" dirty="0">
                          <a:effectLst/>
                        </a:rPr>
                        <a:t>中性原子纠错码</a:t>
                      </a:r>
                    </a:p>
                  </a:txBody>
                  <a:tcPr marL="91447" marR="91447" marT="45674" marB="45674" anchor="ctr"/>
                </a:tc>
                <a:tc>
                  <a:txBody>
                    <a:bodyPr/>
                    <a:lstStyle/>
                    <a:p>
                      <a:pPr marL="0" algn="l" defTabSz="914400" rtl="0" eaLnBrk="1" latinLnBrk="0" hangingPunct="1">
                        <a:lnSpc>
                          <a:spcPct val="150000"/>
                        </a:lnSpc>
                      </a:pPr>
                      <a:r>
                        <a:rPr lang="zh-CN" altLang="en-US" sz="1800" kern="1200" dirty="0">
                          <a:solidFill>
                            <a:schemeClr val="dk1"/>
                          </a:solidFill>
                          <a:latin typeface="+mn-lt"/>
                          <a:ea typeface="+mn-ea"/>
                          <a:cs typeface="+mn-cs"/>
                        </a:rPr>
                        <a:t>解码器研究</a:t>
                      </a:r>
                    </a:p>
                  </a:txBody>
                  <a:tcPr marL="91447" marR="91447" marT="45674" marB="45674" anchor="ctr"/>
                </a:tc>
                <a:extLst>
                  <a:ext uri="{0D108BD9-81ED-4DB2-BD59-A6C34878D82A}">
                    <a16:rowId xmlns:a16="http://schemas.microsoft.com/office/drawing/2014/main" val="3794625484"/>
                  </a:ext>
                </a:extLst>
              </a:tr>
            </a:tbl>
          </a:graphicData>
        </a:graphic>
      </p:graphicFrame>
      <p:sp>
        <p:nvSpPr>
          <p:cNvPr id="2" name="灯片编号占位符 1">
            <a:extLst>
              <a:ext uri="{FF2B5EF4-FFF2-40B4-BE49-F238E27FC236}">
                <a16:creationId xmlns:a16="http://schemas.microsoft.com/office/drawing/2014/main" id="{33D33CCB-AC79-34E7-0285-9DADBE8CA9B5}"/>
              </a:ext>
            </a:extLst>
          </p:cNvPr>
          <p:cNvSpPr>
            <a:spLocks noGrp="1"/>
          </p:cNvSpPr>
          <p:nvPr>
            <p:ph type="sldNum" sz="quarter" idx="12"/>
          </p:nvPr>
        </p:nvSpPr>
        <p:spPr/>
        <p:txBody>
          <a:bodyPr/>
          <a:lstStyle/>
          <a:p>
            <a:pPr>
              <a:defRPr/>
            </a:pPr>
            <a:fld id="{160EA27A-133F-45AA-8F39-06F9FC63F11A}" type="slidenum">
              <a:rPr lang="zh-CN" altLang="en-US"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263525" y="142875"/>
            <a:ext cx="8572500" cy="796925"/>
          </a:xfrm>
        </p:spPr>
        <p:txBody>
          <a:bodyPr/>
          <a:lstStyle/>
          <a:p>
            <a:r>
              <a:rPr lang="zh-CN" altLang="en-US" sz="3200" dirty="0">
                <a:solidFill>
                  <a:srgbClr val="000000"/>
                </a:solidFill>
                <a:latin typeface="黑体" panose="02010609060101010101" pitchFamily="49" charset="-122"/>
                <a:ea typeface="黑体" panose="02010609060101010101" pitchFamily="49" charset="-122"/>
              </a:rPr>
              <a:t>当前工作进展</a:t>
            </a:r>
          </a:p>
        </p:txBody>
      </p:sp>
      <p:cxnSp>
        <p:nvCxnSpPr>
          <p:cNvPr id="3" name="直接连接符 2"/>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07035" y="1556792"/>
            <a:ext cx="7920990" cy="2086610"/>
          </a:xfrm>
          <a:prstGeom prst="rect">
            <a:avLst/>
          </a:prstGeom>
        </p:spPr>
        <p:txBody>
          <a:bodyPr wrap="square">
            <a:noAutofit/>
          </a:bodyPr>
          <a:lstStyle/>
          <a:p>
            <a:r>
              <a:rPr lang="en-US" altLang="zh-CN" sz="2400" dirty="0"/>
              <a:t>System:6×6 cylindrical square spin glass (N=36)</a:t>
            </a:r>
          </a:p>
          <a:p>
            <a:r>
              <a:rPr lang="en-US" altLang="zh-CN" sz="2400" dirty="0"/>
              <a:t>Couplings: 66 </a:t>
            </a:r>
            <a:r>
              <a:rPr lang="en-US" altLang="zh-CN" sz="2400" dirty="0" err="1"/>
              <a:t>Jij</a:t>
            </a:r>
            <a:r>
              <a:rPr lang="en-US" altLang="zh-CN" sz="2400" dirty="0"/>
              <a:t>​ bonds</a:t>
            </a:r>
          </a:p>
        </p:txBody>
      </p:sp>
      <p:pic>
        <p:nvPicPr>
          <p:cNvPr id="4" name="图片 3"/>
          <p:cNvPicPr>
            <a:picLocks noChangeAspect="1"/>
          </p:cNvPicPr>
          <p:nvPr/>
        </p:nvPicPr>
        <p:blipFill>
          <a:blip r:embed="rId3"/>
          <a:srcRect l="26380" t="39592"/>
          <a:stretch>
            <a:fillRect/>
          </a:stretch>
        </p:blipFill>
        <p:spPr>
          <a:xfrm>
            <a:off x="2927350" y="2459231"/>
            <a:ext cx="5224145" cy="753745"/>
          </a:xfrm>
          <a:prstGeom prst="rect">
            <a:avLst/>
          </a:prstGeom>
        </p:spPr>
      </p:pic>
      <p:sp>
        <p:nvSpPr>
          <p:cNvPr id="5" name="文本框 4"/>
          <p:cNvSpPr txBox="1"/>
          <p:nvPr/>
        </p:nvSpPr>
        <p:spPr>
          <a:xfrm>
            <a:off x="407368" y="2420888"/>
            <a:ext cx="5080000" cy="706755"/>
          </a:xfrm>
          <a:prstGeom prst="rect">
            <a:avLst/>
          </a:prstGeom>
        </p:spPr>
        <p:txBody>
          <a:bodyPr>
            <a:spAutoFit/>
          </a:bodyPr>
          <a:lstStyle/>
          <a:p>
            <a:r>
              <a:rPr lang="en-US" altLang="zh-CN" sz="2400" dirty="0"/>
              <a:t>Hamiltonian</a:t>
            </a:r>
            <a:r>
              <a:rPr lang="zh-CN" altLang="en-US" sz="2400" dirty="0"/>
              <a:t>：</a:t>
            </a:r>
            <a:endParaRPr lang="zh-CN" altLang="en-US" sz="1600" dirty="0"/>
          </a:p>
          <a:p>
            <a:endParaRPr lang="en-US" altLang="zh-CN" sz="1600" dirty="0"/>
          </a:p>
        </p:txBody>
      </p:sp>
      <p:sp>
        <p:nvSpPr>
          <p:cNvPr id="7" name="文本框 6"/>
          <p:cNvSpPr txBox="1"/>
          <p:nvPr/>
        </p:nvSpPr>
        <p:spPr>
          <a:xfrm>
            <a:off x="407035" y="1124585"/>
            <a:ext cx="11487785" cy="460375"/>
          </a:xfrm>
          <a:prstGeom prst="rect">
            <a:avLst/>
          </a:prstGeom>
          <a:noFill/>
        </p:spPr>
        <p:txBody>
          <a:bodyPr wrap="square" rtlCol="0">
            <a:spAutoFit/>
          </a:bodyPr>
          <a:lstStyle/>
          <a:p>
            <a:r>
              <a:rPr lang="zh-CN" altLang="en-US" sz="2400"/>
              <a:t>用</a:t>
            </a:r>
            <a:r>
              <a:rPr lang="en-US" altLang="zh-CN" sz="2400"/>
              <a:t>MPS</a:t>
            </a:r>
            <a:r>
              <a:rPr lang="zh-CN" altLang="en-US" sz="2400"/>
              <a:t>验证文章：</a:t>
            </a:r>
            <a:r>
              <a:rPr lang="en-US" altLang="zh-CN" sz="2400"/>
              <a:t>Beyond-classical computation in quantum simulation </a:t>
            </a:r>
            <a:r>
              <a:rPr lang="zh-CN" altLang="en-US" sz="2400"/>
              <a:t>横场</a:t>
            </a:r>
            <a:r>
              <a:rPr lang="en-US" altLang="zh-CN" sz="2400"/>
              <a:t>Ising</a:t>
            </a:r>
            <a:r>
              <a:rPr lang="zh-CN" altLang="en-US" sz="2400"/>
              <a:t>模型</a:t>
            </a:r>
          </a:p>
        </p:txBody>
      </p:sp>
      <p:pic>
        <p:nvPicPr>
          <p:cNvPr id="8" name="图片 7"/>
          <p:cNvPicPr>
            <a:picLocks noChangeAspect="1"/>
          </p:cNvPicPr>
          <p:nvPr/>
        </p:nvPicPr>
        <p:blipFill>
          <a:blip r:embed="rId4"/>
          <a:stretch>
            <a:fillRect/>
          </a:stretch>
        </p:blipFill>
        <p:spPr>
          <a:xfrm>
            <a:off x="6671945" y="1662430"/>
            <a:ext cx="1750060" cy="753745"/>
          </a:xfrm>
          <a:prstGeom prst="rect">
            <a:avLst/>
          </a:prstGeom>
        </p:spPr>
      </p:pic>
      <p:pic>
        <p:nvPicPr>
          <p:cNvPr id="9" name="图片 8"/>
          <p:cNvPicPr>
            <a:picLocks noChangeAspect="1"/>
          </p:cNvPicPr>
          <p:nvPr/>
        </p:nvPicPr>
        <p:blipFill>
          <a:blip r:embed="rId5"/>
          <a:stretch>
            <a:fillRect/>
          </a:stretch>
        </p:blipFill>
        <p:spPr>
          <a:xfrm>
            <a:off x="8563610" y="1662430"/>
            <a:ext cx="2628900" cy="1485900"/>
          </a:xfrm>
          <a:prstGeom prst="rect">
            <a:avLst/>
          </a:prstGeom>
        </p:spPr>
      </p:pic>
      <p:pic>
        <p:nvPicPr>
          <p:cNvPr id="15" name="图片 14">
            <a:extLst>
              <a:ext uri="{FF2B5EF4-FFF2-40B4-BE49-F238E27FC236}">
                <a16:creationId xmlns:a16="http://schemas.microsoft.com/office/drawing/2014/main" id="{008547FC-39B6-FA77-0B62-876CD99929A7}"/>
              </a:ext>
            </a:extLst>
          </p:cNvPr>
          <p:cNvPicPr>
            <a:picLocks noChangeAspect="1"/>
          </p:cNvPicPr>
          <p:nvPr/>
        </p:nvPicPr>
        <p:blipFill>
          <a:blip r:embed="rId6">
            <a:extLst>
              <a:ext uri="{28A0092B-C50C-407E-A947-70E740481C1C}">
                <a14:useLocalDpi xmlns:a14="http://schemas.microsoft.com/office/drawing/2010/main" val="0"/>
              </a:ext>
            </a:extLst>
          </a:blip>
          <a:srcRect r="6493"/>
          <a:stretch>
            <a:fillRect/>
          </a:stretch>
        </p:blipFill>
        <p:spPr>
          <a:xfrm>
            <a:off x="3685428" y="3256032"/>
            <a:ext cx="3739001" cy="3116130"/>
          </a:xfrm>
          <a:prstGeom prst="rect">
            <a:avLst/>
          </a:prstGeom>
        </p:spPr>
      </p:pic>
      <p:pic>
        <p:nvPicPr>
          <p:cNvPr id="17" name="图片 16">
            <a:extLst>
              <a:ext uri="{FF2B5EF4-FFF2-40B4-BE49-F238E27FC236}">
                <a16:creationId xmlns:a16="http://schemas.microsoft.com/office/drawing/2014/main" id="{B888949B-7B28-554F-ACC9-F03C2A9C74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15070" y="3256032"/>
            <a:ext cx="3391196" cy="3111616"/>
          </a:xfrm>
          <a:prstGeom prst="rect">
            <a:avLst/>
          </a:prstGeom>
        </p:spPr>
      </p:pic>
      <p:pic>
        <p:nvPicPr>
          <p:cNvPr id="19" name="图片 18">
            <a:extLst>
              <a:ext uri="{FF2B5EF4-FFF2-40B4-BE49-F238E27FC236}">
                <a16:creationId xmlns:a16="http://schemas.microsoft.com/office/drawing/2014/main" id="{4E8E4203-17F8-391C-9CBA-8A232549134A}"/>
              </a:ext>
            </a:extLst>
          </p:cNvPr>
          <p:cNvPicPr>
            <a:picLocks noChangeAspect="1"/>
          </p:cNvPicPr>
          <p:nvPr/>
        </p:nvPicPr>
        <p:blipFill>
          <a:blip r:embed="rId8"/>
          <a:stretch>
            <a:fillRect/>
          </a:stretch>
        </p:blipFill>
        <p:spPr>
          <a:xfrm>
            <a:off x="623393" y="3518214"/>
            <a:ext cx="1372940" cy="356608"/>
          </a:xfrm>
          <a:prstGeom prst="rect">
            <a:avLst/>
          </a:prstGeom>
        </p:spPr>
      </p:pic>
      <p:sp>
        <p:nvSpPr>
          <p:cNvPr id="21" name="文本框 20">
            <a:extLst>
              <a:ext uri="{FF2B5EF4-FFF2-40B4-BE49-F238E27FC236}">
                <a16:creationId xmlns:a16="http://schemas.microsoft.com/office/drawing/2014/main" id="{0181502E-69D4-E091-8FF7-E32AC5646022}"/>
              </a:ext>
            </a:extLst>
          </p:cNvPr>
          <p:cNvSpPr txBox="1"/>
          <p:nvPr/>
        </p:nvSpPr>
        <p:spPr>
          <a:xfrm>
            <a:off x="16488" y="3087234"/>
            <a:ext cx="6097248" cy="369332"/>
          </a:xfrm>
          <a:prstGeom prst="rect">
            <a:avLst/>
          </a:prstGeom>
          <a:noFill/>
        </p:spPr>
        <p:txBody>
          <a:bodyPr wrap="square">
            <a:spAutoFit/>
          </a:bodyPr>
          <a:lstStyle/>
          <a:p>
            <a:r>
              <a:rPr lang="zh-CN" altLang="zh-CN" sz="1800" b="0" dirty="0">
                <a:solidFill>
                  <a:schemeClr val="tx1"/>
                </a:solidFill>
                <a:effectLst/>
                <a:latin typeface="+mn-lt"/>
              </a:rPr>
              <a:t>the two-point correlation function</a:t>
            </a:r>
            <a:r>
              <a:rPr lang="en-US" altLang="zh-CN" sz="1800" b="0" dirty="0">
                <a:solidFill>
                  <a:schemeClr val="tx1"/>
                </a:solidFill>
                <a:effectLst/>
                <a:latin typeface="+mn-lt"/>
              </a:rPr>
              <a:t>:</a:t>
            </a:r>
            <a:r>
              <a:rPr lang="zh-CN" altLang="zh-CN" sz="1800" b="0" dirty="0">
                <a:solidFill>
                  <a:schemeClr val="tx1"/>
                </a:solidFill>
                <a:effectLst/>
                <a:latin typeface="+mn-lt"/>
              </a:rPr>
              <a:t> </a:t>
            </a:r>
            <a:endParaRPr lang="zh-CN" altLang="en-US" dirty="0"/>
          </a:p>
        </p:txBody>
      </p:sp>
      <p:sp>
        <p:nvSpPr>
          <p:cNvPr id="23" name="文本框 22">
            <a:extLst>
              <a:ext uri="{FF2B5EF4-FFF2-40B4-BE49-F238E27FC236}">
                <a16:creationId xmlns:a16="http://schemas.microsoft.com/office/drawing/2014/main" id="{5EFA094B-3867-4AA1-E63E-4059507FD77D}"/>
              </a:ext>
            </a:extLst>
          </p:cNvPr>
          <p:cNvSpPr txBox="1"/>
          <p:nvPr/>
        </p:nvSpPr>
        <p:spPr>
          <a:xfrm>
            <a:off x="47328" y="3861048"/>
            <a:ext cx="6097248" cy="369332"/>
          </a:xfrm>
          <a:prstGeom prst="rect">
            <a:avLst/>
          </a:prstGeom>
          <a:noFill/>
        </p:spPr>
        <p:txBody>
          <a:bodyPr wrap="square">
            <a:spAutoFit/>
          </a:bodyPr>
          <a:lstStyle/>
          <a:p>
            <a:r>
              <a:rPr lang="zh-CN" altLang="zh-CN" sz="1800" b="0" dirty="0">
                <a:solidFill>
                  <a:schemeClr val="tx1"/>
                </a:solidFill>
                <a:effectLst/>
                <a:latin typeface="+mn-lt"/>
              </a:rPr>
              <a:t>correlation error</a:t>
            </a:r>
            <a:r>
              <a:rPr lang="en-US" altLang="zh-CN" sz="1800" b="0" dirty="0">
                <a:solidFill>
                  <a:schemeClr val="tx1"/>
                </a:solidFill>
                <a:effectLst/>
                <a:latin typeface="+mn-lt"/>
              </a:rPr>
              <a:t>:</a:t>
            </a:r>
            <a:endParaRPr lang="zh-CN" altLang="en-US" dirty="0"/>
          </a:p>
        </p:txBody>
      </p:sp>
      <p:pic>
        <p:nvPicPr>
          <p:cNvPr id="25" name="图片 24">
            <a:extLst>
              <a:ext uri="{FF2B5EF4-FFF2-40B4-BE49-F238E27FC236}">
                <a16:creationId xmlns:a16="http://schemas.microsoft.com/office/drawing/2014/main" id="{8E548DB9-4303-88BB-FD1D-104288C67F56}"/>
              </a:ext>
            </a:extLst>
          </p:cNvPr>
          <p:cNvPicPr>
            <a:picLocks noChangeAspect="1"/>
          </p:cNvPicPr>
          <p:nvPr/>
        </p:nvPicPr>
        <p:blipFill>
          <a:blip r:embed="rId9"/>
          <a:stretch>
            <a:fillRect/>
          </a:stretch>
        </p:blipFill>
        <p:spPr>
          <a:xfrm>
            <a:off x="434591" y="4230380"/>
            <a:ext cx="2010205" cy="637080"/>
          </a:xfrm>
          <a:prstGeom prst="rect">
            <a:avLst/>
          </a:prstGeom>
        </p:spPr>
      </p:pic>
      <p:pic>
        <p:nvPicPr>
          <p:cNvPr id="27" name="图片 26">
            <a:extLst>
              <a:ext uri="{FF2B5EF4-FFF2-40B4-BE49-F238E27FC236}">
                <a16:creationId xmlns:a16="http://schemas.microsoft.com/office/drawing/2014/main" id="{0409646B-3760-5390-3DE7-557D91F56BA4}"/>
              </a:ext>
            </a:extLst>
          </p:cNvPr>
          <p:cNvPicPr>
            <a:picLocks noChangeAspect="1"/>
          </p:cNvPicPr>
          <p:nvPr/>
        </p:nvPicPr>
        <p:blipFill>
          <a:blip r:embed="rId10"/>
          <a:stretch>
            <a:fillRect/>
          </a:stretch>
        </p:blipFill>
        <p:spPr>
          <a:xfrm>
            <a:off x="407035" y="5229200"/>
            <a:ext cx="1440111" cy="528281"/>
          </a:xfrm>
          <a:prstGeom prst="rect">
            <a:avLst/>
          </a:prstGeom>
        </p:spPr>
      </p:pic>
      <p:sp>
        <p:nvSpPr>
          <p:cNvPr id="29" name="文本框 28">
            <a:extLst>
              <a:ext uri="{FF2B5EF4-FFF2-40B4-BE49-F238E27FC236}">
                <a16:creationId xmlns:a16="http://schemas.microsoft.com/office/drawing/2014/main" id="{EE971C9F-7F0B-D866-B814-FAE43E8FF768}"/>
              </a:ext>
            </a:extLst>
          </p:cNvPr>
          <p:cNvSpPr txBox="1"/>
          <p:nvPr/>
        </p:nvSpPr>
        <p:spPr>
          <a:xfrm>
            <a:off x="119336" y="4869160"/>
            <a:ext cx="6097248" cy="369332"/>
          </a:xfrm>
          <a:prstGeom prst="rect">
            <a:avLst/>
          </a:prstGeom>
          <a:noFill/>
        </p:spPr>
        <p:txBody>
          <a:bodyPr wrap="square">
            <a:spAutoFit/>
          </a:bodyPr>
          <a:lstStyle/>
          <a:p>
            <a:r>
              <a:rPr lang="zh-CN" altLang="zh-CN" sz="1800" b="0" dirty="0">
                <a:solidFill>
                  <a:schemeClr val="tx1"/>
                </a:solidFill>
                <a:effectLst/>
                <a:latin typeface="+mn-lt"/>
              </a:rPr>
              <a:t>classical fidelity</a:t>
            </a:r>
            <a:r>
              <a:rPr lang="en-US" altLang="zh-CN" sz="1800" b="0" dirty="0">
                <a:solidFill>
                  <a:schemeClr val="tx1"/>
                </a:solidFill>
                <a:effectLst/>
                <a:latin typeface="+mn-lt"/>
              </a:rPr>
              <a:t>:</a:t>
            </a:r>
            <a:endParaRPr lang="zh-CN" altLang="en-US" dirty="0"/>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7087184-634B-9A5D-6D30-CEDFC4621E68}"/>
                  </a:ext>
                </a:extLst>
              </p:cNvPr>
              <p:cNvSpPr txBox="1"/>
              <p:nvPr/>
            </p:nvSpPr>
            <p:spPr>
              <a:xfrm>
                <a:off x="3809582" y="6415218"/>
                <a:ext cx="3490692" cy="361830"/>
              </a:xfrm>
              <a:prstGeom prst="rect">
                <a:avLst/>
              </a:prstGeom>
              <a:noFill/>
            </p:spPr>
            <p:txBody>
              <a:bodyPr wrap="square">
                <a:spAutoFit/>
              </a:bodyPr>
              <a:lstStyle/>
              <a:p>
                <a:r>
                  <a:rPr lang="zh-CN" altLang="zh-CN" sz="1600" dirty="0"/>
                  <a:t>χ=64 与χ=</a:t>
                </a:r>
                <a:r>
                  <a:rPr lang="en-US" altLang="zh-CN" sz="1600" dirty="0"/>
                  <a:t>256</a:t>
                </a:r>
                <a:r>
                  <a:rPr lang="zh-CN" altLang="zh-CN" sz="1600" dirty="0"/>
                  <a:t>的两点自旋关联 </a:t>
                </a:r>
                <a14:m>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𝑐</m:t>
                        </m:r>
                      </m:e>
                      <m:sub>
                        <m:r>
                          <a:rPr lang="zh-CN" altLang="en-US" sz="1600" i="1">
                            <a:latin typeface="Cambria Math" panose="02040503050406030204" pitchFamily="18" charset="0"/>
                          </a:rPr>
                          <m:t>𝑖𝑗</m:t>
                        </m:r>
                      </m:sub>
                    </m:sSub>
                  </m:oMath>
                </a14:m>
                <a:r>
                  <a:rPr lang="zh-CN" altLang="zh-CN" sz="1600" dirty="0"/>
                  <a:t>比较</a:t>
                </a:r>
                <a:endParaRPr lang="zh-CN" altLang="en-US" sz="1600" dirty="0"/>
              </a:p>
            </p:txBody>
          </p:sp>
        </mc:Choice>
        <mc:Fallback xmlns="">
          <p:sp>
            <p:nvSpPr>
              <p:cNvPr id="31" name="文本框 30">
                <a:extLst>
                  <a:ext uri="{FF2B5EF4-FFF2-40B4-BE49-F238E27FC236}">
                    <a16:creationId xmlns:a16="http://schemas.microsoft.com/office/drawing/2014/main" id="{67087184-634B-9A5D-6D30-CEDFC4621E68}"/>
                  </a:ext>
                </a:extLst>
              </p:cNvPr>
              <p:cNvSpPr txBox="1">
                <a:spLocks noRot="1" noChangeAspect="1" noMove="1" noResize="1" noEditPoints="1" noAdjustHandles="1" noChangeArrowheads="1" noChangeShapeType="1" noTextEdit="1"/>
              </p:cNvSpPr>
              <p:nvPr/>
            </p:nvSpPr>
            <p:spPr>
              <a:xfrm>
                <a:off x="3809582" y="6415218"/>
                <a:ext cx="3490692" cy="361830"/>
              </a:xfrm>
              <a:prstGeom prst="rect">
                <a:avLst/>
              </a:prstGeom>
              <a:blipFill>
                <a:blip r:embed="rId11"/>
                <a:stretch>
                  <a:fillRect l="-1047" t="-3333"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2652FF6E-FFDB-B923-CCD5-EED267BC1859}"/>
                  </a:ext>
                </a:extLst>
              </p:cNvPr>
              <p:cNvSpPr txBox="1"/>
              <p:nvPr/>
            </p:nvSpPr>
            <p:spPr>
              <a:xfrm>
                <a:off x="8536856" y="6426856"/>
                <a:ext cx="4439420" cy="338554"/>
              </a:xfrm>
              <a:prstGeom prst="rect">
                <a:avLst/>
              </a:prstGeom>
              <a:noFill/>
            </p:spPr>
            <p:txBody>
              <a:bodyPr wrap="square">
                <a:spAutoFit/>
              </a:bodyPr>
              <a:lstStyle/>
              <a:p>
                <a:r>
                  <a:rPr lang="zh-CN" altLang="zh-CN" sz="1600" dirty="0"/>
                  <a:t>χ=64 与 χ=</a:t>
                </a:r>
                <a:r>
                  <a:rPr lang="en-US" altLang="zh-CN" sz="1600" dirty="0"/>
                  <a:t>256</a:t>
                </a:r>
                <a:r>
                  <a:rPr lang="zh-CN" altLang="zh-CN" sz="1600" dirty="0"/>
                  <a:t>的</a:t>
                </a:r>
                <a:r>
                  <a:rPr lang="zh-CN" altLang="en-US" sz="1600" dirty="0"/>
                  <a:t>末</a:t>
                </a:r>
                <a:r>
                  <a:rPr lang="zh-CN" altLang="zh-CN" sz="1600" dirty="0"/>
                  <a:t>态概率 </a:t>
                </a:r>
                <a14:m>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𝑝</m:t>
                        </m:r>
                      </m:e>
                      <m:sub>
                        <m:r>
                          <a:rPr lang="zh-CN" altLang="en-US" sz="1600" i="1">
                            <a:latin typeface="Cambria Math" panose="02040503050406030204" pitchFamily="18" charset="0"/>
                          </a:rPr>
                          <m:t>𝑧</m:t>
                        </m:r>
                      </m:sub>
                    </m:sSub>
                  </m:oMath>
                </a14:m>
                <a:r>
                  <a:rPr lang="zh-CN" altLang="zh-CN" sz="1600" dirty="0"/>
                  <a:t>比较</a:t>
                </a:r>
                <a:endParaRPr lang="zh-CN" altLang="en-US" sz="1600" dirty="0"/>
              </a:p>
            </p:txBody>
          </p:sp>
        </mc:Choice>
        <mc:Fallback xmlns="">
          <p:sp>
            <p:nvSpPr>
              <p:cNvPr id="33" name="文本框 32">
                <a:extLst>
                  <a:ext uri="{FF2B5EF4-FFF2-40B4-BE49-F238E27FC236}">
                    <a16:creationId xmlns:a16="http://schemas.microsoft.com/office/drawing/2014/main" id="{2652FF6E-FFDB-B923-CCD5-EED267BC1859}"/>
                  </a:ext>
                </a:extLst>
              </p:cNvPr>
              <p:cNvSpPr txBox="1">
                <a:spLocks noRot="1" noChangeAspect="1" noMove="1" noResize="1" noEditPoints="1" noAdjustHandles="1" noChangeArrowheads="1" noChangeShapeType="1" noTextEdit="1"/>
              </p:cNvSpPr>
              <p:nvPr/>
            </p:nvSpPr>
            <p:spPr>
              <a:xfrm>
                <a:off x="8536856" y="6426856"/>
                <a:ext cx="4439420" cy="338554"/>
              </a:xfrm>
              <a:prstGeom prst="rect">
                <a:avLst/>
              </a:prstGeom>
              <a:blipFill>
                <a:blip r:embed="rId12"/>
                <a:stretch>
                  <a:fillRect l="-686" t="-5357" b="-21429"/>
                </a:stretch>
              </a:blipFill>
            </p:spPr>
            <p:txBody>
              <a:bodyPr/>
              <a:lstStyle/>
              <a:p>
                <a:r>
                  <a:rPr lang="zh-CN" altLang="en-US">
                    <a:noFill/>
                  </a:rPr>
                  <a:t> </a:t>
                </a:r>
              </a:p>
            </p:txBody>
          </p:sp>
        </mc:Fallback>
      </mc:AlternateContent>
      <p:sp>
        <p:nvSpPr>
          <p:cNvPr id="34" name="文本框 33">
            <a:extLst>
              <a:ext uri="{FF2B5EF4-FFF2-40B4-BE49-F238E27FC236}">
                <a16:creationId xmlns:a16="http://schemas.microsoft.com/office/drawing/2014/main" id="{2C6E755C-DAF1-DDED-8FED-8C434F41A7D1}"/>
              </a:ext>
            </a:extLst>
          </p:cNvPr>
          <p:cNvSpPr txBox="1"/>
          <p:nvPr/>
        </p:nvSpPr>
        <p:spPr>
          <a:xfrm>
            <a:off x="119336" y="5790835"/>
            <a:ext cx="3245358" cy="830997"/>
          </a:xfrm>
          <a:prstGeom prst="rect">
            <a:avLst/>
          </a:prstGeom>
          <a:noFill/>
        </p:spPr>
        <p:txBody>
          <a:bodyPr wrap="square" rtlCol="0">
            <a:spAutoFit/>
          </a:bodyPr>
          <a:lstStyle/>
          <a:p>
            <a:r>
              <a:rPr lang="zh-CN" altLang="en-US" sz="1600" dirty="0"/>
              <a:t>复现文章</a:t>
            </a:r>
            <a:r>
              <a:rPr lang="en-US" altLang="zh-CN" sz="1600" dirty="0"/>
              <a:t>Fig.2B:</a:t>
            </a:r>
          </a:p>
          <a:p>
            <a:r>
              <a:rPr lang="zh-CN" altLang="en-US" sz="1600" dirty="0"/>
              <a:t>文章：</a:t>
            </a:r>
            <a:r>
              <a:rPr lang="en-US" altLang="zh-CN" sz="1600" dirty="0"/>
              <a:t>Dc=0.081;F=0.746</a:t>
            </a:r>
          </a:p>
          <a:p>
            <a:r>
              <a:rPr lang="zh-CN" altLang="en-US" sz="1600" dirty="0"/>
              <a:t>复现结果：</a:t>
            </a:r>
            <a:r>
              <a:rPr lang="en-US" altLang="zh-CN" sz="1600" dirty="0"/>
              <a:t> Dc=0.0696;F=0.819</a:t>
            </a:r>
            <a:endParaRPr lang="zh-CN" altLang="en-US" sz="1600" dirty="0"/>
          </a:p>
        </p:txBody>
      </p:sp>
      <p:sp>
        <p:nvSpPr>
          <p:cNvPr id="6" name="灯片编号占位符 5">
            <a:extLst>
              <a:ext uri="{FF2B5EF4-FFF2-40B4-BE49-F238E27FC236}">
                <a16:creationId xmlns:a16="http://schemas.microsoft.com/office/drawing/2014/main" id="{83D3C1E2-6689-2DCB-B9A1-3FE1CC417E86}"/>
              </a:ext>
            </a:extLst>
          </p:cNvPr>
          <p:cNvSpPr>
            <a:spLocks noGrp="1"/>
          </p:cNvSpPr>
          <p:nvPr>
            <p:ph type="sldNum" sz="quarter" idx="12"/>
          </p:nvPr>
        </p:nvSpPr>
        <p:spPr/>
        <p:txBody>
          <a:bodyPr/>
          <a:lstStyle/>
          <a:p>
            <a:pPr>
              <a:defRPr/>
            </a:pPr>
            <a:fld id="{160EA27A-133F-45AA-8F39-06F9FC63F11A}" type="slidenum">
              <a:rPr lang="zh-CN" altLang="en-US" smtClean="0"/>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0F892-3AC2-E778-BD56-7D9385B2F6E9}"/>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1459F5BD-92C4-A233-0123-7C873D4D5744}"/>
              </a:ext>
            </a:extLst>
          </p:cNvPr>
          <p:cNvSpPr>
            <a:spLocks noGrp="1"/>
          </p:cNvSpPr>
          <p:nvPr>
            <p:ph type="title"/>
          </p:nvPr>
        </p:nvSpPr>
        <p:spPr>
          <a:xfrm>
            <a:off x="263525" y="142875"/>
            <a:ext cx="8572500" cy="796925"/>
          </a:xfrm>
        </p:spPr>
        <p:txBody>
          <a:bodyPr/>
          <a:lstStyle/>
          <a:p>
            <a:r>
              <a:rPr lang="zh-CN" altLang="en-US" sz="3200" dirty="0">
                <a:solidFill>
                  <a:srgbClr val="000000"/>
                </a:solidFill>
                <a:latin typeface="黑体" panose="02010609060101010101" pitchFamily="49" charset="-122"/>
                <a:ea typeface="黑体" panose="02010609060101010101" pitchFamily="49" charset="-122"/>
              </a:rPr>
              <a:t>当前工作进展</a:t>
            </a:r>
          </a:p>
        </p:txBody>
      </p:sp>
      <p:cxnSp>
        <p:nvCxnSpPr>
          <p:cNvPr id="3" name="直接连接符 2">
            <a:extLst>
              <a:ext uri="{FF2B5EF4-FFF2-40B4-BE49-F238E27FC236}">
                <a16:creationId xmlns:a16="http://schemas.microsoft.com/office/drawing/2014/main" id="{95E8B782-BA65-BA26-69AC-F3C3A27BD11E}"/>
              </a:ext>
            </a:extLst>
          </p:cNvPr>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DFEE9B8F-EFB0-5581-E44D-6438D5C24C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159" y="1642282"/>
            <a:ext cx="4422251" cy="3384376"/>
          </a:xfrm>
          <a:prstGeom prst="rect">
            <a:avLst/>
          </a:prstGeom>
        </p:spPr>
      </p:pic>
      <p:pic>
        <p:nvPicPr>
          <p:cNvPr id="14" name="图片 13">
            <a:extLst>
              <a:ext uri="{FF2B5EF4-FFF2-40B4-BE49-F238E27FC236}">
                <a16:creationId xmlns:a16="http://schemas.microsoft.com/office/drawing/2014/main" id="{12CDF742-47AF-251E-A3E2-70B235B6F5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2358" y="1124744"/>
            <a:ext cx="3705130" cy="2880313"/>
          </a:xfrm>
          <a:prstGeom prst="rect">
            <a:avLst/>
          </a:prstGeom>
        </p:spPr>
      </p:pic>
      <p:pic>
        <p:nvPicPr>
          <p:cNvPr id="22" name="图片 21">
            <a:extLst>
              <a:ext uri="{FF2B5EF4-FFF2-40B4-BE49-F238E27FC236}">
                <a16:creationId xmlns:a16="http://schemas.microsoft.com/office/drawing/2014/main" id="{844315E0-3909-8CE6-4CB8-A38DA33B40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1864" y="3861992"/>
            <a:ext cx="3703616" cy="2807368"/>
          </a:xfrm>
          <a:prstGeom prst="rect">
            <a:avLst/>
          </a:prstGeom>
        </p:spPr>
      </p:pic>
      <p:sp>
        <p:nvSpPr>
          <p:cNvPr id="26" name="文本框 25">
            <a:extLst>
              <a:ext uri="{FF2B5EF4-FFF2-40B4-BE49-F238E27FC236}">
                <a16:creationId xmlns:a16="http://schemas.microsoft.com/office/drawing/2014/main" id="{1EF219D1-3FC6-02C3-4B92-57DF10223CF5}"/>
              </a:ext>
            </a:extLst>
          </p:cNvPr>
          <p:cNvSpPr txBox="1"/>
          <p:nvPr/>
        </p:nvSpPr>
        <p:spPr>
          <a:xfrm>
            <a:off x="8906811" y="3861992"/>
            <a:ext cx="2945408" cy="1200329"/>
          </a:xfrm>
          <a:prstGeom prst="rect">
            <a:avLst/>
          </a:prstGeom>
          <a:noFill/>
        </p:spPr>
        <p:txBody>
          <a:bodyPr wrap="square">
            <a:spAutoFit/>
          </a:bodyPr>
          <a:lstStyle/>
          <a:p>
            <a:r>
              <a:rPr lang="zh-CN" altLang="en-US" dirty="0"/>
              <a:t>退火越慢，末态有时间建立更强的自旋玻璃关联，同时能量越接近基态，复现结果与文章</a:t>
            </a:r>
            <a:r>
              <a:rPr lang="en-US" altLang="zh-CN" dirty="0"/>
              <a:t>Fig.2A</a:t>
            </a:r>
            <a:r>
              <a:rPr lang="zh-CN" altLang="en-US" dirty="0"/>
              <a:t>趋势一致。</a:t>
            </a:r>
          </a:p>
        </p:txBody>
      </p:sp>
      <p:pic>
        <p:nvPicPr>
          <p:cNvPr id="30" name="图片 29">
            <a:extLst>
              <a:ext uri="{FF2B5EF4-FFF2-40B4-BE49-F238E27FC236}">
                <a16:creationId xmlns:a16="http://schemas.microsoft.com/office/drawing/2014/main" id="{7C5A0CEB-E8D9-0FE5-F112-D90E10B5E6B4}"/>
              </a:ext>
            </a:extLst>
          </p:cNvPr>
          <p:cNvPicPr>
            <a:picLocks noChangeAspect="1"/>
          </p:cNvPicPr>
          <p:nvPr/>
        </p:nvPicPr>
        <p:blipFill>
          <a:blip r:embed="rId6"/>
          <a:stretch>
            <a:fillRect/>
          </a:stretch>
        </p:blipFill>
        <p:spPr>
          <a:xfrm>
            <a:off x="8585567" y="1916832"/>
            <a:ext cx="3487592" cy="574584"/>
          </a:xfrm>
          <a:prstGeom prst="rect">
            <a:avLst/>
          </a:prstGeom>
        </p:spPr>
      </p:pic>
      <p:pic>
        <p:nvPicPr>
          <p:cNvPr id="36" name="图片 35">
            <a:extLst>
              <a:ext uri="{FF2B5EF4-FFF2-40B4-BE49-F238E27FC236}">
                <a16:creationId xmlns:a16="http://schemas.microsoft.com/office/drawing/2014/main" id="{C8517990-6E03-614A-515D-230F2CDE3ABB}"/>
              </a:ext>
            </a:extLst>
          </p:cNvPr>
          <p:cNvPicPr>
            <a:picLocks noChangeAspect="1"/>
          </p:cNvPicPr>
          <p:nvPr/>
        </p:nvPicPr>
        <p:blipFill>
          <a:blip r:embed="rId7"/>
          <a:stretch>
            <a:fillRect/>
          </a:stretch>
        </p:blipFill>
        <p:spPr>
          <a:xfrm>
            <a:off x="9408368" y="2821493"/>
            <a:ext cx="1656184" cy="512977"/>
          </a:xfrm>
          <a:prstGeom prst="rect">
            <a:avLst/>
          </a:prstGeom>
        </p:spPr>
      </p:pic>
      <p:pic>
        <p:nvPicPr>
          <p:cNvPr id="38" name="图片 37">
            <a:extLst>
              <a:ext uri="{FF2B5EF4-FFF2-40B4-BE49-F238E27FC236}">
                <a16:creationId xmlns:a16="http://schemas.microsoft.com/office/drawing/2014/main" id="{17185377-BFC8-4E46-351D-42C91BDB1C54}"/>
              </a:ext>
            </a:extLst>
          </p:cNvPr>
          <p:cNvPicPr>
            <a:picLocks noChangeAspect="1"/>
          </p:cNvPicPr>
          <p:nvPr/>
        </p:nvPicPr>
        <p:blipFill>
          <a:blip r:embed="rId8"/>
          <a:stretch>
            <a:fillRect/>
          </a:stretch>
        </p:blipFill>
        <p:spPr>
          <a:xfrm>
            <a:off x="8877133" y="5391927"/>
            <a:ext cx="3074746" cy="269321"/>
          </a:xfrm>
          <a:prstGeom prst="rect">
            <a:avLst/>
          </a:prstGeom>
        </p:spPr>
      </p:pic>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4CAB553E-5EE1-D9DB-FCD3-1AB5AFA0F264}"/>
                  </a:ext>
                </a:extLst>
              </p:cNvPr>
              <p:cNvSpPr txBox="1"/>
              <p:nvPr/>
            </p:nvSpPr>
            <p:spPr>
              <a:xfrm>
                <a:off x="407368" y="5215718"/>
                <a:ext cx="6097248" cy="400110"/>
              </a:xfrm>
              <a:prstGeom prst="rect">
                <a:avLst/>
              </a:prstGeom>
              <a:noFill/>
            </p:spPr>
            <p:txBody>
              <a:bodyPr wrap="square">
                <a:spAutoFit/>
              </a:bodyPr>
              <a:lstStyle/>
              <a:p>
                <a:r>
                  <a:rPr lang="zh-CN" altLang="zh-CN" sz="2000" dirty="0"/>
                  <a:t>⟨</a:t>
                </a:r>
                <a:r>
                  <a:rPr lang="en-US" altLang="zh-CN" sz="2000" dirty="0"/>
                  <a:t> </a:t>
                </a:r>
                <a14:m>
                  <m:oMath xmlns:m="http://schemas.openxmlformats.org/officeDocument/2006/math">
                    <m:sSup>
                      <m:sSupPr>
                        <m:ctrlPr>
                          <a:rPr lang="en-US" altLang="zh-CN" sz="2000">
                            <a:latin typeface="Cambria Math" panose="02040503050406030204" pitchFamily="18" charset="0"/>
                          </a:rPr>
                        </m:ctrlPr>
                      </m:sSupPr>
                      <m:e>
                        <m:r>
                          <a:rPr lang="en-US" altLang="zh-CN" sz="2000">
                            <a:latin typeface="Cambria Math" panose="02040503050406030204" pitchFamily="18" charset="0"/>
                          </a:rPr>
                          <m:t>𝑞</m:t>
                        </m:r>
                      </m:e>
                      <m:sup>
                        <m:r>
                          <a:rPr lang="en-US" altLang="zh-CN" sz="2000">
                            <a:latin typeface="Cambria Math" panose="02040503050406030204" pitchFamily="18" charset="0"/>
                          </a:rPr>
                          <m:t>2</m:t>
                        </m:r>
                      </m:sup>
                    </m:sSup>
                  </m:oMath>
                </a14:m>
                <a:r>
                  <a:rPr lang="en-US" altLang="zh-CN" sz="2000" dirty="0"/>
                  <a:t> </a:t>
                </a:r>
                <a:r>
                  <a:rPr lang="zh-CN" altLang="zh-CN" sz="2000" dirty="0"/>
                  <a:t>⟩ 随 maxdim 增大逐渐趋于稳定</a:t>
                </a:r>
                <a:endParaRPr lang="zh-CN" altLang="en-US" sz="2000" dirty="0"/>
              </a:p>
            </p:txBody>
          </p:sp>
        </mc:Choice>
        <mc:Fallback xmlns="">
          <p:sp>
            <p:nvSpPr>
              <p:cNvPr id="42" name="文本框 41">
                <a:extLst>
                  <a:ext uri="{FF2B5EF4-FFF2-40B4-BE49-F238E27FC236}">
                    <a16:creationId xmlns:a16="http://schemas.microsoft.com/office/drawing/2014/main" id="{4CAB553E-5EE1-D9DB-FCD3-1AB5AFA0F264}"/>
                  </a:ext>
                </a:extLst>
              </p:cNvPr>
              <p:cNvSpPr txBox="1">
                <a:spLocks noRot="1" noChangeAspect="1" noMove="1" noResize="1" noEditPoints="1" noAdjustHandles="1" noChangeArrowheads="1" noChangeShapeType="1" noTextEdit="1"/>
              </p:cNvSpPr>
              <p:nvPr/>
            </p:nvSpPr>
            <p:spPr>
              <a:xfrm>
                <a:off x="407368" y="5215718"/>
                <a:ext cx="6097248" cy="400110"/>
              </a:xfrm>
              <a:prstGeom prst="rect">
                <a:avLst/>
              </a:prstGeom>
              <a:blipFill>
                <a:blip r:embed="rId9"/>
                <a:stretch>
                  <a:fillRect l="-1100" t="-12308" b="-27692"/>
                </a:stretch>
              </a:blipFill>
            </p:spPr>
            <p:txBody>
              <a:bodyPr/>
              <a:lstStyle/>
              <a:p>
                <a:r>
                  <a:rPr lang="zh-CN" altLang="en-US">
                    <a:noFill/>
                  </a:rPr>
                  <a:t> </a:t>
                </a:r>
              </a:p>
            </p:txBody>
          </p:sp>
        </mc:Fallback>
      </mc:AlternateContent>
      <p:sp>
        <p:nvSpPr>
          <p:cNvPr id="2" name="灯片编号占位符 1">
            <a:extLst>
              <a:ext uri="{FF2B5EF4-FFF2-40B4-BE49-F238E27FC236}">
                <a16:creationId xmlns:a16="http://schemas.microsoft.com/office/drawing/2014/main" id="{AAE24ED2-FAF1-A5A7-C40E-36A4A208A226}"/>
              </a:ext>
            </a:extLst>
          </p:cNvPr>
          <p:cNvSpPr>
            <a:spLocks noGrp="1"/>
          </p:cNvSpPr>
          <p:nvPr>
            <p:ph type="sldNum" sz="quarter" idx="12"/>
          </p:nvPr>
        </p:nvSpPr>
        <p:spPr/>
        <p:txBody>
          <a:bodyPr/>
          <a:lstStyle/>
          <a:p>
            <a:pPr>
              <a:defRPr/>
            </a:pPr>
            <a:fld id="{160EA27A-133F-45AA-8F39-06F9FC63F11A}" type="slidenum">
              <a:rPr lang="zh-CN" altLang="en-US" smtClean="0"/>
              <a:t>4</a:t>
            </a:fld>
            <a:endParaRPr lang="en-US" altLang="zh-CN"/>
          </a:p>
        </p:txBody>
      </p:sp>
    </p:spTree>
    <p:extLst>
      <p:ext uri="{BB962C8B-B14F-4D97-AF65-F5344CB8AC3E}">
        <p14:creationId xmlns:p14="http://schemas.microsoft.com/office/powerpoint/2010/main" val="909907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263525" y="142875"/>
            <a:ext cx="8572500" cy="796925"/>
          </a:xfrm>
        </p:spPr>
        <p:txBody>
          <a:bodyPr/>
          <a:lstStyle/>
          <a:p>
            <a:r>
              <a:rPr lang="zh-CN" altLang="en-US" sz="3200" dirty="0">
                <a:solidFill>
                  <a:srgbClr val="000000"/>
                </a:solidFill>
                <a:latin typeface="黑体" panose="02010609060101010101" pitchFamily="49" charset="-122"/>
                <a:ea typeface="黑体" panose="02010609060101010101" pitchFamily="49" charset="-122"/>
              </a:rPr>
              <a:t>当前工作进展  </a:t>
            </a:r>
          </a:p>
        </p:txBody>
      </p:sp>
      <p:cxnSp>
        <p:nvCxnSpPr>
          <p:cNvPr id="3" name="直接连接符 2"/>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07035" y="1430768"/>
            <a:ext cx="7920990" cy="2086610"/>
          </a:xfrm>
          <a:prstGeom prst="rect">
            <a:avLst/>
          </a:prstGeom>
        </p:spPr>
        <p:txBody>
          <a:bodyPr wrap="square">
            <a:noAutofit/>
          </a:bodyPr>
          <a:lstStyle/>
          <a:p>
            <a:endParaRPr lang="en-US" altLang="zh-CN" sz="2400" dirty="0"/>
          </a:p>
        </p:txBody>
      </p:sp>
      <p:pic>
        <p:nvPicPr>
          <p:cNvPr id="4" name="图片 3"/>
          <p:cNvPicPr>
            <a:picLocks noChangeAspect="1"/>
          </p:cNvPicPr>
          <p:nvPr/>
        </p:nvPicPr>
        <p:blipFill>
          <a:blip r:embed="rId3"/>
          <a:srcRect l="26380" t="39592"/>
          <a:stretch>
            <a:fillRect/>
          </a:stretch>
        </p:blipFill>
        <p:spPr>
          <a:xfrm>
            <a:off x="2351584" y="1633286"/>
            <a:ext cx="3574376" cy="515714"/>
          </a:xfrm>
          <a:prstGeom prst="rect">
            <a:avLst/>
          </a:prstGeom>
        </p:spPr>
      </p:pic>
      <p:sp>
        <p:nvSpPr>
          <p:cNvPr id="5" name="文本框 4"/>
          <p:cNvSpPr txBox="1"/>
          <p:nvPr/>
        </p:nvSpPr>
        <p:spPr>
          <a:xfrm>
            <a:off x="382520" y="1553926"/>
            <a:ext cx="5080000" cy="706755"/>
          </a:xfrm>
          <a:prstGeom prst="rect">
            <a:avLst/>
          </a:prstGeom>
        </p:spPr>
        <p:txBody>
          <a:bodyPr>
            <a:spAutoFit/>
          </a:bodyPr>
          <a:lstStyle/>
          <a:p>
            <a:r>
              <a:rPr lang="en-US" altLang="zh-CN" sz="2400" dirty="0"/>
              <a:t>Hamiltonian</a:t>
            </a:r>
            <a:r>
              <a:rPr lang="zh-CN" altLang="en-US" sz="2400" dirty="0"/>
              <a:t>：</a:t>
            </a:r>
            <a:endParaRPr lang="zh-CN" altLang="en-US" sz="1600" dirty="0"/>
          </a:p>
          <a:p>
            <a:endParaRPr lang="en-US" altLang="zh-CN" sz="1600" dirty="0"/>
          </a:p>
        </p:txBody>
      </p:sp>
      <p:sp>
        <p:nvSpPr>
          <p:cNvPr id="7" name="文本框 6"/>
          <p:cNvSpPr txBox="1"/>
          <p:nvPr/>
        </p:nvSpPr>
        <p:spPr>
          <a:xfrm>
            <a:off x="352107" y="1011095"/>
            <a:ext cx="11487785" cy="460375"/>
          </a:xfrm>
          <a:prstGeom prst="rect">
            <a:avLst/>
          </a:prstGeom>
          <a:noFill/>
        </p:spPr>
        <p:txBody>
          <a:bodyPr wrap="square" rtlCol="0">
            <a:spAutoFit/>
          </a:bodyPr>
          <a:lstStyle/>
          <a:p>
            <a:r>
              <a:rPr lang="zh-CN" altLang="en-US" sz="2400" dirty="0"/>
              <a:t>用</a:t>
            </a:r>
            <a:r>
              <a:rPr lang="en-US" altLang="zh-CN" sz="2400" dirty="0"/>
              <a:t>MPS</a:t>
            </a:r>
            <a:r>
              <a:rPr lang="zh-CN" altLang="en-US" sz="2400" dirty="0"/>
              <a:t>验证文章：</a:t>
            </a:r>
            <a:r>
              <a:rPr lang="en-US" altLang="zh-CN" sz="2400" dirty="0"/>
              <a:t>Beyond-classical computation in quantum simulation </a:t>
            </a:r>
            <a:r>
              <a:rPr lang="zh-CN" altLang="en-US" sz="2400" dirty="0"/>
              <a:t>横场</a:t>
            </a:r>
            <a:r>
              <a:rPr lang="en-US" altLang="zh-CN" sz="2400" dirty="0"/>
              <a:t>Ising</a:t>
            </a:r>
            <a:r>
              <a:rPr lang="zh-CN" altLang="en-US" sz="2400" dirty="0"/>
              <a:t>模型</a:t>
            </a:r>
          </a:p>
        </p:txBody>
      </p:sp>
      <p:pic>
        <p:nvPicPr>
          <p:cNvPr id="8" name="图片 7"/>
          <p:cNvPicPr>
            <a:picLocks noChangeAspect="1"/>
          </p:cNvPicPr>
          <p:nvPr/>
        </p:nvPicPr>
        <p:blipFill>
          <a:blip r:embed="rId4"/>
          <a:stretch>
            <a:fillRect/>
          </a:stretch>
        </p:blipFill>
        <p:spPr>
          <a:xfrm>
            <a:off x="6671945" y="1662430"/>
            <a:ext cx="1750060" cy="753745"/>
          </a:xfrm>
          <a:prstGeom prst="rect">
            <a:avLst/>
          </a:prstGeom>
        </p:spPr>
      </p:pic>
      <p:pic>
        <p:nvPicPr>
          <p:cNvPr id="9" name="图片 8"/>
          <p:cNvPicPr>
            <a:picLocks noChangeAspect="1"/>
          </p:cNvPicPr>
          <p:nvPr/>
        </p:nvPicPr>
        <p:blipFill>
          <a:blip r:embed="rId5"/>
          <a:stretch>
            <a:fillRect/>
          </a:stretch>
        </p:blipFill>
        <p:spPr>
          <a:xfrm>
            <a:off x="8563610" y="1662430"/>
            <a:ext cx="2628900" cy="1485900"/>
          </a:xfrm>
          <a:prstGeom prst="rect">
            <a:avLst/>
          </a:prstGeom>
        </p:spPr>
      </p:pic>
      <p:sp>
        <p:nvSpPr>
          <p:cNvPr id="15" name="文本框 14">
            <a:extLst>
              <a:ext uri="{FF2B5EF4-FFF2-40B4-BE49-F238E27FC236}">
                <a16:creationId xmlns:a16="http://schemas.microsoft.com/office/drawing/2014/main" id="{D309443C-04C7-ABCC-7E64-015782015F76}"/>
              </a:ext>
            </a:extLst>
          </p:cNvPr>
          <p:cNvSpPr txBox="1"/>
          <p:nvPr/>
        </p:nvSpPr>
        <p:spPr>
          <a:xfrm>
            <a:off x="382520" y="2600571"/>
            <a:ext cx="6094070" cy="461665"/>
          </a:xfrm>
          <a:prstGeom prst="rect">
            <a:avLst/>
          </a:prstGeom>
          <a:noFill/>
        </p:spPr>
        <p:txBody>
          <a:bodyPr wrap="square">
            <a:spAutoFit/>
          </a:bodyPr>
          <a:lstStyle/>
          <a:p>
            <a:r>
              <a:rPr lang="zh-CN" altLang="en-US" sz="2400" dirty="0"/>
              <a:t>文章原图：</a:t>
            </a:r>
            <a:endParaRPr lang="zh-CN" altLang="en-US" dirty="0"/>
          </a:p>
        </p:txBody>
      </p:sp>
      <p:sp>
        <p:nvSpPr>
          <p:cNvPr id="17" name="文本框 16">
            <a:extLst>
              <a:ext uri="{FF2B5EF4-FFF2-40B4-BE49-F238E27FC236}">
                <a16:creationId xmlns:a16="http://schemas.microsoft.com/office/drawing/2014/main" id="{8CC637A9-1C6C-B9BD-3917-DDADEEA1F2AC}"/>
              </a:ext>
            </a:extLst>
          </p:cNvPr>
          <p:cNvSpPr txBox="1"/>
          <p:nvPr/>
        </p:nvSpPr>
        <p:spPr>
          <a:xfrm>
            <a:off x="5810884" y="2535974"/>
            <a:ext cx="6094070" cy="461665"/>
          </a:xfrm>
          <a:prstGeom prst="rect">
            <a:avLst/>
          </a:prstGeom>
          <a:noFill/>
        </p:spPr>
        <p:txBody>
          <a:bodyPr wrap="square">
            <a:spAutoFit/>
          </a:bodyPr>
          <a:lstStyle/>
          <a:p>
            <a:r>
              <a:rPr lang="zh-CN" altLang="en-US" sz="2400" dirty="0"/>
              <a:t>复现结果：</a:t>
            </a:r>
            <a:endParaRPr lang="zh-CN" altLang="en-US" dirty="0"/>
          </a:p>
        </p:txBody>
      </p:sp>
      <p:pic>
        <p:nvPicPr>
          <p:cNvPr id="23" name="图片 22">
            <a:extLst>
              <a:ext uri="{FF2B5EF4-FFF2-40B4-BE49-F238E27FC236}">
                <a16:creationId xmlns:a16="http://schemas.microsoft.com/office/drawing/2014/main" id="{304AAF3D-53C0-21C5-5245-03E649CC4002}"/>
              </a:ext>
            </a:extLst>
          </p:cNvPr>
          <p:cNvPicPr>
            <a:picLocks noChangeAspect="1"/>
          </p:cNvPicPr>
          <p:nvPr/>
        </p:nvPicPr>
        <p:blipFill>
          <a:blip r:embed="rId6"/>
          <a:stretch>
            <a:fillRect/>
          </a:stretch>
        </p:blipFill>
        <p:spPr>
          <a:xfrm>
            <a:off x="156000" y="3068960"/>
            <a:ext cx="4896877" cy="3748552"/>
          </a:xfrm>
          <a:prstGeom prst="rect">
            <a:avLst/>
          </a:prstGeom>
        </p:spPr>
      </p:pic>
      <p:pic>
        <p:nvPicPr>
          <p:cNvPr id="25" name="图片 24">
            <a:extLst>
              <a:ext uri="{FF2B5EF4-FFF2-40B4-BE49-F238E27FC236}">
                <a16:creationId xmlns:a16="http://schemas.microsoft.com/office/drawing/2014/main" id="{72D7CEF1-28E8-0598-8C2C-3735C9964E1C}"/>
              </a:ext>
            </a:extLst>
          </p:cNvPr>
          <p:cNvPicPr>
            <a:picLocks noChangeAspect="1"/>
          </p:cNvPicPr>
          <p:nvPr/>
        </p:nvPicPr>
        <p:blipFill>
          <a:blip r:embed="rId7"/>
          <a:stretch>
            <a:fillRect/>
          </a:stretch>
        </p:blipFill>
        <p:spPr>
          <a:xfrm>
            <a:off x="2472233" y="2145429"/>
            <a:ext cx="1930499" cy="781090"/>
          </a:xfrm>
          <a:prstGeom prst="rect">
            <a:avLst/>
          </a:prstGeom>
        </p:spPr>
      </p:pic>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87A6DE32-8264-BE5B-53B6-9DE8B2F007D0}"/>
                  </a:ext>
                </a:extLst>
              </p:cNvPr>
              <p:cNvSpPr txBox="1"/>
              <p:nvPr/>
            </p:nvSpPr>
            <p:spPr>
              <a:xfrm>
                <a:off x="9855400" y="3451841"/>
                <a:ext cx="1600608" cy="2585323"/>
              </a:xfrm>
              <a:prstGeom prst="rect">
                <a:avLst/>
              </a:prstGeom>
              <a:noFill/>
            </p:spPr>
            <p:txBody>
              <a:bodyPr wrap="square">
                <a:spAutoFit/>
              </a:bodyPr>
              <a:lstStyle/>
              <a:p>
                <a:r>
                  <a:rPr lang="zh-CN" altLang="zh-CN" dirty="0"/>
                  <a:t>随着 bond dimension </a:t>
                </a:r>
                <a14:m>
                  <m:oMath xmlns:m="http://schemas.openxmlformats.org/officeDocument/2006/math">
                    <m:r>
                      <a:rPr lang="zh-CN" altLang="en-US" i="1">
                        <a:latin typeface="Cambria Math" panose="02040503050406030204" pitchFamily="18" charset="0"/>
                      </a:rPr>
                      <m:t>𝜒</m:t>
                    </m:r>
                  </m:oMath>
                </a14:m>
                <a:r>
                  <a:rPr lang="zh-CN" altLang="zh-CN" dirty="0"/>
                  <a:t>增大，</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𝑒</m:t>
                        </m:r>
                      </m:e>
                      <m:sub>
                        <m:r>
                          <a:rPr lang="zh-CN" altLang="en-US" i="1">
                            <a:latin typeface="Cambria Math" panose="02040503050406030204" pitchFamily="18" charset="0"/>
                          </a:rPr>
                          <m:t>𝑐</m:t>
                        </m:r>
                      </m:sub>
                    </m:sSub>
                  </m:oMath>
                </a14:m>
                <a:r>
                  <a:rPr lang="zh-CN" altLang="zh-CN" dirty="0"/>
                  <a:t> 持续降低，当误差降低至 QPU error 以下时，MPS 达到与量子设备精度相当的模拟水平。</a:t>
                </a:r>
                <a:endParaRPr lang="zh-CN" altLang="en-US" dirty="0"/>
              </a:p>
            </p:txBody>
          </p:sp>
        </mc:Choice>
        <mc:Fallback xmlns="">
          <p:sp>
            <p:nvSpPr>
              <p:cNvPr id="28" name="文本框 27">
                <a:extLst>
                  <a:ext uri="{FF2B5EF4-FFF2-40B4-BE49-F238E27FC236}">
                    <a16:creationId xmlns:a16="http://schemas.microsoft.com/office/drawing/2014/main" id="{87A6DE32-8264-BE5B-53B6-9DE8B2F007D0}"/>
                  </a:ext>
                </a:extLst>
              </p:cNvPr>
              <p:cNvSpPr txBox="1">
                <a:spLocks noRot="1" noChangeAspect="1" noMove="1" noResize="1" noEditPoints="1" noAdjustHandles="1" noChangeArrowheads="1" noChangeShapeType="1" noTextEdit="1"/>
              </p:cNvSpPr>
              <p:nvPr/>
            </p:nvSpPr>
            <p:spPr>
              <a:xfrm>
                <a:off x="9855400" y="3451841"/>
                <a:ext cx="1600608" cy="2585323"/>
              </a:xfrm>
              <a:prstGeom prst="rect">
                <a:avLst/>
              </a:prstGeom>
              <a:blipFill>
                <a:blip r:embed="rId8"/>
                <a:stretch>
                  <a:fillRect l="-3435" t="-1179" r="-14504" b="-2830"/>
                </a:stretch>
              </a:blipFill>
            </p:spPr>
            <p:txBody>
              <a:bodyPr/>
              <a:lstStyle/>
              <a:p>
                <a:r>
                  <a:rPr lang="zh-CN" altLang="en-US">
                    <a:noFill/>
                  </a:rPr>
                  <a:t> </a:t>
                </a:r>
              </a:p>
            </p:txBody>
          </p:sp>
        </mc:Fallback>
      </mc:AlternateContent>
      <p:pic>
        <p:nvPicPr>
          <p:cNvPr id="31" name="图片 30">
            <a:extLst>
              <a:ext uri="{FF2B5EF4-FFF2-40B4-BE49-F238E27FC236}">
                <a16:creationId xmlns:a16="http://schemas.microsoft.com/office/drawing/2014/main" id="{EAB2A733-19DF-5BF8-1151-DF9586336BB6}"/>
              </a:ext>
            </a:extLst>
          </p:cNvPr>
          <p:cNvPicPr>
            <a:picLocks noChangeAspect="1"/>
          </p:cNvPicPr>
          <p:nvPr/>
        </p:nvPicPr>
        <p:blipFill>
          <a:blip r:embed="rId9">
            <a:extLst>
              <a:ext uri="{28A0092B-C50C-407E-A947-70E740481C1C}">
                <a14:useLocalDpi xmlns:a14="http://schemas.microsoft.com/office/drawing/2010/main" val="0"/>
              </a:ext>
            </a:extLst>
          </a:blip>
          <a:srcRect r="7158"/>
          <a:stretch>
            <a:fillRect/>
          </a:stretch>
        </p:blipFill>
        <p:spPr>
          <a:xfrm>
            <a:off x="4952184" y="2997639"/>
            <a:ext cx="4783994" cy="3887745"/>
          </a:xfrm>
          <a:prstGeom prst="rect">
            <a:avLst/>
          </a:prstGeom>
        </p:spPr>
      </p:pic>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D12FFFB9-40D1-9916-8220-A223779E972D}"/>
                  </a:ext>
                </a:extLst>
              </p:cNvPr>
              <p:cNvSpPr txBox="1"/>
              <p:nvPr/>
            </p:nvSpPr>
            <p:spPr>
              <a:xfrm>
                <a:off x="3287688" y="471818"/>
                <a:ext cx="7704856" cy="400110"/>
              </a:xfrm>
              <a:prstGeom prst="rect">
                <a:avLst/>
              </a:prstGeom>
              <a:noFill/>
            </p:spPr>
            <p:txBody>
              <a:bodyPr wrap="square">
                <a:spAutoFit/>
              </a:bodyPr>
              <a:lstStyle/>
              <a:p>
                <a:r>
                  <a:rPr lang="zh-CN" altLang="zh-CN" sz="2000" dirty="0"/>
                  <a:t>不同系统尺寸下 MPS 模拟精度验证（</a:t>
                </a:r>
                <a14:m>
                  <m:oMath xmlns:m="http://schemas.openxmlformats.org/officeDocument/2006/math">
                    <m:r>
                      <a:rPr lang="zh-CN" altLang="en-US" sz="2000" i="1">
                        <a:latin typeface="Cambria Math" panose="02040503050406030204" pitchFamily="18" charset="0"/>
                      </a:rPr>
                      <m:t>𝐿</m:t>
                    </m:r>
                    <m:r>
                      <a:rPr lang="en-US" altLang="zh-CN" sz="2000" i="0">
                        <a:latin typeface="Cambria Math" panose="02040503050406030204" pitchFamily="18" charset="0"/>
                      </a:rPr>
                      <m:t>=4∼7</m:t>
                    </m:r>
                  </m:oMath>
                </a14:m>
                <a:r>
                  <a:rPr lang="zh-CN" altLang="zh-CN" sz="2000" dirty="0"/>
                  <a:t>）</a:t>
                </a:r>
                <a:r>
                  <a:rPr lang="zh-CN" altLang="en-US" sz="2000" dirty="0"/>
                  <a:t>复现文章</a:t>
                </a:r>
                <a:r>
                  <a:rPr lang="en-US" altLang="zh-CN" sz="2000" dirty="0"/>
                  <a:t>Fig2D</a:t>
                </a:r>
                <a:endParaRPr lang="zh-CN" altLang="en-US" sz="2000" dirty="0"/>
              </a:p>
            </p:txBody>
          </p:sp>
        </mc:Choice>
        <mc:Fallback xmlns="">
          <p:sp>
            <p:nvSpPr>
              <p:cNvPr id="33" name="文本框 32">
                <a:extLst>
                  <a:ext uri="{FF2B5EF4-FFF2-40B4-BE49-F238E27FC236}">
                    <a16:creationId xmlns:a16="http://schemas.microsoft.com/office/drawing/2014/main" id="{D12FFFB9-40D1-9916-8220-A223779E972D}"/>
                  </a:ext>
                </a:extLst>
              </p:cNvPr>
              <p:cNvSpPr txBox="1">
                <a:spLocks noRot="1" noChangeAspect="1" noMove="1" noResize="1" noEditPoints="1" noAdjustHandles="1" noChangeArrowheads="1" noChangeShapeType="1" noTextEdit="1"/>
              </p:cNvSpPr>
              <p:nvPr/>
            </p:nvSpPr>
            <p:spPr>
              <a:xfrm>
                <a:off x="3287688" y="471818"/>
                <a:ext cx="7704856" cy="400110"/>
              </a:xfrm>
              <a:prstGeom prst="rect">
                <a:avLst/>
              </a:prstGeom>
              <a:blipFill>
                <a:blip r:embed="rId10"/>
                <a:stretch>
                  <a:fillRect l="-791" t="-7576" b="-25758"/>
                </a:stretch>
              </a:blipFill>
            </p:spPr>
            <p:txBody>
              <a:bodyPr/>
              <a:lstStyle/>
              <a:p>
                <a:r>
                  <a:rPr lang="zh-CN" altLang="en-US">
                    <a:noFill/>
                  </a:rPr>
                  <a:t> </a:t>
                </a:r>
              </a:p>
            </p:txBody>
          </p:sp>
        </mc:Fallback>
      </mc:AlternateContent>
      <p:sp>
        <p:nvSpPr>
          <p:cNvPr id="6" name="灯片编号占位符 5">
            <a:extLst>
              <a:ext uri="{FF2B5EF4-FFF2-40B4-BE49-F238E27FC236}">
                <a16:creationId xmlns:a16="http://schemas.microsoft.com/office/drawing/2014/main" id="{CFEBE6FF-F94F-1E94-A1FF-F6722D2F16B8}"/>
              </a:ext>
            </a:extLst>
          </p:cNvPr>
          <p:cNvSpPr>
            <a:spLocks noGrp="1"/>
          </p:cNvSpPr>
          <p:nvPr>
            <p:ph type="sldNum" sz="quarter" idx="12"/>
          </p:nvPr>
        </p:nvSpPr>
        <p:spPr/>
        <p:txBody>
          <a:bodyPr/>
          <a:lstStyle/>
          <a:p>
            <a:pPr>
              <a:defRPr/>
            </a:pPr>
            <a:fld id="{160EA27A-133F-45AA-8F39-06F9FC63F11A}" type="slidenum">
              <a:rPr lang="zh-CN" altLang="en-US" smtClean="0"/>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109728"/>
            <a:ext cx="11521440" cy="502920"/>
          </a:xfrm>
          <a:prstGeom prst="rect">
            <a:avLst/>
          </a:prstGeom>
          <a:noFill/>
        </p:spPr>
        <p:txBody>
          <a:bodyPr wrap="none">
            <a:spAutoFit/>
          </a:bodyPr>
          <a:lstStyle/>
          <a:p>
            <a:pPr>
              <a:defRPr sz="2400" b="1"/>
            </a:pPr>
            <a:r>
              <a:rPr lang="zh-CN" noProof="0" dirty="0"/>
              <a:t>基态 Binder 分析：交叉与有限尺寸标度塌缩</a:t>
            </a:r>
          </a:p>
        </p:txBody>
      </p:sp>
      <p:pic>
        <p:nvPicPr>
          <p:cNvPr id="3" name="Picture 2" descr="groundstate_Binder_crossing_final.png"/>
          <p:cNvPicPr>
            <a:picLocks noChangeAspect="1"/>
          </p:cNvPicPr>
          <p:nvPr/>
        </p:nvPicPr>
        <p:blipFill>
          <a:blip r:embed="rId3"/>
          <a:stretch>
            <a:fillRect/>
          </a:stretch>
        </p:blipFill>
        <p:spPr>
          <a:xfrm>
            <a:off x="264807" y="749933"/>
            <a:ext cx="4508912" cy="3220652"/>
          </a:xfrm>
          <a:prstGeom prst="rect">
            <a:avLst/>
          </a:prstGeom>
        </p:spPr>
      </p:pic>
      <p:pic>
        <p:nvPicPr>
          <p:cNvPr id="4" name="Picture 3" descr="groundstate_Binder_collapse_final.png"/>
          <p:cNvPicPr>
            <a:picLocks noChangeAspect="1"/>
          </p:cNvPicPr>
          <p:nvPr/>
        </p:nvPicPr>
        <p:blipFill>
          <a:blip r:embed="rId4"/>
          <a:stretch>
            <a:fillRect/>
          </a:stretch>
        </p:blipFill>
        <p:spPr>
          <a:xfrm>
            <a:off x="4773719" y="731522"/>
            <a:ext cx="4675333" cy="3339524"/>
          </a:xfrm>
          <a:prstGeom prst="rect">
            <a:avLst/>
          </a:prstGeom>
        </p:spPr>
      </p:pic>
      <p:sp>
        <p:nvSpPr>
          <p:cNvPr id="5" name="TextBox 4"/>
          <p:cNvSpPr txBox="1"/>
          <p:nvPr/>
        </p:nvSpPr>
        <p:spPr>
          <a:xfrm>
            <a:off x="539290" y="4058771"/>
            <a:ext cx="4407316" cy="2046714"/>
          </a:xfrm>
          <a:prstGeom prst="rect">
            <a:avLst/>
          </a:prstGeom>
          <a:noFill/>
        </p:spPr>
        <p:txBody>
          <a:bodyPr wrap="square">
            <a:spAutoFit/>
          </a:bodyPr>
          <a:lstStyle/>
          <a:p>
            <a:pPr>
              <a:defRPr sz="1600" b="1"/>
            </a:pPr>
            <a:r>
              <a:rPr lang="zh-CN" noProof="0" dirty="0"/>
              <a:t>（1）基态 Binder crossing</a:t>
            </a:r>
          </a:p>
          <a:p>
            <a:pPr>
              <a:defRPr sz="1200"/>
            </a:pPr>
            <a:r>
              <a:rPr lang="zh-CN" noProof="0" dirty="0"/>
              <a:t>对每一个固定的退火参数 s，构造瞬时哈密顿量并求其基态：</a:t>
            </a:r>
          </a:p>
          <a:p>
            <a:pPr>
              <a:defRPr sz="1200"/>
            </a:pPr>
            <a:endParaRPr lang="zh-CN" noProof="0" dirty="0"/>
          </a:p>
          <a:p>
            <a:pPr algn="ctr">
              <a:defRPr sz="1500" b="1"/>
            </a:pPr>
            <a:endParaRPr lang="zh-CN" noProof="0" dirty="0"/>
          </a:p>
          <a:p>
            <a:pPr>
              <a:defRPr sz="1200"/>
            </a:pPr>
            <a:r>
              <a:rPr lang="zh-CN" noProof="0" dirty="0"/>
              <a:t>再由两个独立 replica 的 overlap 计算 Binder cumulant：</a:t>
            </a:r>
          </a:p>
          <a:p>
            <a:pPr>
              <a:defRPr sz="1200"/>
            </a:pPr>
            <a:endParaRPr lang="zh-CN" noProof="0" dirty="0"/>
          </a:p>
          <a:p>
            <a:pPr>
              <a:defRPr sz="1200"/>
            </a:pPr>
            <a:endParaRPr lang="zh-CN" noProof="0" dirty="0"/>
          </a:p>
          <a:p>
            <a:pPr>
              <a:defRPr sz="1200"/>
            </a:pPr>
            <a:endParaRPr lang="zh-CN" noProof="0" dirty="0"/>
          </a:p>
          <a:p>
            <a:pPr>
              <a:defRPr sz="1200"/>
            </a:pPr>
            <a:r>
              <a:rPr lang="zh-CN" noProof="0" dirty="0"/>
              <a:t>L = 4、5、6 的曲线在 s ≈ 0.384 附近出现共同交叉区域，可作为有限尺寸下量子临界点的估计。</a:t>
            </a:r>
          </a:p>
        </p:txBody>
      </p:sp>
      <p:sp>
        <p:nvSpPr>
          <p:cNvPr id="6" name="TextBox 5"/>
          <p:cNvSpPr txBox="1"/>
          <p:nvPr/>
        </p:nvSpPr>
        <p:spPr>
          <a:xfrm>
            <a:off x="9449051" y="1020443"/>
            <a:ext cx="2478142" cy="2600712"/>
          </a:xfrm>
          <a:prstGeom prst="rect">
            <a:avLst/>
          </a:prstGeom>
          <a:noFill/>
        </p:spPr>
        <p:txBody>
          <a:bodyPr wrap="square">
            <a:spAutoFit/>
          </a:bodyPr>
          <a:lstStyle/>
          <a:p>
            <a:pPr>
              <a:defRPr sz="1600" b="1"/>
            </a:pPr>
            <a:r>
              <a:rPr lang="zh-CN" noProof="0" dirty="0"/>
              <a:t>（2）有限尺寸标度塌缩</a:t>
            </a:r>
          </a:p>
          <a:p>
            <a:pPr>
              <a:defRPr sz="1200"/>
            </a:pPr>
            <a:r>
              <a:rPr lang="zh-CN" noProof="0" dirty="0"/>
              <a:t>利用基态 Binder 的有限尺寸标度形式：</a:t>
            </a:r>
          </a:p>
          <a:p>
            <a:pPr>
              <a:defRPr sz="1200"/>
            </a:pPr>
            <a:endParaRPr lang="zh-CN" noProof="0" dirty="0"/>
          </a:p>
          <a:p>
            <a:pPr>
              <a:defRPr sz="1200"/>
            </a:pPr>
            <a:endParaRPr lang="zh-CN" noProof="0" dirty="0"/>
          </a:p>
          <a:p>
            <a:pPr>
              <a:defRPr sz="1200"/>
            </a:pPr>
            <a:r>
              <a:rPr lang="zh-CN" noProof="0" dirty="0"/>
              <a:t>通过调节 s_c 和 ν，使不同尺寸的数据在新横坐标下尽量塌缩到同一条曲线。</a:t>
            </a:r>
          </a:p>
          <a:p>
            <a:pPr>
              <a:defRPr sz="1200"/>
            </a:pPr>
            <a:r>
              <a:rPr lang="zh-CN" noProof="0" dirty="0"/>
              <a:t>当前初步拟合结果：</a:t>
            </a:r>
          </a:p>
          <a:p>
            <a:pPr algn="ctr">
              <a:defRPr sz="1500" b="1"/>
            </a:pPr>
            <a:r>
              <a:rPr lang="zh-CN" noProof="0" dirty="0"/>
              <a:t>s_c ≈ 0.3837      ν ≈ 0.81</a:t>
            </a:r>
          </a:p>
          <a:p>
            <a:pPr>
              <a:defRPr sz="1200"/>
            </a:pPr>
            <a:r>
              <a:rPr lang="zh-CN" noProof="0" dirty="0"/>
              <a:t>物理含义：crossing 先定位临界区域，collapse 再进一步给出 s_c 与静态临界指数 ν。</a:t>
            </a:r>
          </a:p>
        </p:txBody>
      </p:sp>
      <p:sp>
        <p:nvSpPr>
          <p:cNvPr id="7" name="TextBox 6"/>
          <p:cNvSpPr txBox="1"/>
          <p:nvPr/>
        </p:nvSpPr>
        <p:spPr>
          <a:xfrm>
            <a:off x="439388" y="6520946"/>
            <a:ext cx="11155680" cy="320040"/>
          </a:xfrm>
          <a:prstGeom prst="rect">
            <a:avLst/>
          </a:prstGeom>
          <a:noFill/>
        </p:spPr>
        <p:txBody>
          <a:bodyPr wrap="none">
            <a:spAutoFit/>
          </a:bodyPr>
          <a:lstStyle/>
          <a:p>
            <a:pPr>
              <a:defRPr sz="1050" i="1">
                <a:solidFill>
                  <a:srgbClr val="505050"/>
                </a:solidFill>
              </a:defRPr>
            </a:pPr>
            <a:r>
              <a:rPr lang="zh-CN" noProof="0" dirty="0"/>
              <a:t>为什么先算基态：零温量子相变本质上属于平衡基态性质，因此先用基态确定临界点位置，再把它作为后续 Kibble–Zurek 动力学分析的基准。</a:t>
            </a:r>
          </a:p>
        </p:txBody>
      </p:sp>
      <p:pic>
        <p:nvPicPr>
          <p:cNvPr id="9" name="图片 8">
            <a:extLst>
              <a:ext uri="{FF2B5EF4-FFF2-40B4-BE49-F238E27FC236}">
                <a16:creationId xmlns:a16="http://schemas.microsoft.com/office/drawing/2014/main" id="{D62FFD20-6262-9CF7-15FC-3DF41A7F73E4}"/>
              </a:ext>
            </a:extLst>
          </p:cNvPr>
          <p:cNvPicPr>
            <a:picLocks noChangeAspect="1"/>
          </p:cNvPicPr>
          <p:nvPr/>
        </p:nvPicPr>
        <p:blipFill>
          <a:blip r:embed="rId5"/>
          <a:stretch>
            <a:fillRect/>
          </a:stretch>
        </p:blipFill>
        <p:spPr>
          <a:xfrm>
            <a:off x="5451176" y="3944142"/>
            <a:ext cx="5956181" cy="2210541"/>
          </a:xfrm>
          <a:prstGeom prst="rect">
            <a:avLst/>
          </a:prstGeom>
        </p:spPr>
      </p:pic>
      <p:cxnSp>
        <p:nvCxnSpPr>
          <p:cNvPr id="10" name="直接连接符 9">
            <a:extLst>
              <a:ext uri="{FF2B5EF4-FFF2-40B4-BE49-F238E27FC236}">
                <a16:creationId xmlns:a16="http://schemas.microsoft.com/office/drawing/2014/main" id="{76229853-B8E0-508D-40F6-EAB80E9FE867}"/>
              </a:ext>
            </a:extLst>
          </p:cNvPr>
          <p:cNvCxnSpPr/>
          <p:nvPr/>
        </p:nvCxnSpPr>
        <p:spPr>
          <a:xfrm flipV="1">
            <a:off x="156000" y="682046"/>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id="{4570D465-161B-95B4-A4C9-6E1C0B7E79BE}"/>
              </a:ext>
            </a:extLst>
          </p:cNvPr>
          <p:cNvPicPr>
            <a:picLocks noChangeAspect="1"/>
          </p:cNvPicPr>
          <p:nvPr/>
        </p:nvPicPr>
        <p:blipFill>
          <a:blip r:embed="rId6"/>
          <a:srcRect l="26380" t="39592"/>
          <a:stretch>
            <a:fillRect/>
          </a:stretch>
        </p:blipFill>
        <p:spPr>
          <a:xfrm>
            <a:off x="1043860" y="4585054"/>
            <a:ext cx="2484865" cy="358519"/>
          </a:xfrm>
          <a:prstGeom prst="rect">
            <a:avLst/>
          </a:prstGeom>
        </p:spPr>
      </p:pic>
      <p:pic>
        <p:nvPicPr>
          <p:cNvPr id="13" name="图片 12">
            <a:extLst>
              <a:ext uri="{FF2B5EF4-FFF2-40B4-BE49-F238E27FC236}">
                <a16:creationId xmlns:a16="http://schemas.microsoft.com/office/drawing/2014/main" id="{A5818563-B048-5178-3BB9-9BDEFF61410F}"/>
              </a:ext>
            </a:extLst>
          </p:cNvPr>
          <p:cNvPicPr>
            <a:picLocks noChangeAspect="1"/>
          </p:cNvPicPr>
          <p:nvPr/>
        </p:nvPicPr>
        <p:blipFill>
          <a:blip r:embed="rId7"/>
          <a:stretch>
            <a:fillRect/>
          </a:stretch>
        </p:blipFill>
        <p:spPr>
          <a:xfrm>
            <a:off x="1670416" y="5131390"/>
            <a:ext cx="1231752" cy="486887"/>
          </a:xfrm>
          <a:prstGeom prst="rect">
            <a:avLst/>
          </a:prstGeom>
        </p:spPr>
      </p:pic>
      <p:pic>
        <p:nvPicPr>
          <p:cNvPr id="15" name="图片 14">
            <a:extLst>
              <a:ext uri="{FF2B5EF4-FFF2-40B4-BE49-F238E27FC236}">
                <a16:creationId xmlns:a16="http://schemas.microsoft.com/office/drawing/2014/main" id="{13B00372-BC06-8D45-7824-620060771F82}"/>
              </a:ext>
            </a:extLst>
          </p:cNvPr>
          <p:cNvPicPr>
            <a:picLocks noChangeAspect="1"/>
          </p:cNvPicPr>
          <p:nvPr/>
        </p:nvPicPr>
        <p:blipFill>
          <a:blip r:embed="rId8"/>
          <a:stretch>
            <a:fillRect/>
          </a:stretch>
        </p:blipFill>
        <p:spPr>
          <a:xfrm>
            <a:off x="9874307" y="1523342"/>
            <a:ext cx="1700371" cy="409349"/>
          </a:xfrm>
          <a:prstGeom prst="rect">
            <a:avLst/>
          </a:prstGeom>
        </p:spPr>
      </p:pic>
      <p:sp>
        <p:nvSpPr>
          <p:cNvPr id="17" name="文本框 16">
            <a:extLst>
              <a:ext uri="{FF2B5EF4-FFF2-40B4-BE49-F238E27FC236}">
                <a16:creationId xmlns:a16="http://schemas.microsoft.com/office/drawing/2014/main" id="{713156A5-9E62-46AA-E3FA-2AE7E17A863E}"/>
              </a:ext>
            </a:extLst>
          </p:cNvPr>
          <p:cNvSpPr txBox="1"/>
          <p:nvPr/>
        </p:nvSpPr>
        <p:spPr>
          <a:xfrm>
            <a:off x="6096000" y="6136501"/>
            <a:ext cx="6097022" cy="276999"/>
          </a:xfrm>
          <a:prstGeom prst="rect">
            <a:avLst/>
          </a:prstGeom>
          <a:noFill/>
        </p:spPr>
        <p:txBody>
          <a:bodyPr wrap="square">
            <a:spAutoFit/>
          </a:bodyPr>
          <a:lstStyle/>
          <a:p>
            <a:r>
              <a:rPr lang="zh-CN" sz="1200" noProof="0" dirty="0"/>
              <a:t>Source: Figs. 5–6, L. Brodoloni and S. Pilati, Phys. Rev. E 110, 065305 (2024).</a:t>
            </a:r>
          </a:p>
        </p:txBody>
      </p:sp>
      <p:sp>
        <p:nvSpPr>
          <p:cNvPr id="8" name="灯片编号占位符 7">
            <a:extLst>
              <a:ext uri="{FF2B5EF4-FFF2-40B4-BE49-F238E27FC236}">
                <a16:creationId xmlns:a16="http://schemas.microsoft.com/office/drawing/2014/main" id="{39760B28-77D4-5613-72B4-AF6A0C43E9DF}"/>
              </a:ext>
            </a:extLst>
          </p:cNvPr>
          <p:cNvSpPr>
            <a:spLocks noGrp="1"/>
          </p:cNvSpPr>
          <p:nvPr>
            <p:ph type="sldNum" sz="quarter" idx="12"/>
          </p:nvPr>
        </p:nvSpPr>
        <p:spPr/>
        <p:txBody>
          <a:bodyPr/>
          <a:lstStyle/>
          <a:p>
            <a:pPr>
              <a:defRPr/>
            </a:pPr>
            <a:fld id="{A4F1CF0E-A275-4991-BFC2-D3FA590A122F}" type="slidenum">
              <a:rPr lang="en-GB" altLang="zh-CN" smtClean="0">
                <a:solidFill>
                  <a:srgbClr val="808080"/>
                </a:solidFill>
              </a:rPr>
              <a:t>6</a:t>
            </a:fld>
            <a:endParaRPr lang="en-GB"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109728"/>
            <a:ext cx="11521440" cy="502920"/>
          </a:xfrm>
          <a:prstGeom prst="rect">
            <a:avLst/>
          </a:prstGeom>
          <a:noFill/>
        </p:spPr>
        <p:txBody>
          <a:bodyPr wrap="none">
            <a:spAutoFit/>
          </a:bodyPr>
          <a:lstStyle/>
          <a:p>
            <a:pPr>
              <a:defRPr sz="2400" b="1"/>
            </a:pPr>
            <a:r>
              <a:rPr lang="zh-CN" noProof="0" dirty="0"/>
              <a:t>动力学响应：与基态临界区域的对应关系</a:t>
            </a:r>
          </a:p>
        </p:txBody>
      </p:sp>
      <p:pic>
        <p:nvPicPr>
          <p:cNvPr id="3" name="Picture 2" descr="70130cd8-c282-5a95-a635-29559d3d9282.png"/>
          <p:cNvPicPr>
            <a:picLocks noChangeAspect="1"/>
          </p:cNvPicPr>
          <p:nvPr/>
        </p:nvPicPr>
        <p:blipFill>
          <a:blip r:embed="rId3"/>
          <a:stretch>
            <a:fillRect/>
          </a:stretch>
        </p:blipFill>
        <p:spPr>
          <a:xfrm>
            <a:off x="377953" y="823669"/>
            <a:ext cx="5169816" cy="3978237"/>
          </a:xfrm>
          <a:prstGeom prst="rect">
            <a:avLst/>
          </a:prstGeom>
        </p:spPr>
      </p:pic>
      <p:pic>
        <p:nvPicPr>
          <p:cNvPr id="4" name="Picture 3" descr="bb36282b-2575-5da1-8244-965eefa9a981.png"/>
          <p:cNvPicPr>
            <a:picLocks noChangeAspect="1"/>
          </p:cNvPicPr>
          <p:nvPr/>
        </p:nvPicPr>
        <p:blipFill>
          <a:blip r:embed="rId4"/>
          <a:stretch>
            <a:fillRect/>
          </a:stretch>
        </p:blipFill>
        <p:spPr>
          <a:xfrm>
            <a:off x="6425347" y="815050"/>
            <a:ext cx="5003916" cy="3995473"/>
          </a:xfrm>
          <a:prstGeom prst="rect">
            <a:avLst/>
          </a:prstGeom>
        </p:spPr>
      </p:pic>
      <p:sp>
        <p:nvSpPr>
          <p:cNvPr id="5" name="TextBox 4"/>
          <p:cNvSpPr txBox="1"/>
          <p:nvPr/>
        </p:nvSpPr>
        <p:spPr>
          <a:xfrm>
            <a:off x="384048" y="4943057"/>
            <a:ext cx="5440680" cy="1783080"/>
          </a:xfrm>
          <a:prstGeom prst="rect">
            <a:avLst/>
          </a:prstGeom>
          <a:noFill/>
        </p:spPr>
        <p:txBody>
          <a:bodyPr wrap="square">
            <a:spAutoFit/>
          </a:bodyPr>
          <a:lstStyle/>
          <a:p>
            <a:pPr>
              <a:defRPr sz="1600" b="1"/>
            </a:pPr>
            <a:r>
              <a:rPr lang="zh-CN" noProof="0" dirty="0"/>
              <a:t>（1）纠缠熵的动力学增长</a:t>
            </a:r>
          </a:p>
          <a:p>
            <a:pPr>
              <a:defRPr sz="1200"/>
            </a:pPr>
            <a:r>
              <a:rPr lang="zh-CN" noProof="0" dirty="0"/>
              <a:t>在 t_a = 7 ns 的 TDVP 演化中，不同尺寸的最大纠缠熵 S_max 在 s ≲ 0.3 时接近 0，随后在 s ≈ 0.38–0.42 附近快速上升。</a:t>
            </a:r>
          </a:p>
          <a:p>
            <a:pPr>
              <a:defRPr sz="1200"/>
            </a:pPr>
            <a:r>
              <a:rPr lang="zh-CN" noProof="0" dirty="0"/>
              <a:t>这说明系统在经过基态临界区域时开始迅速建立长程量子关联与纠缠。</a:t>
            </a:r>
          </a:p>
        </p:txBody>
      </p:sp>
      <p:sp>
        <p:nvSpPr>
          <p:cNvPr id="6" name="TextBox 5"/>
          <p:cNvSpPr txBox="1"/>
          <p:nvPr/>
        </p:nvSpPr>
        <p:spPr>
          <a:xfrm>
            <a:off x="6367274" y="4801906"/>
            <a:ext cx="5440680" cy="1783080"/>
          </a:xfrm>
          <a:prstGeom prst="rect">
            <a:avLst/>
          </a:prstGeom>
          <a:noFill/>
        </p:spPr>
        <p:txBody>
          <a:bodyPr wrap="square">
            <a:spAutoFit/>
          </a:bodyPr>
          <a:lstStyle/>
          <a:p>
            <a:pPr>
              <a:defRPr sz="1600" b="1"/>
            </a:pPr>
            <a:r>
              <a:rPr lang="zh-CN" noProof="0" dirty="0"/>
              <a:t>（2）动态 Binder cumulant 的变化</a:t>
            </a:r>
          </a:p>
          <a:p>
            <a:pPr>
              <a:defRPr sz="1200"/>
            </a:pPr>
            <a:r>
              <a:rPr lang="zh-CN" noProof="0" dirty="0"/>
              <a:t>同样在 t_a = 7 ns 时，动态 Binder cumulant U(s) 在 s ≈ 0.38–0.45 区域迅速增大，随后进入平台。</a:t>
            </a:r>
          </a:p>
          <a:p>
            <a:pPr>
              <a:defRPr sz="1200"/>
            </a:pPr>
            <a:r>
              <a:rPr lang="zh-CN" noProof="0" dirty="0"/>
              <a:t>其显著变化区域与基态 Binder 给出的临界点 s_c ≈ 0.384 基本一致。</a:t>
            </a:r>
          </a:p>
        </p:txBody>
      </p:sp>
      <p:sp>
        <p:nvSpPr>
          <p:cNvPr id="7" name="TextBox 6"/>
          <p:cNvSpPr txBox="1"/>
          <p:nvPr/>
        </p:nvSpPr>
        <p:spPr>
          <a:xfrm>
            <a:off x="502920" y="5847588"/>
            <a:ext cx="10972800" cy="594360"/>
          </a:xfrm>
          <a:prstGeom prst="rect">
            <a:avLst/>
          </a:prstGeom>
          <a:noFill/>
        </p:spPr>
        <p:txBody>
          <a:bodyPr wrap="square">
            <a:spAutoFit/>
          </a:bodyPr>
          <a:lstStyle/>
          <a:p>
            <a:pPr>
              <a:defRPr sz="1200" b="0"/>
            </a:pPr>
            <a:r>
              <a:rPr lang="zh-CN" noProof="0" dirty="0"/>
              <a:t>联系：基态 Binder 有限尺寸标度先给出平衡量子临界点 s_c ≈ 0.384；随后在有限时间退火中，S_max(s) 与 U(s) 都在同一临界区域附近快速变化，说明系统穿越该量子临界区域时产生了明显的非平衡响应。</a:t>
            </a:r>
          </a:p>
        </p:txBody>
      </p:sp>
      <p:sp>
        <p:nvSpPr>
          <p:cNvPr id="8" name="TextBox 7"/>
          <p:cNvSpPr txBox="1"/>
          <p:nvPr/>
        </p:nvSpPr>
        <p:spPr>
          <a:xfrm>
            <a:off x="502920" y="6414639"/>
            <a:ext cx="7919156" cy="253916"/>
          </a:xfrm>
          <a:prstGeom prst="rect">
            <a:avLst/>
          </a:prstGeom>
          <a:noFill/>
        </p:spPr>
        <p:txBody>
          <a:bodyPr wrap="none">
            <a:spAutoFit/>
          </a:bodyPr>
          <a:lstStyle/>
          <a:p>
            <a:pPr>
              <a:defRPr sz="1050" i="1">
                <a:solidFill>
                  <a:srgbClr val="505050"/>
                </a:solidFill>
              </a:defRPr>
            </a:pPr>
            <a:r>
              <a:rPr lang="zh-CN" noProof="0" dirty="0"/>
              <a:t>说明：</a:t>
            </a:r>
            <a:r>
              <a:rPr lang="zh-CN" u="sng" noProof="0" dirty="0"/>
              <a:t>动力学特征的位置不必与</a:t>
            </a:r>
            <a:r>
              <a:rPr lang="zh-CN" noProof="0" dirty="0"/>
              <a:t> s_c 完全重合；有限退火时间下可能出现轻微滞后，这正是后续 Kibble–Zurek 动力学分析的出发点。</a:t>
            </a:r>
          </a:p>
        </p:txBody>
      </p:sp>
      <p:cxnSp>
        <p:nvCxnSpPr>
          <p:cNvPr id="9" name="直接连接符 8">
            <a:extLst>
              <a:ext uri="{FF2B5EF4-FFF2-40B4-BE49-F238E27FC236}">
                <a16:creationId xmlns:a16="http://schemas.microsoft.com/office/drawing/2014/main" id="{8EF41F4B-87B6-1ECE-0EBA-D7090D8EB36F}"/>
              </a:ext>
            </a:extLst>
          </p:cNvPr>
          <p:cNvCxnSpPr/>
          <p:nvPr/>
        </p:nvCxnSpPr>
        <p:spPr>
          <a:xfrm flipV="1">
            <a:off x="156000" y="651361"/>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灯片编号占位符 9">
            <a:extLst>
              <a:ext uri="{FF2B5EF4-FFF2-40B4-BE49-F238E27FC236}">
                <a16:creationId xmlns:a16="http://schemas.microsoft.com/office/drawing/2014/main" id="{A44D55DF-8F63-01F2-FAD9-AD3F9225633B}"/>
              </a:ext>
            </a:extLst>
          </p:cNvPr>
          <p:cNvSpPr>
            <a:spLocks noGrp="1"/>
          </p:cNvSpPr>
          <p:nvPr>
            <p:ph type="sldNum" sz="quarter" idx="12"/>
          </p:nvPr>
        </p:nvSpPr>
        <p:spPr/>
        <p:txBody>
          <a:bodyPr/>
          <a:lstStyle/>
          <a:p>
            <a:pPr>
              <a:defRPr/>
            </a:pPr>
            <a:fld id="{A4F1CF0E-A275-4991-BFC2-D3FA590A122F}" type="slidenum">
              <a:rPr lang="en-GB" altLang="zh-CN" smtClean="0">
                <a:solidFill>
                  <a:srgbClr val="808080"/>
                </a:solidFill>
              </a:rPr>
              <a:t>7</a:t>
            </a:fld>
            <a:endParaRPr lang="en-GB"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3669E-5359-522C-9343-2F226A37B0CF}"/>
            </a:ext>
          </a:extLst>
        </p:cNvPr>
        <p:cNvGrpSpPr/>
        <p:nvPr/>
      </p:nvGrpSpPr>
      <p:grpSpPr>
        <a:xfrm>
          <a:off x="0" y="0"/>
          <a:ext cx="0" cy="0"/>
          <a:chOff x="0" y="0"/>
          <a:chExt cx="0" cy="0"/>
        </a:xfrm>
      </p:grpSpPr>
      <p:sp>
        <p:nvSpPr>
          <p:cNvPr id="6146" name="Rectangle 2">
            <a:extLst>
              <a:ext uri="{FF2B5EF4-FFF2-40B4-BE49-F238E27FC236}">
                <a16:creationId xmlns:a16="http://schemas.microsoft.com/office/drawing/2014/main" id="{09AB03F8-A534-A88B-1188-54DB63E84D6E}"/>
              </a:ext>
            </a:extLst>
          </p:cNvPr>
          <p:cNvSpPr>
            <a:spLocks noGrp="1"/>
          </p:cNvSpPr>
          <p:nvPr>
            <p:ph type="title"/>
          </p:nvPr>
        </p:nvSpPr>
        <p:spPr>
          <a:xfrm>
            <a:off x="263525" y="142875"/>
            <a:ext cx="8572500" cy="796925"/>
          </a:xfrm>
        </p:spPr>
        <p:txBody>
          <a:bodyPr/>
          <a:lstStyle/>
          <a:p>
            <a:r>
              <a:rPr lang="zh-CN" altLang="en-US" sz="3200" dirty="0">
                <a:solidFill>
                  <a:srgbClr val="000000"/>
                </a:solidFill>
                <a:latin typeface="黑体" panose="02010609060101010101" pitchFamily="49" charset="-122"/>
                <a:ea typeface="黑体" panose="02010609060101010101" pitchFamily="49" charset="-122"/>
              </a:rPr>
              <a:t>当前工作进展</a:t>
            </a:r>
          </a:p>
        </p:txBody>
      </p:sp>
      <p:cxnSp>
        <p:nvCxnSpPr>
          <p:cNvPr id="3" name="直接连接符 2">
            <a:extLst>
              <a:ext uri="{FF2B5EF4-FFF2-40B4-BE49-F238E27FC236}">
                <a16:creationId xmlns:a16="http://schemas.microsoft.com/office/drawing/2014/main" id="{5FEEC60D-1A67-DFB7-74DF-724361E25DC5}"/>
              </a:ext>
            </a:extLst>
          </p:cNvPr>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8F16FCB2-EA0A-F46F-C987-2BAC06CB7A07}"/>
              </a:ext>
            </a:extLst>
          </p:cNvPr>
          <p:cNvSpPr txBox="1"/>
          <p:nvPr/>
        </p:nvSpPr>
        <p:spPr>
          <a:xfrm>
            <a:off x="407035" y="1557020"/>
            <a:ext cx="7920990" cy="2086610"/>
          </a:xfrm>
          <a:prstGeom prst="rect">
            <a:avLst/>
          </a:prstGeom>
        </p:spPr>
        <p:txBody>
          <a:bodyPr wrap="square">
            <a:noAutofit/>
          </a:bodyPr>
          <a:lstStyle/>
          <a:p>
            <a:r>
              <a:rPr lang="en-US" altLang="zh-CN" sz="2400" dirty="0"/>
              <a:t>System:4×4 cylindrical triangular lattice</a:t>
            </a:r>
          </a:p>
          <a:p>
            <a:endParaRPr lang="en-US" altLang="zh-CN" sz="2400" dirty="0"/>
          </a:p>
          <a:p>
            <a:endParaRPr lang="en-US" altLang="zh-CN" sz="2400" dirty="0"/>
          </a:p>
          <a:p>
            <a:r>
              <a:rPr lang="en-US" altLang="zh-CN" sz="2400" dirty="0"/>
              <a:t>Order parameter</a:t>
            </a:r>
          </a:p>
        </p:txBody>
      </p:sp>
      <p:sp>
        <p:nvSpPr>
          <p:cNvPr id="7" name="文本框 6">
            <a:extLst>
              <a:ext uri="{FF2B5EF4-FFF2-40B4-BE49-F238E27FC236}">
                <a16:creationId xmlns:a16="http://schemas.microsoft.com/office/drawing/2014/main" id="{2F521F7A-0A4B-5EE1-021D-E9D8CDCACE77}"/>
              </a:ext>
            </a:extLst>
          </p:cNvPr>
          <p:cNvSpPr txBox="1"/>
          <p:nvPr/>
        </p:nvSpPr>
        <p:spPr>
          <a:xfrm>
            <a:off x="407035" y="1052830"/>
            <a:ext cx="11487785" cy="460375"/>
          </a:xfrm>
          <a:prstGeom prst="rect">
            <a:avLst/>
          </a:prstGeom>
          <a:noFill/>
        </p:spPr>
        <p:txBody>
          <a:bodyPr wrap="square" rtlCol="0">
            <a:spAutoFit/>
          </a:bodyPr>
          <a:lstStyle/>
          <a:p>
            <a:r>
              <a:rPr lang="zh-CN" altLang="en-US" sz="2400" dirty="0"/>
              <a:t>横场</a:t>
            </a:r>
            <a:r>
              <a:rPr lang="en-US" altLang="zh-CN" sz="2400" dirty="0"/>
              <a:t>Ising</a:t>
            </a:r>
            <a:r>
              <a:rPr lang="zh-CN" altLang="en-US" sz="2400" dirty="0"/>
              <a:t>模型 </a:t>
            </a:r>
            <a:r>
              <a:rPr lang="en-US" altLang="zh-CN" sz="2400"/>
              <a:t>spin glass</a:t>
            </a:r>
            <a:endParaRPr lang="zh-CN" altLang="en-US" sz="2400" dirty="0"/>
          </a:p>
        </p:txBody>
      </p:sp>
      <p:pic>
        <p:nvPicPr>
          <p:cNvPr id="9" name="图片 8">
            <a:extLst>
              <a:ext uri="{FF2B5EF4-FFF2-40B4-BE49-F238E27FC236}">
                <a16:creationId xmlns:a16="http://schemas.microsoft.com/office/drawing/2014/main" id="{165BE8BB-AFC5-A83F-A9D2-7FB0FFE192A1}"/>
              </a:ext>
            </a:extLst>
          </p:cNvPr>
          <p:cNvPicPr>
            <a:picLocks noChangeAspect="1"/>
          </p:cNvPicPr>
          <p:nvPr/>
        </p:nvPicPr>
        <p:blipFill>
          <a:blip r:embed="rId3"/>
          <a:stretch>
            <a:fillRect/>
          </a:stretch>
        </p:blipFill>
        <p:spPr>
          <a:xfrm>
            <a:off x="8573200" y="1316116"/>
            <a:ext cx="3211765" cy="1815345"/>
          </a:xfrm>
          <a:prstGeom prst="rect">
            <a:avLst/>
          </a:prstGeom>
        </p:spPr>
      </p:pic>
      <p:pic>
        <p:nvPicPr>
          <p:cNvPr id="5" name="图片 4">
            <a:extLst>
              <a:ext uri="{FF2B5EF4-FFF2-40B4-BE49-F238E27FC236}">
                <a16:creationId xmlns:a16="http://schemas.microsoft.com/office/drawing/2014/main" id="{37365D4F-A820-DA94-EC2D-2F8F19DEE8C3}"/>
              </a:ext>
            </a:extLst>
          </p:cNvPr>
          <p:cNvPicPr>
            <a:picLocks noChangeAspect="1"/>
          </p:cNvPicPr>
          <p:nvPr/>
        </p:nvPicPr>
        <p:blipFill>
          <a:blip r:embed="rId4"/>
          <a:srcRect l="26380" t="39592"/>
          <a:stretch>
            <a:fillRect/>
          </a:stretch>
        </p:blipFill>
        <p:spPr>
          <a:xfrm>
            <a:off x="367799" y="1984632"/>
            <a:ext cx="5224145" cy="753745"/>
          </a:xfrm>
          <a:prstGeom prst="rect">
            <a:avLst/>
          </a:prstGeom>
        </p:spPr>
      </p:pic>
      <p:pic>
        <p:nvPicPr>
          <p:cNvPr id="8" name="图片 7">
            <a:extLst>
              <a:ext uri="{FF2B5EF4-FFF2-40B4-BE49-F238E27FC236}">
                <a16:creationId xmlns:a16="http://schemas.microsoft.com/office/drawing/2014/main" id="{8E9A742F-D60A-2218-0361-7BB913DD0F0E}"/>
              </a:ext>
            </a:extLst>
          </p:cNvPr>
          <p:cNvPicPr>
            <a:picLocks noChangeAspect="1"/>
          </p:cNvPicPr>
          <p:nvPr/>
        </p:nvPicPr>
        <p:blipFill>
          <a:blip r:embed="rId5"/>
          <a:stretch>
            <a:fillRect/>
          </a:stretch>
        </p:blipFill>
        <p:spPr>
          <a:xfrm>
            <a:off x="522755" y="3115189"/>
            <a:ext cx="4575052" cy="753744"/>
          </a:xfrm>
          <a:prstGeom prst="rect">
            <a:avLst/>
          </a:prstGeom>
        </p:spPr>
      </p:pic>
      <p:pic>
        <p:nvPicPr>
          <p:cNvPr id="12" name="图片 11">
            <a:extLst>
              <a:ext uri="{FF2B5EF4-FFF2-40B4-BE49-F238E27FC236}">
                <a16:creationId xmlns:a16="http://schemas.microsoft.com/office/drawing/2014/main" id="{13E73030-8E03-27DF-F830-9DB0A46D43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88143" y="3825943"/>
            <a:ext cx="8325568" cy="2915425"/>
          </a:xfrm>
          <a:prstGeom prst="rect">
            <a:avLst/>
          </a:prstGeom>
        </p:spPr>
      </p:pic>
      <p:pic>
        <p:nvPicPr>
          <p:cNvPr id="15" name="图片 14">
            <a:extLst>
              <a:ext uri="{FF2B5EF4-FFF2-40B4-BE49-F238E27FC236}">
                <a16:creationId xmlns:a16="http://schemas.microsoft.com/office/drawing/2014/main" id="{F7F9724B-2713-B90D-EEF3-F95B6B71E5A8}"/>
              </a:ext>
            </a:extLst>
          </p:cNvPr>
          <p:cNvPicPr>
            <a:picLocks noChangeAspect="1"/>
          </p:cNvPicPr>
          <p:nvPr/>
        </p:nvPicPr>
        <p:blipFill>
          <a:blip r:embed="rId7"/>
          <a:stretch>
            <a:fillRect/>
          </a:stretch>
        </p:blipFill>
        <p:spPr>
          <a:xfrm>
            <a:off x="6079257" y="1573705"/>
            <a:ext cx="2316429" cy="1824813"/>
          </a:xfrm>
          <a:prstGeom prst="rect">
            <a:avLst/>
          </a:prstGeom>
        </p:spPr>
      </p:pic>
      <p:sp>
        <p:nvSpPr>
          <p:cNvPr id="4" name="灯片编号占位符 3">
            <a:extLst>
              <a:ext uri="{FF2B5EF4-FFF2-40B4-BE49-F238E27FC236}">
                <a16:creationId xmlns:a16="http://schemas.microsoft.com/office/drawing/2014/main" id="{05E643B7-F9C6-2B79-6612-CE6B36D62DA8}"/>
              </a:ext>
            </a:extLst>
          </p:cNvPr>
          <p:cNvSpPr>
            <a:spLocks noGrp="1"/>
          </p:cNvSpPr>
          <p:nvPr>
            <p:ph type="sldNum" sz="quarter" idx="12"/>
          </p:nvPr>
        </p:nvSpPr>
        <p:spPr/>
        <p:txBody>
          <a:bodyPr/>
          <a:lstStyle/>
          <a:p>
            <a:pPr>
              <a:defRPr/>
            </a:pPr>
            <a:fld id="{160EA27A-133F-45AA-8F39-06F9FC63F11A}" type="slidenum">
              <a:rPr lang="zh-CN" altLang="en-US" smtClean="0"/>
              <a:t>8</a:t>
            </a:fld>
            <a:endParaRPr lang="en-US" altLang="zh-CN"/>
          </a:p>
        </p:txBody>
      </p:sp>
    </p:spTree>
    <p:extLst>
      <p:ext uri="{BB962C8B-B14F-4D97-AF65-F5344CB8AC3E}">
        <p14:creationId xmlns:p14="http://schemas.microsoft.com/office/powerpoint/2010/main" val="2393748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205476C1-6D2F-56BA-D536-2C5C3393AE3A}"/>
              </a:ext>
            </a:extLst>
          </p:cNvPr>
          <p:cNvPicPr>
            <a:picLocks noChangeAspect="1"/>
          </p:cNvPicPr>
          <p:nvPr/>
        </p:nvPicPr>
        <p:blipFill>
          <a:blip r:embed="rId3">
            <a:extLst>
              <a:ext uri="{28A0092B-C50C-407E-A947-70E740481C1C}">
                <a14:useLocalDpi xmlns:a14="http://schemas.microsoft.com/office/drawing/2010/main" val="0"/>
              </a:ext>
            </a:extLst>
          </a:blip>
          <a:srcRect r="47762"/>
          <a:stretch>
            <a:fillRect/>
          </a:stretch>
        </p:blipFill>
        <p:spPr>
          <a:xfrm>
            <a:off x="9552384" y="4293096"/>
            <a:ext cx="2534526" cy="1728000"/>
          </a:xfrm>
          <a:prstGeom prst="rect">
            <a:avLst/>
          </a:prstGeom>
        </p:spPr>
      </p:pic>
      <p:pic>
        <p:nvPicPr>
          <p:cNvPr id="27" name="图片 26">
            <a:extLst>
              <a:ext uri="{FF2B5EF4-FFF2-40B4-BE49-F238E27FC236}">
                <a16:creationId xmlns:a16="http://schemas.microsoft.com/office/drawing/2014/main" id="{4F166906-4190-EDAC-F6C8-DF78BB826F7C}"/>
              </a:ext>
            </a:extLst>
          </p:cNvPr>
          <p:cNvPicPr>
            <a:picLocks noChangeAspect="1"/>
          </p:cNvPicPr>
          <p:nvPr/>
        </p:nvPicPr>
        <p:blipFill>
          <a:blip r:embed="rId4">
            <a:extLst>
              <a:ext uri="{28A0092B-C50C-407E-A947-70E740481C1C}">
                <a14:useLocalDpi xmlns:a14="http://schemas.microsoft.com/office/drawing/2010/main" val="0"/>
              </a:ext>
            </a:extLst>
          </a:blip>
          <a:srcRect r="47931"/>
          <a:stretch>
            <a:fillRect/>
          </a:stretch>
        </p:blipFill>
        <p:spPr>
          <a:xfrm>
            <a:off x="7196372" y="4293096"/>
            <a:ext cx="2500028" cy="1728000"/>
          </a:xfrm>
          <a:prstGeom prst="rect">
            <a:avLst/>
          </a:prstGeom>
        </p:spPr>
      </p:pic>
      <p:pic>
        <p:nvPicPr>
          <p:cNvPr id="29" name="图片 28">
            <a:extLst>
              <a:ext uri="{FF2B5EF4-FFF2-40B4-BE49-F238E27FC236}">
                <a16:creationId xmlns:a16="http://schemas.microsoft.com/office/drawing/2014/main" id="{98FB35C1-BD57-073A-A1E2-EE561E31F7FF}"/>
              </a:ext>
            </a:extLst>
          </p:cNvPr>
          <p:cNvPicPr>
            <a:picLocks noChangeAspect="1"/>
          </p:cNvPicPr>
          <p:nvPr/>
        </p:nvPicPr>
        <p:blipFill>
          <a:blip r:embed="rId5">
            <a:extLst>
              <a:ext uri="{28A0092B-C50C-407E-A947-70E740481C1C}">
                <a14:useLocalDpi xmlns:a14="http://schemas.microsoft.com/office/drawing/2010/main" val="0"/>
              </a:ext>
            </a:extLst>
          </a:blip>
          <a:srcRect r="47285"/>
          <a:stretch>
            <a:fillRect/>
          </a:stretch>
        </p:blipFill>
        <p:spPr>
          <a:xfrm>
            <a:off x="4789092" y="4293096"/>
            <a:ext cx="2531044" cy="1728000"/>
          </a:xfrm>
          <a:prstGeom prst="rect">
            <a:avLst/>
          </a:prstGeom>
        </p:spPr>
      </p:pic>
      <p:pic>
        <p:nvPicPr>
          <p:cNvPr id="19" name="图片 18">
            <a:extLst>
              <a:ext uri="{FF2B5EF4-FFF2-40B4-BE49-F238E27FC236}">
                <a16:creationId xmlns:a16="http://schemas.microsoft.com/office/drawing/2014/main" id="{E2FEB6AA-34AD-D00C-74A7-5D0A49E2C87A}"/>
              </a:ext>
            </a:extLst>
          </p:cNvPr>
          <p:cNvPicPr>
            <a:picLocks noChangeAspect="1"/>
          </p:cNvPicPr>
          <p:nvPr/>
        </p:nvPicPr>
        <p:blipFill>
          <a:blip r:embed="rId6">
            <a:extLst>
              <a:ext uri="{28A0092B-C50C-407E-A947-70E740481C1C}">
                <a14:useLocalDpi xmlns:a14="http://schemas.microsoft.com/office/drawing/2010/main" val="0"/>
              </a:ext>
            </a:extLst>
          </a:blip>
          <a:srcRect l="-1" r="48302"/>
          <a:stretch>
            <a:fillRect/>
          </a:stretch>
        </p:blipFill>
        <p:spPr>
          <a:xfrm>
            <a:off x="2423592" y="4293096"/>
            <a:ext cx="2482215" cy="1728000"/>
          </a:xfrm>
          <a:prstGeom prst="rect">
            <a:avLst/>
          </a:prstGeom>
        </p:spPr>
      </p:pic>
      <p:sp>
        <p:nvSpPr>
          <p:cNvPr id="6146" name="Rectangle 2"/>
          <p:cNvSpPr>
            <a:spLocks noGrp="1"/>
          </p:cNvSpPr>
          <p:nvPr>
            <p:ph type="title"/>
          </p:nvPr>
        </p:nvSpPr>
        <p:spPr>
          <a:xfrm>
            <a:off x="263525" y="142875"/>
            <a:ext cx="8572500" cy="796925"/>
          </a:xfrm>
        </p:spPr>
        <p:txBody>
          <a:bodyPr/>
          <a:lstStyle/>
          <a:p>
            <a:r>
              <a:rPr lang="zh-CN" altLang="en-US" sz="3200" dirty="0">
                <a:solidFill>
                  <a:srgbClr val="000000"/>
                </a:solidFill>
                <a:latin typeface="黑体" panose="02010609060101010101" pitchFamily="49" charset="-122"/>
                <a:ea typeface="黑体" panose="02010609060101010101" pitchFamily="49" charset="-122"/>
              </a:rPr>
              <a:t>当前工作进展  </a:t>
            </a:r>
          </a:p>
        </p:txBody>
      </p:sp>
      <p:cxnSp>
        <p:nvCxnSpPr>
          <p:cNvPr id="3" name="直接连接符 2"/>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80571F66-A1DF-EAA8-4DE4-54A1ECBA23CE}"/>
              </a:ext>
            </a:extLst>
          </p:cNvPr>
          <p:cNvSpPr txBox="1"/>
          <p:nvPr/>
        </p:nvSpPr>
        <p:spPr>
          <a:xfrm>
            <a:off x="100508" y="6505599"/>
            <a:ext cx="10892035" cy="307777"/>
          </a:xfrm>
          <a:prstGeom prst="rect">
            <a:avLst/>
          </a:prstGeom>
          <a:noFill/>
        </p:spPr>
        <p:txBody>
          <a:bodyPr wrap="square">
            <a:spAutoFit/>
          </a:bodyPr>
          <a:lstStyle/>
          <a:p>
            <a:r>
              <a:rPr lang="it-IT" altLang="zh-CN" sz="1400" dirty="0"/>
              <a:t>L. Brodoloni et al., Phys. Rev. A 112, L051303 (2025).</a:t>
            </a:r>
            <a:endParaRPr lang="zh-CN" altLang="en-US" sz="1400"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9500928-261D-4D07-5D54-826B17C55A9D}"/>
                  </a:ext>
                </a:extLst>
              </p:cNvPr>
              <p:cNvSpPr txBox="1"/>
              <p:nvPr/>
            </p:nvSpPr>
            <p:spPr>
              <a:xfrm>
                <a:off x="263525" y="1010754"/>
                <a:ext cx="12025163" cy="911660"/>
              </a:xfrm>
              <a:prstGeom prst="rect">
                <a:avLst/>
              </a:prstGeom>
              <a:noFill/>
            </p:spPr>
            <p:txBody>
              <a:bodyPr wrap="square">
                <a:spAutoFit/>
              </a:bodyPr>
              <a:lstStyle/>
              <a:p>
                <a:pPr marL="144000" indent="-144000">
                  <a:spcBef>
                    <a:spcPts val="600"/>
                  </a:spcBef>
                  <a:buFont typeface="Arial" panose="020B0604020202020204" pitchFamily="34" charset="0"/>
                  <a:buChar char="•"/>
                </a:pPr>
                <a:r>
                  <a:rPr lang="en-US" altLang="zh-CN" sz="2000" dirty="0"/>
                  <a:t>Edwards-Anderson parameter </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𝑞</m:t>
                        </m:r>
                      </m:e>
                      <m:sub>
                        <m:r>
                          <a:rPr lang="en-US" altLang="zh-CN" sz="2000" b="0" i="1" smtClean="0">
                            <a:latin typeface="Cambria Math" panose="02040503050406030204" pitchFamily="18" charset="0"/>
                          </a:rPr>
                          <m:t>𝐸𝐴</m:t>
                        </m:r>
                      </m:sub>
                    </m:sSub>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sSup>
                          <m:sSupPr>
                            <m:ctrlPr>
                              <a:rPr lang="en-US" altLang="zh-CN" sz="2000" b="0" i="1" smtClean="0">
                                <a:latin typeface="Cambria Math" panose="02040503050406030204" pitchFamily="18" charset="0"/>
                              </a:rPr>
                            </m:ctrlPr>
                          </m:sSup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𝑞</m:t>
                                </m:r>
                              </m:e>
                            </m:d>
                          </m:e>
                          <m:sup>
                            <m:r>
                              <a:rPr lang="en-US" altLang="zh-CN" sz="2000" b="0" i="1" smtClean="0">
                                <a:latin typeface="Cambria Math" panose="02040503050406030204" pitchFamily="18" charset="0"/>
                              </a:rPr>
                              <m:t>2</m:t>
                            </m:r>
                          </m:sup>
                        </m:sSup>
                      </m:e>
                    </m:d>
                    <m:r>
                      <a:rPr lang="en-US" altLang="zh-CN" sz="2000" b="0" i="1" smtClean="0">
                        <a:latin typeface="Cambria Math" panose="02040503050406030204" pitchFamily="18" charset="0"/>
                      </a:rPr>
                      <m:t>,</m:t>
                    </m:r>
                    <m:r>
                      <a:rPr lang="en-US" altLang="zh-CN" sz="2000" i="1" dirty="0">
                        <a:latin typeface="Cambria Math" panose="02040503050406030204" pitchFamily="18" charset="0"/>
                      </a:rPr>
                      <m:t>𝑞</m:t>
                    </m:r>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r>
                          <a:rPr lang="en-US" altLang="zh-CN" sz="2000" i="1" dirty="0">
                            <a:latin typeface="Cambria Math" panose="02040503050406030204" pitchFamily="18" charset="0"/>
                          </a:rPr>
                          <m:t>1</m:t>
                        </m:r>
                      </m:num>
                      <m:den>
                        <m:r>
                          <a:rPr lang="en-US" altLang="zh-CN" sz="2000" i="1" dirty="0">
                            <a:latin typeface="Cambria Math" panose="02040503050406030204" pitchFamily="18" charset="0"/>
                          </a:rPr>
                          <m:t>𝑁</m:t>
                        </m:r>
                      </m:den>
                    </m:f>
                    <m:nary>
                      <m:naryPr>
                        <m:chr m:val="∑"/>
                        <m:ctrlPr>
                          <a:rPr lang="en-US" altLang="zh-CN" sz="2000" i="1" dirty="0">
                            <a:latin typeface="Cambria Math" panose="02040503050406030204" pitchFamily="18" charset="0"/>
                          </a:rPr>
                        </m:ctrlPr>
                      </m:naryPr>
                      <m:sub>
                        <m:r>
                          <a:rPr lang="en-US" altLang="zh-CN" sz="2000" i="1" dirty="0">
                            <a:latin typeface="Cambria Math" panose="02040503050406030204" pitchFamily="18" charset="0"/>
                          </a:rPr>
                          <m:t>𝑖</m:t>
                        </m:r>
                        <m:r>
                          <a:rPr lang="en-US" altLang="zh-CN" sz="2000" i="1" dirty="0">
                            <a:latin typeface="Cambria Math" panose="02040503050406030204" pitchFamily="18" charset="0"/>
                          </a:rPr>
                          <m:t>=1</m:t>
                        </m:r>
                      </m:sub>
                      <m:sup>
                        <m:r>
                          <a:rPr lang="en-US" altLang="zh-CN" sz="2000" i="1" dirty="0">
                            <a:latin typeface="Cambria Math" panose="02040503050406030204" pitchFamily="18" charset="0"/>
                          </a:rPr>
                          <m:t>𝑁</m:t>
                        </m:r>
                      </m:sup>
                      <m:e>
                        <m:sSubSup>
                          <m:sSubSupPr>
                            <m:ctrlPr>
                              <a:rPr lang="en-US" altLang="zh-CN" sz="2000" i="1" dirty="0">
                                <a:latin typeface="Cambria Math" panose="02040503050406030204" pitchFamily="18" charset="0"/>
                              </a:rPr>
                            </m:ctrlPr>
                          </m:sSubSupPr>
                          <m:e>
                            <m:r>
                              <a:rPr lang="en-US" altLang="zh-CN" sz="2000" i="1" dirty="0">
                                <a:latin typeface="Cambria Math" panose="02040503050406030204" pitchFamily="18" charset="0"/>
                              </a:rPr>
                              <m:t>𝜎</m:t>
                            </m:r>
                          </m:e>
                          <m:sub>
                            <m:r>
                              <a:rPr lang="en-US" altLang="zh-CN" sz="2000" i="1" dirty="0">
                                <a:latin typeface="Cambria Math" panose="02040503050406030204" pitchFamily="18" charset="0"/>
                              </a:rPr>
                              <m:t>𝑖</m:t>
                            </m:r>
                            <m:r>
                              <a:rPr lang="en-US" altLang="zh-CN" sz="2000" i="1" dirty="0">
                                <a:latin typeface="Cambria Math" panose="02040503050406030204" pitchFamily="18" charset="0"/>
                              </a:rPr>
                              <m:t>,</m:t>
                            </m:r>
                            <m:r>
                              <a:rPr lang="en-US" altLang="zh-CN" sz="2000" i="1" dirty="0">
                                <a:latin typeface="Cambria Math" panose="02040503050406030204" pitchFamily="18" charset="0"/>
                              </a:rPr>
                              <m:t>𝑎</m:t>
                            </m:r>
                          </m:sub>
                          <m:sup>
                            <m:r>
                              <a:rPr lang="en-US" altLang="zh-CN" sz="2000" i="1" dirty="0">
                                <a:latin typeface="Cambria Math" panose="02040503050406030204" pitchFamily="18" charset="0"/>
                              </a:rPr>
                              <m:t>𝑧</m:t>
                            </m:r>
                          </m:sup>
                        </m:sSubSup>
                        <m:sSubSup>
                          <m:sSubSupPr>
                            <m:ctrlPr>
                              <a:rPr lang="en-US" altLang="zh-CN" sz="2000" i="1" dirty="0">
                                <a:latin typeface="Cambria Math" panose="02040503050406030204" pitchFamily="18" charset="0"/>
                              </a:rPr>
                            </m:ctrlPr>
                          </m:sSubSupPr>
                          <m:e>
                            <m:r>
                              <a:rPr lang="en-US" altLang="zh-CN" sz="2000" i="1" dirty="0">
                                <a:latin typeface="Cambria Math" panose="02040503050406030204" pitchFamily="18" charset="0"/>
                              </a:rPr>
                              <m:t>𝜎</m:t>
                            </m:r>
                          </m:e>
                          <m:sub>
                            <m:r>
                              <a:rPr lang="en-US" altLang="zh-CN" sz="2000" i="1" dirty="0">
                                <a:latin typeface="Cambria Math" panose="02040503050406030204" pitchFamily="18" charset="0"/>
                              </a:rPr>
                              <m:t>𝑖</m:t>
                            </m:r>
                            <m:r>
                              <a:rPr lang="en-US" altLang="zh-CN" sz="2000" i="1" dirty="0">
                                <a:latin typeface="Cambria Math" panose="02040503050406030204" pitchFamily="18" charset="0"/>
                              </a:rPr>
                              <m:t>,</m:t>
                            </m:r>
                            <m:r>
                              <a:rPr lang="en-US" altLang="zh-CN" sz="2000" i="1" dirty="0">
                                <a:latin typeface="Cambria Math" panose="02040503050406030204" pitchFamily="18" charset="0"/>
                              </a:rPr>
                              <m:t>𝑏</m:t>
                            </m:r>
                          </m:sub>
                          <m:sup>
                            <m:r>
                              <a:rPr lang="en-US" altLang="zh-CN" sz="2000" i="1" dirty="0">
                                <a:latin typeface="Cambria Math" panose="02040503050406030204" pitchFamily="18" charset="0"/>
                              </a:rPr>
                              <m:t>𝑧</m:t>
                            </m:r>
                          </m:sup>
                        </m:sSubSup>
                      </m:e>
                    </m:nary>
                  </m:oMath>
                </a14:m>
                <a:endParaRPr lang="en-US" altLang="zh-CN" sz="2000" dirty="0"/>
              </a:p>
              <a:p>
                <a:pPr marL="144000" indent="-144000">
                  <a:spcBef>
                    <a:spcPts val="600"/>
                  </a:spcBef>
                  <a:buFont typeface="Arial" panose="020B0604020202020204" pitchFamily="34" charset="0"/>
                  <a:buChar char="•"/>
                </a:pPr>
                <a:r>
                  <a:rPr lang="en-US" altLang="zh-CN" sz="2000" dirty="0"/>
                  <a:t>4</a:t>
                </a:r>
                <a:r>
                  <a:rPr lang="zh-CN" altLang="zh-CN" sz="2000" dirty="0"/>
                  <a:t>×</a:t>
                </a:r>
                <a:r>
                  <a:rPr lang="en-US" altLang="zh-CN" sz="2000" dirty="0"/>
                  <a:t>4</a:t>
                </a:r>
                <a:r>
                  <a:rPr lang="zh-CN" altLang="zh-CN" sz="2000" dirty="0"/>
                  <a:t> </a:t>
                </a:r>
                <a:r>
                  <a:rPr lang="zh-CN" altLang="en-US" sz="2000" dirty="0"/>
                  <a:t>三角晶格（相同和随机高斯分布）的</a:t>
                </a:r>
                <a:r>
                  <a:rPr lang="en-US" altLang="zh-CN" sz="2000" dirty="0"/>
                  <a:t>overlap distribution</a:t>
                </a:r>
                <a:r>
                  <a:rPr lang="zh-CN" altLang="en-US" sz="2000" dirty="0"/>
                  <a:t>。</a:t>
                </a:r>
                <a:endParaRPr lang="en-US" altLang="zh-CN" sz="2000" dirty="0"/>
              </a:p>
            </p:txBody>
          </p:sp>
        </mc:Choice>
        <mc:Fallback xmlns="">
          <p:sp>
            <p:nvSpPr>
              <p:cNvPr id="11" name="文本框 10">
                <a:extLst>
                  <a:ext uri="{FF2B5EF4-FFF2-40B4-BE49-F238E27FC236}">
                    <a16:creationId xmlns:a16="http://schemas.microsoft.com/office/drawing/2014/main" id="{F9500928-261D-4D07-5D54-826B17C55A9D}"/>
                  </a:ext>
                </a:extLst>
              </p:cNvPr>
              <p:cNvSpPr txBox="1">
                <a:spLocks noRot="1" noChangeAspect="1" noMove="1" noResize="1" noEditPoints="1" noAdjustHandles="1" noChangeArrowheads="1" noChangeShapeType="1" noTextEdit="1"/>
              </p:cNvSpPr>
              <p:nvPr/>
            </p:nvSpPr>
            <p:spPr>
              <a:xfrm>
                <a:off x="263525" y="1010754"/>
                <a:ext cx="12025163" cy="911660"/>
              </a:xfrm>
              <a:prstGeom prst="rect">
                <a:avLst/>
              </a:prstGeom>
              <a:blipFill>
                <a:blip r:embed="rId7"/>
                <a:stretch>
                  <a:fillRect l="-456" t="-46980" b="-32215"/>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B75E5C2F-E372-9950-E63F-C18AE639D36C}"/>
              </a:ext>
            </a:extLst>
          </p:cNvPr>
          <p:cNvPicPr>
            <a:picLocks noChangeAspect="1"/>
          </p:cNvPicPr>
          <p:nvPr/>
        </p:nvPicPr>
        <p:blipFill>
          <a:blip r:embed="rId8">
            <a:extLst>
              <a:ext uri="{28A0092B-C50C-407E-A947-70E740481C1C}">
                <a14:useLocalDpi xmlns:a14="http://schemas.microsoft.com/office/drawing/2010/main" val="0"/>
              </a:ext>
            </a:extLst>
          </a:blip>
          <a:srcRect r="52091"/>
          <a:stretch>
            <a:fillRect/>
          </a:stretch>
        </p:blipFill>
        <p:spPr>
          <a:xfrm>
            <a:off x="191344" y="1989040"/>
            <a:ext cx="2370985" cy="1800000"/>
          </a:xfrm>
          <a:prstGeom prst="rect">
            <a:avLst/>
          </a:prstGeom>
        </p:spPr>
      </p:pic>
      <p:pic>
        <p:nvPicPr>
          <p:cNvPr id="15" name="图片 14">
            <a:extLst>
              <a:ext uri="{FF2B5EF4-FFF2-40B4-BE49-F238E27FC236}">
                <a16:creationId xmlns:a16="http://schemas.microsoft.com/office/drawing/2014/main" id="{14A25684-C90B-9F07-C47E-780D8C5C755A}"/>
              </a:ext>
            </a:extLst>
          </p:cNvPr>
          <p:cNvPicPr>
            <a:picLocks noChangeAspect="1"/>
          </p:cNvPicPr>
          <p:nvPr/>
        </p:nvPicPr>
        <p:blipFill>
          <a:blip r:embed="rId9">
            <a:extLst>
              <a:ext uri="{28A0092B-C50C-407E-A947-70E740481C1C}">
                <a14:useLocalDpi xmlns:a14="http://schemas.microsoft.com/office/drawing/2010/main" val="0"/>
              </a:ext>
            </a:extLst>
          </a:blip>
          <a:srcRect r="51379"/>
          <a:stretch>
            <a:fillRect/>
          </a:stretch>
        </p:blipFill>
        <p:spPr>
          <a:xfrm>
            <a:off x="9424887" y="1993367"/>
            <a:ext cx="2431753" cy="1800000"/>
          </a:xfrm>
          <a:prstGeom prst="rect">
            <a:avLst/>
          </a:prstGeom>
        </p:spPr>
      </p:pic>
      <p:pic>
        <p:nvPicPr>
          <p:cNvPr id="17" name="图片 16">
            <a:extLst>
              <a:ext uri="{FF2B5EF4-FFF2-40B4-BE49-F238E27FC236}">
                <a16:creationId xmlns:a16="http://schemas.microsoft.com/office/drawing/2014/main" id="{7D3B8814-328E-25A6-F2EB-3B774B1543A6}"/>
              </a:ext>
            </a:extLst>
          </p:cNvPr>
          <p:cNvPicPr>
            <a:picLocks noChangeAspect="1"/>
          </p:cNvPicPr>
          <p:nvPr/>
        </p:nvPicPr>
        <p:blipFill>
          <a:blip r:embed="rId10">
            <a:extLst>
              <a:ext uri="{28A0092B-C50C-407E-A947-70E740481C1C}">
                <a14:useLocalDpi xmlns:a14="http://schemas.microsoft.com/office/drawing/2010/main" val="0"/>
              </a:ext>
            </a:extLst>
          </a:blip>
          <a:srcRect r="51379"/>
          <a:stretch>
            <a:fillRect/>
          </a:stretch>
        </p:blipFill>
        <p:spPr>
          <a:xfrm>
            <a:off x="2639616" y="1993367"/>
            <a:ext cx="2431753" cy="1800000"/>
          </a:xfrm>
          <a:prstGeom prst="rect">
            <a:avLst/>
          </a:prstGeom>
        </p:spPr>
      </p:pic>
      <p:pic>
        <p:nvPicPr>
          <p:cNvPr id="25" name="图片 24">
            <a:extLst>
              <a:ext uri="{FF2B5EF4-FFF2-40B4-BE49-F238E27FC236}">
                <a16:creationId xmlns:a16="http://schemas.microsoft.com/office/drawing/2014/main" id="{7E243DDC-3C4C-FD67-4FAC-4F2816EBF6CC}"/>
              </a:ext>
            </a:extLst>
          </p:cNvPr>
          <p:cNvPicPr>
            <a:picLocks noChangeAspect="1"/>
          </p:cNvPicPr>
          <p:nvPr/>
        </p:nvPicPr>
        <p:blipFill>
          <a:blip r:embed="rId11">
            <a:extLst>
              <a:ext uri="{28A0092B-C50C-407E-A947-70E740481C1C}">
                <a14:useLocalDpi xmlns:a14="http://schemas.microsoft.com/office/drawing/2010/main" val="0"/>
              </a:ext>
            </a:extLst>
          </a:blip>
          <a:srcRect r="48916"/>
          <a:stretch>
            <a:fillRect/>
          </a:stretch>
        </p:blipFill>
        <p:spPr>
          <a:xfrm>
            <a:off x="119336" y="4293096"/>
            <a:ext cx="2426987" cy="1728000"/>
          </a:xfrm>
          <a:prstGeom prst="rect">
            <a:avLst/>
          </a:prstGeom>
        </p:spPr>
      </p:pic>
      <p:sp>
        <p:nvSpPr>
          <p:cNvPr id="2" name="灯片编号占位符 1">
            <a:extLst>
              <a:ext uri="{FF2B5EF4-FFF2-40B4-BE49-F238E27FC236}">
                <a16:creationId xmlns:a16="http://schemas.microsoft.com/office/drawing/2014/main" id="{D84A6308-CF8D-7574-A833-D6FF882128E6}"/>
              </a:ext>
            </a:extLst>
          </p:cNvPr>
          <p:cNvSpPr>
            <a:spLocks noGrp="1"/>
          </p:cNvSpPr>
          <p:nvPr>
            <p:ph type="sldNum" sz="quarter" idx="12"/>
          </p:nvPr>
        </p:nvSpPr>
        <p:spPr/>
        <p:txBody>
          <a:bodyPr/>
          <a:lstStyle/>
          <a:p>
            <a:pPr>
              <a:defRPr/>
            </a:pPr>
            <a:fld id="{160EA27A-133F-45AA-8F39-06F9FC63F11A}" type="slidenum">
              <a:rPr lang="zh-CN" altLang="en-US" smtClean="0"/>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6990" y="188595"/>
            <a:ext cx="10678160" cy="583565"/>
          </a:xfrm>
          <a:prstGeom prst="rect">
            <a:avLst/>
          </a:prstGeom>
          <a:noFill/>
        </p:spPr>
        <p:txBody>
          <a:bodyPr wrap="square" rtlCol="0" anchor="t">
            <a:spAutoFit/>
          </a:bodyPr>
          <a:lstStyle/>
          <a:p>
            <a:r>
              <a:rPr lang="zh-CN" altLang="en-US" sz="3200" dirty="0">
                <a:solidFill>
                  <a:srgbClr val="000000"/>
                </a:solidFill>
                <a:latin typeface="黑体" panose="02010609060101010101" pitchFamily="49" charset="-122"/>
                <a:ea typeface="黑体" panose="02010609060101010101" pitchFamily="49" charset="-122"/>
                <a:sym typeface="+mn-ea"/>
              </a:rPr>
              <a:t>无定形</a:t>
            </a:r>
            <a:r>
              <a:rPr lang="en-US" altLang="zh-CN" sz="3200" dirty="0">
                <a:solidFill>
                  <a:srgbClr val="000000"/>
                </a:solidFill>
                <a:latin typeface="黑体" panose="02010609060101010101" pitchFamily="49" charset="-122"/>
                <a:ea typeface="黑体" panose="02010609060101010101" pitchFamily="49" charset="-122"/>
                <a:sym typeface="+mn-ea"/>
              </a:rPr>
              <a:t>Kagome</a:t>
            </a:r>
            <a:r>
              <a:rPr lang="zh-CN" altLang="en-US" sz="3200" dirty="0">
                <a:solidFill>
                  <a:srgbClr val="000000"/>
                </a:solidFill>
                <a:latin typeface="黑体" panose="02010609060101010101" pitchFamily="49" charset="-122"/>
                <a:ea typeface="黑体" panose="02010609060101010101" pitchFamily="49" charset="-122"/>
                <a:sym typeface="+mn-ea"/>
              </a:rPr>
              <a:t>横场伊辛模型中的自旋玻璃量子相变</a:t>
            </a:r>
          </a:p>
        </p:txBody>
      </p:sp>
      <p:sp>
        <p:nvSpPr>
          <p:cNvPr id="5" name="文本框 4"/>
          <p:cNvSpPr txBox="1"/>
          <p:nvPr/>
        </p:nvSpPr>
        <p:spPr>
          <a:xfrm>
            <a:off x="262890" y="1107440"/>
            <a:ext cx="9918065" cy="368300"/>
          </a:xfrm>
          <a:prstGeom prst="rect">
            <a:avLst/>
          </a:prstGeom>
          <a:noFill/>
        </p:spPr>
        <p:txBody>
          <a:bodyPr wrap="square" rtlCol="0">
            <a:spAutoFit/>
          </a:bodyPr>
          <a:lstStyle/>
          <a:p>
            <a:r>
              <a:rPr lang="zh-CN" altLang="en-US"/>
              <a:t>通过几何阻挫与位置无序模拟自旋玻璃，无符号问题，可以进行量子蒙特卡洛模拟。</a:t>
            </a:r>
          </a:p>
        </p:txBody>
      </p:sp>
      <p:sp>
        <p:nvSpPr>
          <p:cNvPr id="6" name="文本框 5"/>
          <p:cNvSpPr txBox="1"/>
          <p:nvPr/>
        </p:nvSpPr>
        <p:spPr>
          <a:xfrm>
            <a:off x="262890" y="1557020"/>
            <a:ext cx="11033125" cy="645160"/>
          </a:xfrm>
          <a:prstGeom prst="rect">
            <a:avLst/>
          </a:prstGeom>
          <a:noFill/>
        </p:spPr>
        <p:txBody>
          <a:bodyPr wrap="square" rtlCol="0">
            <a:spAutoFit/>
          </a:bodyPr>
          <a:lstStyle/>
          <a:p>
            <a:r>
              <a:rPr lang="zh-CN" altLang="en-US"/>
              <a:t>纯几何阻挫在横场作用下保持顺磁态，不形成自旋玻璃相。位置无序使得原子位置随机偏移，耦合强度随机变化，引入淬火无序。</a:t>
            </a:r>
          </a:p>
        </p:txBody>
      </p:sp>
      <p:pic>
        <p:nvPicPr>
          <p:cNvPr id="7" name="图片 6"/>
          <p:cNvPicPr>
            <a:picLocks noChangeAspect="1"/>
          </p:cNvPicPr>
          <p:nvPr/>
        </p:nvPicPr>
        <p:blipFill>
          <a:blip r:embed="rId3"/>
          <a:stretch>
            <a:fillRect/>
          </a:stretch>
        </p:blipFill>
        <p:spPr>
          <a:xfrm>
            <a:off x="4295775" y="2493010"/>
            <a:ext cx="2501900" cy="628650"/>
          </a:xfrm>
          <a:prstGeom prst="rect">
            <a:avLst/>
          </a:prstGeom>
        </p:spPr>
      </p:pic>
      <mc:AlternateContent xmlns:mc="http://schemas.openxmlformats.org/markup-compatibility/2006" xmlns:a14="http://schemas.microsoft.com/office/drawing/2010/main">
        <mc:Choice Requires="a14">
          <p:sp>
            <p:nvSpPr>
              <p:cNvPr id="8" name="文本框 7"/>
              <p:cNvSpPr txBox="1"/>
              <p:nvPr/>
            </p:nvSpPr>
            <p:spPr>
              <a:xfrm>
                <a:off x="481965" y="3552190"/>
                <a:ext cx="8422005" cy="433070"/>
              </a:xfrm>
              <a:prstGeom prst="rect">
                <a:avLst/>
              </a:prstGeom>
              <a:noFill/>
            </p:spPr>
            <p:txBody>
              <a:bodyPr wrap="square" rtlCol="0">
                <a:spAutoFit/>
              </a:bodyPr>
              <a:lstStyle/>
              <a:p>
                <a:r>
                  <a:rPr lang="zh-CN" altLang="en-US"/>
                  <a:t>其中</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𝐽</m:t>
                        </m:r>
                      </m:e>
                      <m:sub>
                        <m:r>
                          <a:rPr lang="en-US" altLang="zh-CN" i="1">
                            <a:latin typeface="Cambria Math" panose="02040503050406030204" charset="0"/>
                            <a:cs typeface="Cambria Math" panose="02040503050406030204" charset="0"/>
                          </a:rPr>
                          <m:t>𝑖𝑗</m:t>
                        </m:r>
                      </m:sub>
                    </m:sSub>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(0.5/</m:t>
                        </m:r>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𝑟</m:t>
                            </m:r>
                          </m:e>
                          <m:sub>
                            <m:r>
                              <a:rPr lang="en-US" altLang="zh-CN" i="1">
                                <a:latin typeface="Cambria Math" panose="02040503050406030204" charset="0"/>
                                <a:cs typeface="Cambria Math" panose="02040503050406030204" charset="0"/>
                              </a:rPr>
                              <m:t>𝑖𝑗</m:t>
                            </m:r>
                          </m:sub>
                        </m:sSub>
                        <m:r>
                          <a:rPr lang="en-US" altLang="zh-CN" i="1">
                            <a:latin typeface="Cambria Math" panose="02040503050406030204" charset="0"/>
                            <a:cs typeface="Cambria Math" panose="02040503050406030204" charset="0"/>
                          </a:rPr>
                          <m:t>)</m:t>
                        </m:r>
                      </m:e>
                      <m:sup>
                        <m:r>
                          <a:rPr lang="en-US" altLang="zh-CN" i="1">
                            <a:latin typeface="Cambria Math" panose="02040503050406030204" charset="0"/>
                            <a:cs typeface="Cambria Math" panose="02040503050406030204" charset="0"/>
                          </a:rPr>
                          <m:t>6</m:t>
                        </m:r>
                      </m:sup>
                    </m:sSup>
                  </m:oMath>
                </a14:m>
                <a:r>
                  <a:rPr lang="zh-CN" altLang="en-US">
                    <a:latin typeface="Cambria Math" panose="02040503050406030204" charset="0"/>
                    <a:cs typeface="Cambria Math" panose="02040503050406030204" charset="0"/>
                  </a:rPr>
                  <a:t>为反铁磁耦合。</a:t>
                </a:r>
              </a:p>
            </p:txBody>
          </p:sp>
        </mc:Choice>
        <mc:Fallback xmlns="">
          <p:sp>
            <p:nvSpPr>
              <p:cNvPr id="8" name="文本框 7"/>
              <p:cNvSpPr txBox="1">
                <a:spLocks noRot="1" noChangeAspect="1" noMove="1" noResize="1" noEditPoints="1" noAdjustHandles="1" noChangeArrowheads="1" noChangeShapeType="1" noTextEdit="1"/>
              </p:cNvSpPr>
              <p:nvPr/>
            </p:nvSpPr>
            <p:spPr>
              <a:xfrm>
                <a:off x="481965" y="3552190"/>
                <a:ext cx="8422005" cy="43307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25145" y="4077335"/>
                <a:ext cx="10678160" cy="375920"/>
              </a:xfrm>
              <a:prstGeom prst="rect">
                <a:avLst/>
              </a:prstGeom>
              <a:noFill/>
            </p:spPr>
            <p:txBody>
              <a:bodyPr wrap="square" rtlCol="0">
                <a:spAutoFit/>
              </a:bodyPr>
              <a:lstStyle/>
              <a:p>
                <a:r>
                  <a:rPr lang="zh-CN" altLang="en-US"/>
                  <a:t>计算</a:t>
                </a:r>
                <a:r>
                  <a:rPr lang="en-US" altLang="zh-CN"/>
                  <a:t>Edwards-Anderson (EA) </a:t>
                </a:r>
                <a:r>
                  <a:rPr lang="zh-CN" altLang="en-US"/>
                  <a:t>序参量</a:t>
                </a:r>
                <a14:m>
                  <m:oMath xmlns:m="http://schemas.openxmlformats.org/officeDocument/2006/math">
                    <m:d>
                      <m:dPr>
                        <m:begChr m:val="〈"/>
                        <m:endChr m:val="〉"/>
                        <m:ctrlPr>
                          <a:rPr lang="en-US" altLang="zh-CN" i="1">
                            <a:latin typeface="Cambria Math" panose="02040503050406030204" pitchFamily="18" charset="0"/>
                            <a:cs typeface="Cambria Math" panose="02040503050406030204" charset="0"/>
                          </a:rPr>
                        </m:ctrlPr>
                      </m:dPr>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𝑞</m:t>
                            </m:r>
                          </m:e>
                          <m:sup>
                            <m:r>
                              <a:rPr lang="en-US" altLang="zh-CN" i="1">
                                <a:latin typeface="Cambria Math" panose="02040503050406030204" charset="0"/>
                                <a:cs typeface="Cambria Math" panose="02040503050406030204" charset="0"/>
                              </a:rPr>
                              <m:t>2</m:t>
                            </m:r>
                          </m:sup>
                        </m:sSup>
                      </m:e>
                    </m:d>
                  </m:oMath>
                </a14:m>
                <a:r>
                  <a:rPr lang="zh-CN" altLang="en-US">
                    <a:latin typeface="Cambria Math" panose="02040503050406030204" charset="0"/>
                    <a:cs typeface="Cambria Math" panose="02040503050406030204" charset="0"/>
                  </a:rPr>
                  <a:t>，观察相变情况，验证</a:t>
                </a:r>
                <a:r>
                  <a:rPr lang="en-US" altLang="zh-CN">
                    <a:latin typeface="Cambria Math" panose="02040503050406030204" charset="0"/>
                    <a:cs typeface="Cambria Math" panose="02040503050406030204" charset="0"/>
                  </a:rPr>
                  <a:t>VMC+RBM</a:t>
                </a:r>
                <a:r>
                  <a:rPr lang="zh-CN" altLang="en-US">
                    <a:latin typeface="Cambria Math" panose="02040503050406030204" charset="0"/>
                    <a:cs typeface="Cambria Math" panose="02040503050406030204" charset="0"/>
                  </a:rPr>
                  <a:t>能否实现自旋玻璃的相关计算。</a:t>
                </a:r>
              </a:p>
            </p:txBody>
          </p:sp>
        </mc:Choice>
        <mc:Fallback xmlns="">
          <p:sp>
            <p:nvSpPr>
              <p:cNvPr id="9" name="文本框 8"/>
              <p:cNvSpPr txBox="1">
                <a:spLocks noRot="1" noChangeAspect="1" noMove="1" noResize="1" noEditPoints="1" noAdjustHandles="1" noChangeArrowheads="1" noChangeShapeType="1" noTextEdit="1"/>
              </p:cNvSpPr>
              <p:nvPr/>
            </p:nvSpPr>
            <p:spPr>
              <a:xfrm>
                <a:off x="525145" y="4077335"/>
                <a:ext cx="10678160" cy="375920"/>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335280" y="5157470"/>
                <a:ext cx="10655935" cy="375920"/>
              </a:xfrm>
              <a:prstGeom prst="rect">
                <a:avLst/>
              </a:prstGeom>
              <a:noFill/>
            </p:spPr>
            <p:txBody>
              <a:bodyPr wrap="square" rtlCol="0">
                <a:spAutoFit/>
              </a:bodyPr>
              <a:lstStyle/>
              <a:p>
                <a:r>
                  <a:rPr lang="en-US" altLang="zh-CN"/>
                  <a:t>    </a:t>
                </a:r>
                <a:r>
                  <a:rPr lang="zh-CN" altLang="en-US"/>
                  <a:t>为双副本观测量。</a:t>
                </a:r>
                <a:r>
                  <a:rPr lang="en-US" altLang="zh-CN"/>
                  <a:t>A</a:t>
                </a:r>
                <a:r>
                  <a:rPr lang="zh-CN" altLang="en-US"/>
                  <a:t>，</a:t>
                </a:r>
                <a:r>
                  <a:rPr lang="en-US" altLang="zh-CN"/>
                  <a:t>B</a:t>
                </a:r>
                <a:r>
                  <a:rPr lang="zh-CN" altLang="en-US"/>
                  <a:t>为同一无序样本下的两个独立采样副本</a:t>
                </a:r>
                <a:r>
                  <a:rPr lang="zh-CN"/>
                  <a:t>。顺磁项中</a:t>
                </a:r>
                <a14:m>
                  <m:oMath xmlns:m="http://schemas.openxmlformats.org/officeDocument/2006/math">
                    <m:d>
                      <m:dPr>
                        <m:begChr m:val="〈"/>
                        <m:endChr m:val="〉"/>
                        <m:ctrlPr>
                          <a:rPr lang="en-US" altLang="zh-CN" i="1">
                            <a:latin typeface="Cambria Math" panose="02040503050406030204" pitchFamily="18" charset="0"/>
                            <a:cs typeface="Cambria Math" panose="02040503050406030204" charset="0"/>
                          </a:rPr>
                        </m:ctrlPr>
                      </m:dPr>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𝑞</m:t>
                            </m:r>
                          </m:e>
                          <m:sup>
                            <m:r>
                              <a:rPr lang="en-US" altLang="zh-CN" i="1">
                                <a:latin typeface="Cambria Math" panose="02040503050406030204" charset="0"/>
                                <a:cs typeface="Cambria Math" panose="02040503050406030204" charset="0"/>
                              </a:rPr>
                              <m:t>2</m:t>
                            </m:r>
                          </m:sup>
                        </m:sSup>
                      </m:e>
                    </m:d>
                    <m:r>
                      <a:rPr lang="en-US" altLang="zh-CN" i="1">
                        <a:latin typeface="Cambria Math" panose="02040503050406030204" charset="0"/>
                        <a:cs typeface="Cambria Math" panose="02040503050406030204" charset="0"/>
                      </a:rPr>
                      <m:t>≈</m:t>
                    </m:r>
                    <m:f>
                      <m:fPr>
                        <m:type m:val="lin"/>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𝑁</m:t>
                        </m:r>
                      </m:den>
                    </m:f>
                    <m:r>
                      <a:rPr lang="en-US" altLang="zh-CN" i="1">
                        <a:latin typeface="Cambria Math" panose="02040503050406030204" charset="0"/>
                        <a:cs typeface="Cambria Math" panose="02040503050406030204" charset="0"/>
                      </a:rPr>
                      <m:t>。</m:t>
                    </m:r>
                  </m:oMath>
                </a14:m>
                <a:endParaRPr lang="en-US" altLang="zh-CN"/>
              </a:p>
            </p:txBody>
          </p:sp>
        </mc:Choice>
        <mc:Fallback xmlns="">
          <p:sp>
            <p:nvSpPr>
              <p:cNvPr id="10" name="文本框 9"/>
              <p:cNvSpPr txBox="1">
                <a:spLocks noRot="1" noChangeAspect="1" noMove="1" noResize="1" noEditPoints="1" noAdjustHandles="1" noChangeArrowheads="1" noChangeShapeType="1" noTextEdit="1"/>
              </p:cNvSpPr>
              <p:nvPr/>
            </p:nvSpPr>
            <p:spPr>
              <a:xfrm>
                <a:off x="335280" y="5157470"/>
                <a:ext cx="10655935" cy="375920"/>
              </a:xfrm>
              <a:prstGeom prst="rect">
                <a:avLst/>
              </a:prstGeom>
              <a:blipFill rotWithShape="1">
                <a:blip r:embed="rId6"/>
                <a:stretch>
                  <a:fillRect/>
                </a:stretch>
              </a:blipFill>
            </p:spPr>
            <p:txBody>
              <a:bodyPr/>
              <a:lstStyle/>
              <a:p>
                <a:r>
                  <a:rPr lang="zh-CN" altLang="en-US">
                    <a:noFill/>
                  </a:rPr>
                  <a:t> </a:t>
                </a:r>
              </a:p>
            </p:txBody>
          </p:sp>
        </mc:Fallback>
      </mc:AlternateContent>
      <p:pic>
        <p:nvPicPr>
          <p:cNvPr id="11" name="图片 10"/>
          <p:cNvPicPr>
            <a:picLocks noChangeAspect="1"/>
          </p:cNvPicPr>
          <p:nvPr/>
        </p:nvPicPr>
        <p:blipFill>
          <a:blip r:embed="rId7"/>
          <a:stretch>
            <a:fillRect/>
          </a:stretch>
        </p:blipFill>
        <p:spPr>
          <a:xfrm>
            <a:off x="4439920" y="4440555"/>
            <a:ext cx="1676400" cy="673100"/>
          </a:xfrm>
          <a:prstGeom prst="rect">
            <a:avLst/>
          </a:prstGeom>
        </p:spPr>
      </p:pic>
      <p:sp>
        <p:nvSpPr>
          <p:cNvPr id="2" name="灯片编号占位符 1">
            <a:extLst>
              <a:ext uri="{FF2B5EF4-FFF2-40B4-BE49-F238E27FC236}">
                <a16:creationId xmlns:a16="http://schemas.microsoft.com/office/drawing/2014/main" id="{4CEED8D8-AD4C-5A16-AC0C-6C8C0F21C138}"/>
              </a:ext>
            </a:extLst>
          </p:cNvPr>
          <p:cNvSpPr>
            <a:spLocks noGrp="1"/>
          </p:cNvSpPr>
          <p:nvPr>
            <p:ph type="sldNum" sz="quarter" idx="12"/>
          </p:nvPr>
        </p:nvSpPr>
        <p:spPr/>
        <p:txBody>
          <a:bodyPr/>
          <a:lstStyle/>
          <a:p>
            <a:pPr>
              <a:defRPr/>
            </a:pPr>
            <a:fld id="{160EA27A-133F-45AA-8F39-06F9FC63F11A}" type="slidenum">
              <a:rPr lang="zh-CN" altLang="en-US" smtClean="0"/>
              <a:t>10</a:t>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37160"/>
            <a:ext cx="11959171" cy="415498"/>
          </a:xfrm>
          <a:prstGeom prst="rect">
            <a:avLst/>
          </a:prstGeom>
          <a:noFill/>
        </p:spPr>
        <p:txBody>
          <a:bodyPr wrap="none">
            <a:spAutoFit/>
          </a:bodyPr>
          <a:lstStyle/>
          <a:p>
            <a:pPr>
              <a:defRPr sz="2100" b="1"/>
            </a:pPr>
            <a:r>
              <a:rPr dirty="0"/>
              <a:t>4×4 Kagome </a:t>
            </a:r>
            <a:r>
              <a:rPr dirty="0" err="1"/>
              <a:t>晶格：蒙卡与</a:t>
            </a:r>
            <a:r>
              <a:rPr dirty="0"/>
              <a:t> MPS 的 P(q) </a:t>
            </a:r>
            <a:r>
              <a:rPr dirty="0" err="1"/>
              <a:t>对比</a:t>
            </a:r>
            <a:r>
              <a:rPr lang="zh-CN" altLang="en-US" dirty="0"/>
              <a:t>，</a:t>
            </a:r>
            <a:r>
              <a:rPr lang="en-US" altLang="zh-CN" dirty="0"/>
              <a:t>overlap distribution</a:t>
            </a:r>
            <a:r>
              <a:rPr lang="zh-CN" altLang="en-US" dirty="0"/>
              <a:t>相似，随横场增加，有</a:t>
            </a:r>
            <a:r>
              <a:rPr lang="en-US" altLang="zh-CN" dirty="0" err="1"/>
              <a:t>nontrival</a:t>
            </a:r>
            <a:r>
              <a:rPr lang="zh-CN" altLang="en-US" dirty="0"/>
              <a:t>特征</a:t>
            </a:r>
            <a:endParaRPr dirty="0"/>
          </a:p>
        </p:txBody>
      </p:sp>
      <p:sp>
        <p:nvSpPr>
          <p:cNvPr id="4" name="TextBox 3"/>
          <p:cNvSpPr txBox="1"/>
          <p:nvPr/>
        </p:nvSpPr>
        <p:spPr>
          <a:xfrm>
            <a:off x="320040" y="846803"/>
            <a:ext cx="2550698" cy="276999"/>
          </a:xfrm>
          <a:prstGeom prst="rect">
            <a:avLst/>
          </a:prstGeom>
          <a:noFill/>
        </p:spPr>
        <p:txBody>
          <a:bodyPr wrap="none">
            <a:spAutoFit/>
          </a:bodyPr>
          <a:lstStyle/>
          <a:p>
            <a:pPr>
              <a:defRPr sz="1200" b="1"/>
            </a:pPr>
            <a:r>
              <a:rPr dirty="0"/>
              <a:t>① </a:t>
            </a:r>
            <a:r>
              <a:rPr dirty="0" err="1"/>
              <a:t>MPS｜与蒙卡使用同一套耦合</a:t>
            </a:r>
            <a:r>
              <a:rPr dirty="0"/>
              <a:t> Jᵢⱼ</a:t>
            </a:r>
          </a:p>
        </p:txBody>
      </p:sp>
      <p:pic>
        <p:nvPicPr>
          <p:cNvPr id="5" name="Picture 4" descr="ac8cb6d3-19a0-5f9a-8b67-ebf6d64b90e2.png"/>
          <p:cNvPicPr>
            <a:picLocks noChangeAspect="1"/>
          </p:cNvPicPr>
          <p:nvPr/>
        </p:nvPicPr>
        <p:blipFill>
          <a:blip r:embed="rId3"/>
          <a:stretch>
            <a:fillRect/>
          </a:stretch>
        </p:blipFill>
        <p:spPr>
          <a:xfrm>
            <a:off x="505374" y="1140899"/>
            <a:ext cx="6400800" cy="1600200"/>
          </a:xfrm>
          <a:prstGeom prst="rect">
            <a:avLst/>
          </a:prstGeom>
        </p:spPr>
      </p:pic>
      <p:sp>
        <p:nvSpPr>
          <p:cNvPr id="6" name="TextBox 5"/>
          <p:cNvSpPr txBox="1"/>
          <p:nvPr/>
        </p:nvSpPr>
        <p:spPr>
          <a:xfrm>
            <a:off x="320040" y="2720586"/>
            <a:ext cx="4114800" cy="228600"/>
          </a:xfrm>
          <a:prstGeom prst="rect">
            <a:avLst/>
          </a:prstGeom>
          <a:noFill/>
        </p:spPr>
        <p:txBody>
          <a:bodyPr wrap="none">
            <a:spAutoFit/>
          </a:bodyPr>
          <a:lstStyle/>
          <a:p>
            <a:pPr>
              <a:defRPr sz="1200" b="1"/>
            </a:pPr>
            <a:r>
              <a:rPr dirty="0"/>
              <a:t>② </a:t>
            </a:r>
            <a:r>
              <a:rPr dirty="0" err="1"/>
              <a:t>MPS｜随机</a:t>
            </a:r>
            <a:r>
              <a:rPr dirty="0"/>
              <a:t> </a:t>
            </a:r>
            <a:r>
              <a:rPr dirty="0" err="1"/>
              <a:t>Jraw∈U</a:t>
            </a:r>
            <a:r>
              <a:rPr dirty="0"/>
              <a:t>(0.3,3)，</a:t>
            </a:r>
            <a:r>
              <a:rPr dirty="0" err="1"/>
              <a:t>按实际均值归一化</a:t>
            </a:r>
            <a:endParaRPr dirty="0"/>
          </a:p>
        </p:txBody>
      </p:sp>
      <p:pic>
        <p:nvPicPr>
          <p:cNvPr id="7" name="Picture 6" descr="c567a75b-bb59-522b-8a25-4e5b8b8f9c82.png"/>
          <p:cNvPicPr>
            <a:picLocks noChangeAspect="1"/>
          </p:cNvPicPr>
          <p:nvPr/>
        </p:nvPicPr>
        <p:blipFill>
          <a:blip r:embed="rId4"/>
          <a:stretch>
            <a:fillRect/>
          </a:stretch>
        </p:blipFill>
        <p:spPr>
          <a:xfrm>
            <a:off x="505374" y="3103315"/>
            <a:ext cx="6400800" cy="1600200"/>
          </a:xfrm>
          <a:prstGeom prst="rect">
            <a:avLst/>
          </a:prstGeom>
        </p:spPr>
      </p:pic>
      <p:sp>
        <p:nvSpPr>
          <p:cNvPr id="8" name="TextBox 7"/>
          <p:cNvSpPr txBox="1"/>
          <p:nvPr/>
        </p:nvSpPr>
        <p:spPr>
          <a:xfrm>
            <a:off x="320040" y="4753807"/>
            <a:ext cx="4114800" cy="228600"/>
          </a:xfrm>
          <a:prstGeom prst="rect">
            <a:avLst/>
          </a:prstGeom>
          <a:noFill/>
        </p:spPr>
        <p:txBody>
          <a:bodyPr wrap="none">
            <a:spAutoFit/>
          </a:bodyPr>
          <a:lstStyle/>
          <a:p>
            <a:pPr>
              <a:defRPr sz="1200" b="1"/>
            </a:pPr>
            <a:r>
              <a:t>③ 蒙卡｜4×4 Kagome 重叠分布</a:t>
            </a:r>
          </a:p>
        </p:txBody>
      </p:sp>
      <p:pic>
        <p:nvPicPr>
          <p:cNvPr id="9" name="Picture 8" descr="a096fadd-08a7-5279-b0fd-12b63a55a1de.png"/>
          <p:cNvPicPr>
            <a:picLocks noChangeAspect="1"/>
          </p:cNvPicPr>
          <p:nvPr/>
        </p:nvPicPr>
        <p:blipFill>
          <a:blip r:embed="rId5"/>
          <a:stretch>
            <a:fillRect/>
          </a:stretch>
        </p:blipFill>
        <p:spPr>
          <a:xfrm>
            <a:off x="365759" y="5112478"/>
            <a:ext cx="9444408" cy="1600200"/>
          </a:xfrm>
          <a:prstGeom prst="rect">
            <a:avLst/>
          </a:prstGeom>
        </p:spPr>
      </p:pic>
      <p:cxnSp>
        <p:nvCxnSpPr>
          <p:cNvPr id="11" name="直接连接符 10">
            <a:extLst>
              <a:ext uri="{FF2B5EF4-FFF2-40B4-BE49-F238E27FC236}">
                <a16:creationId xmlns:a16="http://schemas.microsoft.com/office/drawing/2014/main" id="{7949EAA3-EAB9-648E-7AD2-64C54EF18AC1}"/>
              </a:ext>
            </a:extLst>
          </p:cNvPr>
          <p:cNvCxnSpPr/>
          <p:nvPr/>
        </p:nvCxnSpPr>
        <p:spPr>
          <a:xfrm flipV="1">
            <a:off x="156000" y="682046"/>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download(3).png">
            <a:extLst>
              <a:ext uri="{FF2B5EF4-FFF2-40B4-BE49-F238E27FC236}">
                <a16:creationId xmlns:a16="http://schemas.microsoft.com/office/drawing/2014/main" id="{67243240-F131-A86A-4520-879D6DCE6D52}"/>
              </a:ext>
            </a:extLst>
          </p:cNvPr>
          <p:cNvPicPr>
            <a:picLocks noChangeAspect="1"/>
          </p:cNvPicPr>
          <p:nvPr/>
        </p:nvPicPr>
        <p:blipFill>
          <a:blip r:embed="rId2"/>
          <a:stretch>
            <a:fillRect/>
          </a:stretch>
        </p:blipFill>
        <p:spPr>
          <a:xfrm>
            <a:off x="479292" y="1588111"/>
            <a:ext cx="8782793" cy="1976987"/>
          </a:xfrm>
          <a:prstGeom prst="rect">
            <a:avLst/>
          </a:prstGeom>
        </p:spPr>
      </p:pic>
      <p:pic>
        <p:nvPicPr>
          <p:cNvPr id="7" name="图片 6">
            <a:extLst>
              <a:ext uri="{FF2B5EF4-FFF2-40B4-BE49-F238E27FC236}">
                <a16:creationId xmlns:a16="http://schemas.microsoft.com/office/drawing/2014/main" id="{7193B1A9-CA83-B9BC-756F-0F93601A5F0A}"/>
              </a:ext>
            </a:extLst>
          </p:cNvPr>
          <p:cNvPicPr>
            <a:picLocks noChangeAspect="1"/>
          </p:cNvPicPr>
          <p:nvPr/>
        </p:nvPicPr>
        <p:blipFill>
          <a:blip r:embed="rId3"/>
          <a:stretch>
            <a:fillRect/>
          </a:stretch>
        </p:blipFill>
        <p:spPr>
          <a:xfrm>
            <a:off x="479292" y="4318857"/>
            <a:ext cx="8926397" cy="2009311"/>
          </a:xfrm>
          <a:prstGeom prst="rect">
            <a:avLst/>
          </a:prstGeom>
        </p:spPr>
      </p:pic>
      <p:sp>
        <p:nvSpPr>
          <p:cNvPr id="9" name="TextBox 3">
            <a:extLst>
              <a:ext uri="{FF2B5EF4-FFF2-40B4-BE49-F238E27FC236}">
                <a16:creationId xmlns:a16="http://schemas.microsoft.com/office/drawing/2014/main" id="{4F5CF6E1-98A2-2B5C-3FC4-317AC969176D}"/>
              </a:ext>
            </a:extLst>
          </p:cNvPr>
          <p:cNvSpPr txBox="1"/>
          <p:nvPr/>
        </p:nvSpPr>
        <p:spPr>
          <a:xfrm>
            <a:off x="320040" y="1113921"/>
            <a:ext cx="4114800" cy="228600"/>
          </a:xfrm>
          <a:prstGeom prst="rect">
            <a:avLst/>
          </a:prstGeom>
          <a:noFill/>
        </p:spPr>
        <p:txBody>
          <a:bodyPr wrap="none">
            <a:spAutoFit/>
          </a:bodyPr>
          <a:lstStyle/>
          <a:p>
            <a:pPr>
              <a:defRPr sz="1200" b="1"/>
            </a:pPr>
            <a:r>
              <a:rPr dirty="0"/>
              <a:t>① </a:t>
            </a:r>
            <a:r>
              <a:rPr dirty="0" err="1"/>
              <a:t>MPS｜与蒙卡使用同一套耦合</a:t>
            </a:r>
            <a:r>
              <a:rPr dirty="0"/>
              <a:t> Jᵢⱼ（</a:t>
            </a:r>
            <a:r>
              <a:rPr dirty="0" err="1"/>
              <a:t>原始</a:t>
            </a:r>
            <a:r>
              <a:rPr dirty="0"/>
              <a:t> CSV）</a:t>
            </a:r>
          </a:p>
        </p:txBody>
      </p:sp>
      <p:sp>
        <p:nvSpPr>
          <p:cNvPr id="11" name="TextBox 5">
            <a:extLst>
              <a:ext uri="{FF2B5EF4-FFF2-40B4-BE49-F238E27FC236}">
                <a16:creationId xmlns:a16="http://schemas.microsoft.com/office/drawing/2014/main" id="{E1D94D97-19E3-F338-A84B-3AE217D61F4E}"/>
              </a:ext>
            </a:extLst>
          </p:cNvPr>
          <p:cNvSpPr txBox="1"/>
          <p:nvPr/>
        </p:nvSpPr>
        <p:spPr>
          <a:xfrm>
            <a:off x="320040" y="3827677"/>
            <a:ext cx="4114800" cy="228600"/>
          </a:xfrm>
          <a:prstGeom prst="rect">
            <a:avLst/>
          </a:prstGeom>
          <a:noFill/>
        </p:spPr>
        <p:txBody>
          <a:bodyPr wrap="none">
            <a:spAutoFit/>
          </a:bodyPr>
          <a:lstStyle/>
          <a:p>
            <a:pPr>
              <a:defRPr sz="1200" b="1"/>
            </a:pPr>
            <a:r>
              <a:rPr dirty="0"/>
              <a:t>② </a:t>
            </a:r>
            <a:r>
              <a:rPr dirty="0" err="1"/>
              <a:t>MPS｜随机</a:t>
            </a:r>
            <a:r>
              <a:rPr dirty="0"/>
              <a:t> </a:t>
            </a:r>
            <a:r>
              <a:rPr dirty="0" err="1"/>
              <a:t>Jraw∈U</a:t>
            </a:r>
            <a:r>
              <a:rPr dirty="0"/>
              <a:t>(0.3,3)，</a:t>
            </a:r>
            <a:r>
              <a:rPr dirty="0" err="1"/>
              <a:t>按实际均值归一化</a:t>
            </a:r>
            <a:endParaRPr dirty="0"/>
          </a:p>
        </p:txBody>
      </p:sp>
      <p:sp>
        <p:nvSpPr>
          <p:cNvPr id="13" name="文本框 12">
            <a:extLst>
              <a:ext uri="{FF2B5EF4-FFF2-40B4-BE49-F238E27FC236}">
                <a16:creationId xmlns:a16="http://schemas.microsoft.com/office/drawing/2014/main" id="{5450C759-0458-79CA-A63A-8D9869005B8C}"/>
              </a:ext>
            </a:extLst>
          </p:cNvPr>
          <p:cNvSpPr txBox="1"/>
          <p:nvPr/>
        </p:nvSpPr>
        <p:spPr>
          <a:xfrm>
            <a:off x="391228" y="211078"/>
            <a:ext cx="7212407" cy="415498"/>
          </a:xfrm>
          <a:prstGeom prst="rect">
            <a:avLst/>
          </a:prstGeom>
          <a:noFill/>
        </p:spPr>
        <p:txBody>
          <a:bodyPr wrap="square">
            <a:spAutoFit/>
          </a:bodyPr>
          <a:lstStyle/>
          <a:p>
            <a:r>
              <a:rPr lang="zh-CN" altLang="en-US" sz="2100" b="1" dirty="0"/>
              <a:t>不同随机耦合条件下 </a:t>
            </a:r>
            <a:r>
              <a:rPr lang="en-US" altLang="zh-CN" sz="2100" b="1" dirty="0"/>
              <a:t>Kagome </a:t>
            </a:r>
            <a:r>
              <a:rPr lang="zh-CN" altLang="en-US" sz="2100" b="1" dirty="0"/>
              <a:t>晶格基态副本重叠矩阵对比</a:t>
            </a:r>
          </a:p>
        </p:txBody>
      </p:sp>
      <p:cxnSp>
        <p:nvCxnSpPr>
          <p:cNvPr id="14" name="直接连接符 13">
            <a:extLst>
              <a:ext uri="{FF2B5EF4-FFF2-40B4-BE49-F238E27FC236}">
                <a16:creationId xmlns:a16="http://schemas.microsoft.com/office/drawing/2014/main" id="{240C0FC6-5142-88EA-4BF8-AC4926CD2D41}"/>
              </a:ext>
            </a:extLst>
          </p:cNvPr>
          <p:cNvCxnSpPr/>
          <p:nvPr/>
        </p:nvCxnSpPr>
        <p:spPr>
          <a:xfrm flipV="1">
            <a:off x="156000" y="682046"/>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6379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6DA09A6-D835-5D20-DEF4-EA2697E6A6B7}"/>
              </a:ext>
            </a:extLst>
          </p:cNvPr>
          <p:cNvPicPr>
            <a:picLocks noChangeAspect="1"/>
          </p:cNvPicPr>
          <p:nvPr/>
        </p:nvPicPr>
        <p:blipFill>
          <a:blip r:embed="rId2"/>
          <a:srcRect r="20434"/>
          <a:stretch>
            <a:fillRect/>
          </a:stretch>
        </p:blipFill>
        <p:spPr>
          <a:xfrm>
            <a:off x="227298" y="1080789"/>
            <a:ext cx="6581860" cy="2068064"/>
          </a:xfrm>
          <a:prstGeom prst="rect">
            <a:avLst/>
          </a:prstGeom>
        </p:spPr>
      </p:pic>
      <p:sp>
        <p:nvSpPr>
          <p:cNvPr id="7" name="文本框 6">
            <a:extLst>
              <a:ext uri="{FF2B5EF4-FFF2-40B4-BE49-F238E27FC236}">
                <a16:creationId xmlns:a16="http://schemas.microsoft.com/office/drawing/2014/main" id="{948EAED0-6879-B0E2-045A-9548DC4FE9EC}"/>
              </a:ext>
            </a:extLst>
          </p:cNvPr>
          <p:cNvSpPr txBox="1"/>
          <p:nvPr/>
        </p:nvSpPr>
        <p:spPr>
          <a:xfrm>
            <a:off x="661253" y="232848"/>
            <a:ext cx="6097022" cy="415498"/>
          </a:xfrm>
          <a:prstGeom prst="rect">
            <a:avLst/>
          </a:prstGeom>
          <a:noFill/>
        </p:spPr>
        <p:txBody>
          <a:bodyPr wrap="square">
            <a:spAutoFit/>
          </a:bodyPr>
          <a:lstStyle/>
          <a:p>
            <a:r>
              <a:rPr lang="en-US" altLang="zh-CN" sz="2100" b="1" dirty="0"/>
              <a:t>MPS  4×4</a:t>
            </a:r>
            <a:r>
              <a:rPr lang="zh-CN" altLang="en-US" sz="2100" b="1" dirty="0"/>
              <a:t>三角晶格基态重叠分布与副本关联结构</a:t>
            </a:r>
          </a:p>
        </p:txBody>
      </p:sp>
      <p:cxnSp>
        <p:nvCxnSpPr>
          <p:cNvPr id="8" name="直接连接符 7">
            <a:extLst>
              <a:ext uri="{FF2B5EF4-FFF2-40B4-BE49-F238E27FC236}">
                <a16:creationId xmlns:a16="http://schemas.microsoft.com/office/drawing/2014/main" id="{A5C7C346-E1AA-25C9-B98C-B08E790FCCCC}"/>
              </a:ext>
            </a:extLst>
          </p:cNvPr>
          <p:cNvCxnSpPr/>
          <p:nvPr/>
        </p:nvCxnSpPr>
        <p:spPr>
          <a:xfrm flipV="1">
            <a:off x="156000" y="682046"/>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4E0F2CDE-F089-E342-EF7C-47C053FE4797}"/>
              </a:ext>
            </a:extLst>
          </p:cNvPr>
          <p:cNvPicPr>
            <a:picLocks noChangeAspect="1"/>
          </p:cNvPicPr>
          <p:nvPr/>
        </p:nvPicPr>
        <p:blipFill>
          <a:blip r:embed="rId3"/>
          <a:stretch>
            <a:fillRect/>
          </a:stretch>
        </p:blipFill>
        <p:spPr>
          <a:xfrm>
            <a:off x="6872713" y="1080789"/>
            <a:ext cx="3364036" cy="2102523"/>
          </a:xfrm>
          <a:prstGeom prst="rect">
            <a:avLst/>
          </a:prstGeom>
        </p:spPr>
      </p:pic>
      <p:pic>
        <p:nvPicPr>
          <p:cNvPr id="14" name="图片 13">
            <a:extLst>
              <a:ext uri="{FF2B5EF4-FFF2-40B4-BE49-F238E27FC236}">
                <a16:creationId xmlns:a16="http://schemas.microsoft.com/office/drawing/2014/main" id="{13A66E77-29F6-04BA-FDF7-C8BF626122AA}"/>
              </a:ext>
            </a:extLst>
          </p:cNvPr>
          <p:cNvPicPr>
            <a:picLocks noChangeAspect="1"/>
          </p:cNvPicPr>
          <p:nvPr/>
        </p:nvPicPr>
        <p:blipFill>
          <a:blip r:embed="rId2"/>
          <a:srcRect l="79598"/>
          <a:stretch>
            <a:fillRect/>
          </a:stretch>
        </p:blipFill>
        <p:spPr>
          <a:xfrm>
            <a:off x="10279373" y="996369"/>
            <a:ext cx="1756627" cy="2152484"/>
          </a:xfrm>
          <a:prstGeom prst="rect">
            <a:avLst/>
          </a:prstGeom>
        </p:spPr>
      </p:pic>
      <p:pic>
        <p:nvPicPr>
          <p:cNvPr id="20" name="图片 19">
            <a:extLst>
              <a:ext uri="{FF2B5EF4-FFF2-40B4-BE49-F238E27FC236}">
                <a16:creationId xmlns:a16="http://schemas.microsoft.com/office/drawing/2014/main" id="{E9CDDC51-18F2-EA51-1D6E-0CCE01E39917}"/>
              </a:ext>
            </a:extLst>
          </p:cNvPr>
          <p:cNvPicPr>
            <a:picLocks noChangeAspect="1"/>
          </p:cNvPicPr>
          <p:nvPr/>
        </p:nvPicPr>
        <p:blipFill>
          <a:blip r:embed="rId4"/>
          <a:stretch>
            <a:fillRect/>
          </a:stretch>
        </p:blipFill>
        <p:spPr>
          <a:xfrm>
            <a:off x="0" y="3947950"/>
            <a:ext cx="12192000" cy="1913681"/>
          </a:xfrm>
          <a:prstGeom prst="rect">
            <a:avLst/>
          </a:prstGeom>
        </p:spPr>
      </p:pic>
    </p:spTree>
    <p:extLst>
      <p:ext uri="{BB962C8B-B14F-4D97-AF65-F5344CB8AC3E}">
        <p14:creationId xmlns:p14="http://schemas.microsoft.com/office/powerpoint/2010/main" val="4175604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263525" y="142875"/>
            <a:ext cx="8572500" cy="796925"/>
          </a:xfrm>
        </p:spPr>
        <p:txBody>
          <a:bodyPr>
            <a:normAutofit/>
          </a:bodyPr>
          <a:lstStyle/>
          <a:p>
            <a:r>
              <a:rPr lang="zh-CN" altLang="en-US" sz="3200" dirty="0">
                <a:solidFill>
                  <a:srgbClr val="000000"/>
                </a:solidFill>
                <a:latin typeface="黑体" panose="02010609060101010101" pitchFamily="49" charset="-122"/>
                <a:ea typeface="黑体" panose="02010609060101010101" pitchFamily="49" charset="-122"/>
                <a:sym typeface="+mn-ea"/>
              </a:rPr>
              <a:t>无定形</a:t>
            </a:r>
            <a:r>
              <a:rPr lang="en-US" altLang="zh-CN" sz="3200" dirty="0">
                <a:solidFill>
                  <a:srgbClr val="000000"/>
                </a:solidFill>
                <a:latin typeface="黑体" panose="02010609060101010101" pitchFamily="49" charset="-122"/>
                <a:ea typeface="黑体" panose="02010609060101010101" pitchFamily="49" charset="-122"/>
                <a:sym typeface="+mn-ea"/>
              </a:rPr>
              <a:t>Kagome</a:t>
            </a:r>
            <a:r>
              <a:rPr lang="zh-CN" altLang="en-US" sz="3200" dirty="0">
                <a:solidFill>
                  <a:srgbClr val="000000"/>
                </a:solidFill>
                <a:latin typeface="黑体" panose="02010609060101010101" pitchFamily="49" charset="-122"/>
                <a:ea typeface="黑体" panose="02010609060101010101" pitchFamily="49" charset="-122"/>
                <a:sym typeface="+mn-ea"/>
              </a:rPr>
              <a:t>横场伊辛模型的蒙卡计算</a:t>
            </a:r>
            <a:endParaRPr lang="zh-CN" altLang="en-US" sz="3200" dirty="0">
              <a:solidFill>
                <a:srgbClr val="000000"/>
              </a:solidFill>
              <a:latin typeface="黑体" panose="02010609060101010101" pitchFamily="49" charset="-122"/>
              <a:ea typeface="黑体" panose="02010609060101010101" pitchFamily="49" charset="-122"/>
            </a:endParaRPr>
          </a:p>
        </p:txBody>
      </p:sp>
      <p:cxnSp>
        <p:nvCxnSpPr>
          <p:cNvPr id="3" name="直接连接符 2"/>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 name="图片 1" descr="静态2"/>
          <p:cNvPicPr/>
          <p:nvPr/>
        </p:nvPicPr>
        <p:blipFill>
          <a:blip r:embed="rId3"/>
          <a:stretch>
            <a:fillRect/>
          </a:stretch>
        </p:blipFill>
        <p:spPr>
          <a:xfrm>
            <a:off x="119380" y="1052830"/>
            <a:ext cx="11880000" cy="1800000"/>
          </a:xfrm>
          <a:prstGeom prst="rect">
            <a:avLst/>
          </a:prstGeom>
        </p:spPr>
      </p:pic>
      <p:sp>
        <p:nvSpPr>
          <p:cNvPr id="4" name="文本框 3"/>
          <p:cNvSpPr txBox="1"/>
          <p:nvPr/>
        </p:nvSpPr>
        <p:spPr>
          <a:xfrm>
            <a:off x="5474970" y="2925445"/>
            <a:ext cx="1242695" cy="368300"/>
          </a:xfrm>
          <a:prstGeom prst="rect">
            <a:avLst/>
          </a:prstGeom>
          <a:noFill/>
        </p:spPr>
        <p:txBody>
          <a:bodyPr wrap="square" rtlCol="0">
            <a:spAutoFit/>
          </a:bodyPr>
          <a:lstStyle/>
          <a:p>
            <a:r>
              <a:rPr lang="zh-CN" altLang="en-US"/>
              <a:t>静态</a:t>
            </a:r>
            <a:r>
              <a:rPr lang="en-US" altLang="zh-CN"/>
              <a:t>VMC</a:t>
            </a:r>
          </a:p>
        </p:txBody>
      </p:sp>
      <p:pic>
        <p:nvPicPr>
          <p:cNvPr id="5" name="图片 4" descr="退火2"/>
          <p:cNvPicPr/>
          <p:nvPr/>
        </p:nvPicPr>
        <p:blipFill>
          <a:blip r:embed="rId4"/>
          <a:stretch>
            <a:fillRect/>
          </a:stretch>
        </p:blipFill>
        <p:spPr>
          <a:xfrm>
            <a:off x="191135" y="3573145"/>
            <a:ext cx="11880000" cy="1800000"/>
          </a:xfrm>
          <a:prstGeom prst="rect">
            <a:avLst/>
          </a:prstGeom>
        </p:spPr>
      </p:pic>
      <p:sp>
        <p:nvSpPr>
          <p:cNvPr id="6" name="文本框 5"/>
          <p:cNvSpPr txBox="1"/>
          <p:nvPr/>
        </p:nvSpPr>
        <p:spPr>
          <a:xfrm>
            <a:off x="5438140" y="5445125"/>
            <a:ext cx="1242695" cy="368300"/>
          </a:xfrm>
          <a:prstGeom prst="rect">
            <a:avLst/>
          </a:prstGeom>
          <a:noFill/>
        </p:spPr>
        <p:txBody>
          <a:bodyPr wrap="square" rtlCol="0">
            <a:spAutoFit/>
          </a:bodyPr>
          <a:lstStyle/>
          <a:p>
            <a:r>
              <a:rPr lang="en-US" altLang="zh-CN"/>
              <a:t>TDVP</a:t>
            </a:r>
            <a:r>
              <a:rPr lang="zh-CN" altLang="en-US"/>
              <a:t>退火</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263525" y="142875"/>
            <a:ext cx="8572500" cy="796925"/>
          </a:xfrm>
        </p:spPr>
        <p:txBody>
          <a:bodyPr>
            <a:normAutofit fontScale="90000"/>
          </a:bodyPr>
          <a:lstStyle/>
          <a:p>
            <a:r>
              <a:rPr lang="zh-CN" altLang="en-US" sz="3200" dirty="0">
                <a:solidFill>
                  <a:srgbClr val="000000"/>
                </a:solidFill>
                <a:latin typeface="黑体" panose="02010609060101010101" pitchFamily="49" charset="-122"/>
                <a:ea typeface="黑体" panose="02010609060101010101" pitchFamily="49" charset="-122"/>
                <a:sym typeface="+mn-ea"/>
              </a:rPr>
              <a:t>无定形</a:t>
            </a:r>
            <a:r>
              <a:rPr lang="en-US" altLang="zh-CN" sz="3200" dirty="0">
                <a:solidFill>
                  <a:srgbClr val="000000"/>
                </a:solidFill>
                <a:latin typeface="黑体" panose="02010609060101010101" pitchFamily="49" charset="-122"/>
                <a:ea typeface="黑体" panose="02010609060101010101" pitchFamily="49" charset="-122"/>
                <a:sym typeface="+mn-ea"/>
              </a:rPr>
              <a:t>Kagome</a:t>
            </a:r>
            <a:r>
              <a:rPr lang="zh-CN" altLang="en-US" sz="3200" dirty="0">
                <a:solidFill>
                  <a:srgbClr val="000000"/>
                </a:solidFill>
                <a:latin typeface="黑体" panose="02010609060101010101" pitchFamily="49" charset="-122"/>
                <a:ea typeface="黑体" panose="02010609060101010101" pitchFamily="49" charset="-122"/>
                <a:sym typeface="+mn-ea"/>
              </a:rPr>
              <a:t>横场伊辛模型中的自旋玻璃量子相变</a:t>
            </a:r>
            <a:endParaRPr lang="zh-CN" altLang="en-US" sz="3200" dirty="0">
              <a:solidFill>
                <a:srgbClr val="000000"/>
              </a:solidFill>
              <a:latin typeface="黑体" panose="02010609060101010101" pitchFamily="49" charset="-122"/>
              <a:ea typeface="黑体" panose="02010609060101010101" pitchFamily="49" charset="-122"/>
            </a:endParaRPr>
          </a:p>
        </p:txBody>
      </p:sp>
      <p:cxnSp>
        <p:nvCxnSpPr>
          <p:cNvPr id="3" name="直接连接符 2"/>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35280" y="1085215"/>
            <a:ext cx="9010650" cy="368300"/>
          </a:xfrm>
          <a:prstGeom prst="rect">
            <a:avLst/>
          </a:prstGeom>
          <a:noFill/>
        </p:spPr>
        <p:txBody>
          <a:bodyPr wrap="square" rtlCol="0">
            <a:spAutoFit/>
          </a:bodyPr>
          <a:lstStyle/>
          <a:p>
            <a:r>
              <a:rPr lang="zh-CN" altLang="en-US"/>
              <a:t>一、副本重叠分布：描述在当前基态下，两个独立采样构型之间的重叠度</a:t>
            </a:r>
          </a:p>
        </p:txBody>
      </p:sp>
      <mc:AlternateContent xmlns:mc="http://schemas.openxmlformats.org/markup-compatibility/2006" xmlns:a14="http://schemas.microsoft.com/office/drawing/2010/main">
        <mc:Choice Requires="a14">
          <p:sp>
            <p:nvSpPr>
              <p:cNvPr id="6" name="文本框 5"/>
              <p:cNvSpPr txBox="1"/>
              <p:nvPr/>
            </p:nvSpPr>
            <p:spPr>
              <a:xfrm>
                <a:off x="3359785" y="1412875"/>
                <a:ext cx="4046220" cy="790575"/>
              </a:xfrm>
              <a:prstGeom prst="rect">
                <a:avLst/>
              </a:prstGeom>
              <a:noFill/>
            </p:spPr>
            <p:txBody>
              <a:bodyPr wrap="square" rtlCol="0">
                <a:spAutoFit/>
              </a:bodyPr>
              <a:lstStyle/>
              <a:p>
                <a:pPr/>
                <a14:m>
                  <m:oMathPara xmlns:m="http://schemas.openxmlformats.org/officeDocument/2006/math">
                    <m:oMath>
                      <m:r>
                        <a:rPr lang="en-US" altLang="zh-CN" i="1">
                          <a:latin typeface="Cambria Math" panose="02040503050406030204" charset="0"/>
                          <a:cs typeface="Cambria Math" panose="02040503050406030204" charset="0"/>
                        </a:rPr>
                        <m:t>𝑃</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𝑞</m:t>
                      </m:r>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𝑁</m:t>
                          </m:r>
                        </m:den>
                      </m:f>
                      <m:nary>
                        <m:naryPr>
                          <m:chr m:val="∑"/>
                          <m:limLoc m:val="undOvr"/>
                          <m:supHide m:val="on"/>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sub>
                        <m:sup/>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𝜎</m:t>
                              </m:r>
                            </m:e>
                            <m:sub>
                              <m:r>
                                <a:rPr lang="en-US" altLang="zh-CN" i="1">
                                  <a:latin typeface="Cambria Math" panose="02040503050406030204" charset="0"/>
                                  <a:cs typeface="Cambria Math" panose="02040503050406030204" charset="0"/>
                                </a:rPr>
                                <m:t>𝐴</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𝑧</m:t>
                              </m:r>
                            </m:sup>
                          </m:sSubSup>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𝜎</m:t>
                              </m:r>
                            </m:e>
                            <m:sub>
                              <m:r>
                                <a:rPr lang="en-US" altLang="zh-CN" i="1">
                                  <a:latin typeface="Cambria Math" panose="02040503050406030204" charset="0"/>
                                  <a:cs typeface="Cambria Math" panose="02040503050406030204" charset="0"/>
                                </a:rPr>
                                <m:t>𝐵</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𝑧</m:t>
                              </m:r>
                            </m:sup>
                          </m:sSubSup>
                        </m:e>
                      </m:nary>
                    </m:oMath>
                  </m:oMathPara>
                </a14:m>
                <a:endParaRPr lang="zh-CN" altLang="en-US"/>
              </a:p>
            </p:txBody>
          </p:sp>
        </mc:Choice>
        <mc:Fallback xmlns="">
          <p:sp>
            <p:nvSpPr>
              <p:cNvPr id="6" name="文本框 5"/>
              <p:cNvSpPr txBox="1">
                <a:spLocks noRot="1" noChangeAspect="1" noMove="1" noResize="1" noEditPoints="1" noAdjustHandles="1" noChangeArrowheads="1" noChangeShapeType="1" noTextEdit="1"/>
              </p:cNvSpPr>
              <p:nvPr/>
            </p:nvSpPr>
            <p:spPr>
              <a:xfrm>
                <a:off x="3359785" y="1412875"/>
                <a:ext cx="4046220" cy="790575"/>
              </a:xfrm>
              <a:prstGeom prst="rect">
                <a:avLst/>
              </a:prstGeom>
              <a:blipFill rotWithShape="1">
                <a:blip r:embed="rId3"/>
                <a:stretch>
                  <a:fillRect/>
                </a:stretch>
              </a:blipFill>
            </p:spPr>
            <p:txBody>
              <a:bodyPr/>
              <a:lstStyle/>
              <a:p>
                <a:r>
                  <a:rPr lang="zh-CN" altLang="en-US">
                    <a:noFill/>
                  </a:rPr>
                  <a:t> </a:t>
                </a:r>
              </a:p>
            </p:txBody>
          </p:sp>
        </mc:Fallback>
      </mc:AlternateContent>
      <p:pic>
        <p:nvPicPr>
          <p:cNvPr id="5" name="图片 4" descr="P_q_L4_symmetrized"/>
          <p:cNvPicPr/>
          <p:nvPr/>
        </p:nvPicPr>
        <p:blipFill>
          <a:blip r:embed="rId4"/>
          <a:stretch>
            <a:fillRect/>
          </a:stretch>
        </p:blipFill>
        <p:spPr>
          <a:xfrm>
            <a:off x="1602740" y="4581525"/>
            <a:ext cx="7560000" cy="2160000"/>
          </a:xfrm>
          <a:prstGeom prst="rect">
            <a:avLst/>
          </a:prstGeom>
        </p:spPr>
      </p:pic>
      <p:sp>
        <p:nvSpPr>
          <p:cNvPr id="9" name="文本框 8"/>
          <p:cNvSpPr txBox="1"/>
          <p:nvPr/>
        </p:nvSpPr>
        <p:spPr>
          <a:xfrm>
            <a:off x="191135" y="2853055"/>
            <a:ext cx="1198245" cy="368300"/>
          </a:xfrm>
          <a:prstGeom prst="rect">
            <a:avLst/>
          </a:prstGeom>
          <a:noFill/>
        </p:spPr>
        <p:txBody>
          <a:bodyPr wrap="square" rtlCol="0">
            <a:spAutoFit/>
          </a:bodyPr>
          <a:lstStyle/>
          <a:p>
            <a:r>
              <a:rPr lang="zh-CN" altLang="en-US"/>
              <a:t>纯</a:t>
            </a:r>
            <a:r>
              <a:rPr lang="en-US" altLang="zh-CN"/>
              <a:t>Kagome</a:t>
            </a:r>
          </a:p>
        </p:txBody>
      </p:sp>
      <p:pic>
        <p:nvPicPr>
          <p:cNvPr id="10" name="图片 9" descr="屏幕截图 2026-09-23 123747"/>
          <p:cNvPicPr/>
          <p:nvPr/>
        </p:nvPicPr>
        <p:blipFill>
          <a:blip r:embed="rId5"/>
          <a:stretch>
            <a:fillRect/>
          </a:stretch>
        </p:blipFill>
        <p:spPr>
          <a:xfrm>
            <a:off x="9479915" y="1125220"/>
            <a:ext cx="2520000" cy="2160000"/>
          </a:xfrm>
          <a:prstGeom prst="rect">
            <a:avLst/>
          </a:prstGeom>
        </p:spPr>
      </p:pic>
      <p:pic>
        <p:nvPicPr>
          <p:cNvPr id="11" name="图片 10" descr="P_q_L4_symmetrized"/>
          <p:cNvPicPr/>
          <p:nvPr/>
        </p:nvPicPr>
        <p:blipFill>
          <a:blip r:embed="rId6"/>
          <a:stretch>
            <a:fillRect/>
          </a:stretch>
        </p:blipFill>
        <p:spPr>
          <a:xfrm>
            <a:off x="1559560" y="2132965"/>
            <a:ext cx="7560000" cy="2160000"/>
          </a:xfrm>
          <a:prstGeom prst="rect">
            <a:avLst/>
          </a:prstGeom>
        </p:spPr>
      </p:pic>
      <p:sp>
        <p:nvSpPr>
          <p:cNvPr id="12" name="文本框 11"/>
          <p:cNvSpPr txBox="1"/>
          <p:nvPr/>
        </p:nvSpPr>
        <p:spPr>
          <a:xfrm>
            <a:off x="262890" y="5388610"/>
            <a:ext cx="1141730" cy="645160"/>
          </a:xfrm>
          <a:prstGeom prst="rect">
            <a:avLst/>
          </a:prstGeom>
          <a:noFill/>
        </p:spPr>
        <p:txBody>
          <a:bodyPr wrap="square" rtlCol="0">
            <a:spAutoFit/>
          </a:bodyPr>
          <a:lstStyle/>
          <a:p>
            <a:r>
              <a:rPr lang="zh-CN" altLang="en-US"/>
              <a:t>无定形</a:t>
            </a:r>
            <a:r>
              <a:rPr lang="en-US" altLang="zh-CN"/>
              <a:t>Kagome</a:t>
            </a:r>
          </a:p>
        </p:txBody>
      </p:sp>
      <p:sp>
        <p:nvSpPr>
          <p:cNvPr id="13" name="文本框 12"/>
          <p:cNvSpPr txBox="1"/>
          <p:nvPr/>
        </p:nvSpPr>
        <p:spPr>
          <a:xfrm>
            <a:off x="9408160" y="4221480"/>
            <a:ext cx="1967230" cy="368300"/>
          </a:xfrm>
          <a:prstGeom prst="rect">
            <a:avLst/>
          </a:prstGeom>
          <a:noFill/>
        </p:spPr>
        <p:txBody>
          <a:bodyPr wrap="square" rtlCol="0">
            <a:spAutoFit/>
          </a:bodyPr>
          <a:lstStyle/>
          <a:p>
            <a:r>
              <a:rPr lang="en-US" altLang="zh-CN"/>
              <a:t>RSB</a:t>
            </a:r>
            <a:r>
              <a:rPr lang="zh-CN" altLang="en-US"/>
              <a:t>自旋玻璃相</a:t>
            </a:r>
          </a:p>
        </p:txBody>
      </p:sp>
      <p:cxnSp>
        <p:nvCxnSpPr>
          <p:cNvPr id="14" name="肘形连接符 13"/>
          <p:cNvCxnSpPr>
            <a:stCxn id="5" idx="0"/>
            <a:endCxn id="13" idx="1"/>
          </p:cNvCxnSpPr>
          <p:nvPr/>
        </p:nvCxnSpPr>
        <p:spPr>
          <a:xfrm rot="16200000">
            <a:off x="7307580" y="2480945"/>
            <a:ext cx="175895" cy="4025265"/>
          </a:xfrm>
          <a:prstGeom prst="bentConnector2">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4" name="灯片编号占位符 3">
            <a:extLst>
              <a:ext uri="{FF2B5EF4-FFF2-40B4-BE49-F238E27FC236}">
                <a16:creationId xmlns:a16="http://schemas.microsoft.com/office/drawing/2014/main" id="{60BA28F8-E8FC-C3B1-D461-D20ACFAAD598}"/>
              </a:ext>
            </a:extLst>
          </p:cNvPr>
          <p:cNvSpPr>
            <a:spLocks noGrp="1"/>
          </p:cNvSpPr>
          <p:nvPr>
            <p:ph type="sldNum" sz="quarter" idx="12"/>
          </p:nvPr>
        </p:nvSpPr>
        <p:spPr/>
        <p:txBody>
          <a:bodyPr/>
          <a:lstStyle/>
          <a:p>
            <a:pPr>
              <a:defRPr/>
            </a:pPr>
            <a:fld id="{160EA27A-133F-45AA-8F39-06F9FC63F11A}" type="slidenum">
              <a:rPr lang="zh-CN" altLang="en-US" smtClean="0"/>
              <a:t>15</a:t>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263525" y="142875"/>
            <a:ext cx="8572500" cy="796925"/>
          </a:xfrm>
        </p:spPr>
        <p:txBody>
          <a:bodyPr>
            <a:normAutofit fontScale="90000"/>
          </a:bodyPr>
          <a:lstStyle/>
          <a:p>
            <a:r>
              <a:rPr lang="zh-CN" altLang="en-US" sz="3200" dirty="0">
                <a:solidFill>
                  <a:srgbClr val="000000"/>
                </a:solidFill>
                <a:latin typeface="黑体" panose="02010609060101010101" pitchFamily="49" charset="-122"/>
                <a:ea typeface="黑体" panose="02010609060101010101" pitchFamily="49" charset="-122"/>
                <a:sym typeface="+mn-ea"/>
              </a:rPr>
              <a:t>无定形</a:t>
            </a:r>
            <a:r>
              <a:rPr lang="en-US" altLang="zh-CN" sz="3200" dirty="0">
                <a:solidFill>
                  <a:srgbClr val="000000"/>
                </a:solidFill>
                <a:latin typeface="黑体" panose="02010609060101010101" pitchFamily="49" charset="-122"/>
                <a:ea typeface="黑体" panose="02010609060101010101" pitchFamily="49" charset="-122"/>
                <a:sym typeface="+mn-ea"/>
              </a:rPr>
              <a:t>Kagome</a:t>
            </a:r>
            <a:r>
              <a:rPr lang="zh-CN" altLang="en-US" sz="3200" dirty="0">
                <a:solidFill>
                  <a:srgbClr val="000000"/>
                </a:solidFill>
                <a:latin typeface="黑体" panose="02010609060101010101" pitchFamily="49" charset="-122"/>
                <a:ea typeface="黑体" panose="02010609060101010101" pitchFamily="49" charset="-122"/>
                <a:sym typeface="+mn-ea"/>
              </a:rPr>
              <a:t>横场伊辛模型中的自旋玻璃量子相变</a:t>
            </a:r>
            <a:endParaRPr lang="zh-CN" altLang="en-US" sz="3200" dirty="0">
              <a:solidFill>
                <a:srgbClr val="000000"/>
              </a:solidFill>
              <a:latin typeface="黑体" panose="02010609060101010101" pitchFamily="49" charset="-122"/>
              <a:ea typeface="黑体" panose="02010609060101010101" pitchFamily="49" charset="-122"/>
            </a:endParaRPr>
          </a:p>
        </p:txBody>
      </p:sp>
      <p:cxnSp>
        <p:nvCxnSpPr>
          <p:cNvPr id="3" name="直接连接符 2"/>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335280" y="1052830"/>
            <a:ext cx="5449570" cy="368300"/>
          </a:xfrm>
          <a:prstGeom prst="rect">
            <a:avLst/>
          </a:prstGeom>
          <a:noFill/>
        </p:spPr>
        <p:txBody>
          <a:bodyPr wrap="square" rtlCol="0">
            <a:spAutoFit/>
          </a:bodyPr>
          <a:lstStyle/>
          <a:p>
            <a:r>
              <a:rPr lang="zh-CN" altLang="en-US"/>
              <a:t>不同横场强度下的重叠分布</a:t>
            </a:r>
          </a:p>
        </p:txBody>
      </p:sp>
      <p:pic>
        <p:nvPicPr>
          <p:cNvPr id="4" name="图片 3" descr="P_q_L4_symmetrized"/>
          <p:cNvPicPr>
            <a:picLocks noChangeAspect="1"/>
          </p:cNvPicPr>
          <p:nvPr/>
        </p:nvPicPr>
        <p:blipFill>
          <a:blip r:embed="rId3"/>
          <a:srcRect r="33328"/>
          <a:stretch>
            <a:fillRect/>
          </a:stretch>
        </p:blipFill>
        <p:spPr>
          <a:xfrm>
            <a:off x="3680021" y="3861048"/>
            <a:ext cx="4872000" cy="2088000"/>
          </a:xfrm>
          <a:prstGeom prst="rect">
            <a:avLst/>
          </a:prstGeom>
        </p:spPr>
      </p:pic>
      <p:pic>
        <p:nvPicPr>
          <p:cNvPr id="15" name="图片 14" descr="P_q_L4_symmetrized"/>
          <p:cNvPicPr>
            <a:picLocks noChangeAspect="1"/>
          </p:cNvPicPr>
          <p:nvPr/>
        </p:nvPicPr>
        <p:blipFill>
          <a:blip r:embed="rId3"/>
          <a:srcRect l="66286"/>
          <a:stretch>
            <a:fillRect/>
          </a:stretch>
        </p:blipFill>
        <p:spPr>
          <a:xfrm>
            <a:off x="8525542" y="3861048"/>
            <a:ext cx="2463619" cy="2088000"/>
          </a:xfrm>
          <a:prstGeom prst="rect">
            <a:avLst/>
          </a:prstGeom>
        </p:spPr>
      </p:pic>
      <p:pic>
        <p:nvPicPr>
          <p:cNvPr id="5" name="图片 4">
            <a:extLst>
              <a:ext uri="{FF2B5EF4-FFF2-40B4-BE49-F238E27FC236}">
                <a16:creationId xmlns:a16="http://schemas.microsoft.com/office/drawing/2014/main" id="{04184E49-D59E-20C2-8088-C43B1129253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614305"/>
            <a:ext cx="12192000" cy="2069155"/>
          </a:xfrm>
          <a:prstGeom prst="rect">
            <a:avLst/>
          </a:prstGeom>
        </p:spPr>
      </p:pic>
      <p:sp>
        <p:nvSpPr>
          <p:cNvPr id="6" name="灯片编号占位符 5">
            <a:extLst>
              <a:ext uri="{FF2B5EF4-FFF2-40B4-BE49-F238E27FC236}">
                <a16:creationId xmlns:a16="http://schemas.microsoft.com/office/drawing/2014/main" id="{E6B91D6A-3E98-57CC-E795-9428A2198099}"/>
              </a:ext>
            </a:extLst>
          </p:cNvPr>
          <p:cNvSpPr>
            <a:spLocks noGrp="1"/>
          </p:cNvSpPr>
          <p:nvPr>
            <p:ph type="sldNum" sz="quarter" idx="12"/>
          </p:nvPr>
        </p:nvSpPr>
        <p:spPr/>
        <p:txBody>
          <a:bodyPr/>
          <a:lstStyle/>
          <a:p>
            <a:pPr>
              <a:defRPr/>
            </a:pPr>
            <a:fld id="{160EA27A-133F-45AA-8F39-06F9FC63F11A}" type="slidenum">
              <a:rPr lang="zh-CN" altLang="en-US" smtClean="0"/>
              <a:t>16</a:t>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263525" y="142875"/>
            <a:ext cx="8572500" cy="796925"/>
          </a:xfrm>
        </p:spPr>
        <p:txBody>
          <a:bodyPr>
            <a:normAutofit fontScale="90000"/>
          </a:bodyPr>
          <a:lstStyle/>
          <a:p>
            <a:r>
              <a:rPr lang="zh-CN" altLang="en-US" sz="3200" dirty="0">
                <a:solidFill>
                  <a:srgbClr val="000000"/>
                </a:solidFill>
                <a:latin typeface="黑体" panose="02010609060101010101" pitchFamily="49" charset="-122"/>
                <a:ea typeface="黑体" panose="02010609060101010101" pitchFamily="49" charset="-122"/>
                <a:sym typeface="+mn-ea"/>
              </a:rPr>
              <a:t>无定形</a:t>
            </a:r>
            <a:r>
              <a:rPr lang="en-US" altLang="zh-CN" sz="3200" dirty="0">
                <a:solidFill>
                  <a:srgbClr val="000000"/>
                </a:solidFill>
                <a:latin typeface="黑体" panose="02010609060101010101" pitchFamily="49" charset="-122"/>
                <a:ea typeface="黑体" panose="02010609060101010101" pitchFamily="49" charset="-122"/>
                <a:sym typeface="+mn-ea"/>
              </a:rPr>
              <a:t>Kagome</a:t>
            </a:r>
            <a:r>
              <a:rPr lang="zh-CN" altLang="en-US" sz="3200" dirty="0">
                <a:solidFill>
                  <a:srgbClr val="000000"/>
                </a:solidFill>
                <a:latin typeface="黑体" panose="02010609060101010101" pitchFamily="49" charset="-122"/>
                <a:ea typeface="黑体" panose="02010609060101010101" pitchFamily="49" charset="-122"/>
                <a:sym typeface="+mn-ea"/>
              </a:rPr>
              <a:t>横场伊辛模型中的自旋玻璃量子相变</a:t>
            </a:r>
            <a:endParaRPr lang="zh-CN" altLang="en-US" sz="3200" dirty="0">
              <a:solidFill>
                <a:srgbClr val="000000"/>
              </a:solidFill>
              <a:latin typeface="黑体" panose="02010609060101010101" pitchFamily="49" charset="-122"/>
              <a:ea typeface="黑体" panose="02010609060101010101" pitchFamily="49" charset="-122"/>
            </a:endParaRPr>
          </a:p>
        </p:txBody>
      </p:sp>
      <p:cxnSp>
        <p:nvCxnSpPr>
          <p:cNvPr id="3" name="直接连接符 2"/>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91135" y="1052830"/>
            <a:ext cx="10492740" cy="645160"/>
          </a:xfrm>
          <a:prstGeom prst="rect">
            <a:avLst/>
          </a:prstGeom>
          <a:noFill/>
        </p:spPr>
        <p:txBody>
          <a:bodyPr wrap="square" rtlCol="0">
            <a:spAutoFit/>
          </a:bodyPr>
          <a:lstStyle/>
          <a:p>
            <a:r>
              <a:rPr lang="zh-CN" altLang="en-US"/>
              <a:t>二、重叠矩阵：描述</a:t>
            </a:r>
            <a:r>
              <a:rPr lang="zh-CN" altLang="en-US">
                <a:sym typeface="+mn-ea"/>
              </a:rPr>
              <a:t>两次</a:t>
            </a:r>
            <a:r>
              <a:rPr lang="en-US" altLang="zh-CN">
                <a:sym typeface="+mn-ea"/>
              </a:rPr>
              <a:t>VMC</a:t>
            </a:r>
            <a:r>
              <a:rPr lang="zh-CN" altLang="en-US">
                <a:sym typeface="+mn-ea"/>
              </a:rPr>
              <a:t>运行后冻结构型的重叠度</a:t>
            </a:r>
            <a:endParaRPr lang="zh-CN" altLang="en-US"/>
          </a:p>
          <a:p>
            <a:endParaRPr lang="zh-CN" altLang="en-US"/>
          </a:p>
        </p:txBody>
      </p:sp>
      <p:sp>
        <p:nvSpPr>
          <p:cNvPr id="4" name="文本框 3"/>
          <p:cNvSpPr txBox="1"/>
          <p:nvPr/>
        </p:nvSpPr>
        <p:spPr>
          <a:xfrm>
            <a:off x="262890" y="2360930"/>
            <a:ext cx="11721465" cy="645160"/>
          </a:xfrm>
          <a:prstGeom prst="rect">
            <a:avLst/>
          </a:prstGeom>
          <a:noFill/>
        </p:spPr>
        <p:txBody>
          <a:bodyPr wrap="square" rtlCol="0">
            <a:spAutoFit/>
          </a:bodyPr>
          <a:lstStyle/>
          <a:p>
            <a:r>
              <a:rPr lang="zh-CN" altLang="en-US"/>
              <a:t>深红色</a:t>
            </a:r>
            <a:r>
              <a:rPr lang="en-US" altLang="zh-CN"/>
              <a:t>+1</a:t>
            </a:r>
            <a:r>
              <a:rPr lang="zh-CN" altLang="en-US"/>
              <a:t>：两次运行的冻结构型方向相同。深蓝色</a:t>
            </a:r>
            <a:r>
              <a:rPr lang="en-US" altLang="zh-CN"/>
              <a:t>-1</a:t>
            </a:r>
            <a:r>
              <a:rPr lang="zh-CN" altLang="en-US"/>
              <a:t>：两次运行的冻结构型方向相反。白色</a:t>
            </a:r>
            <a:r>
              <a:rPr lang="en-US" altLang="zh-CN"/>
              <a:t>0</a:t>
            </a:r>
            <a:r>
              <a:rPr lang="zh-CN" altLang="en-US"/>
              <a:t>：两次运行的冻结构型不相关。</a:t>
            </a:r>
          </a:p>
        </p:txBody>
      </p:sp>
      <p:pic>
        <p:nvPicPr>
          <p:cNvPr id="5" name="图片 4" descr="overlap_matrix_Gamma0.30_L4"/>
          <p:cNvPicPr/>
          <p:nvPr/>
        </p:nvPicPr>
        <p:blipFill>
          <a:blip r:embed="rId3"/>
          <a:stretch>
            <a:fillRect/>
          </a:stretch>
        </p:blipFill>
        <p:spPr>
          <a:xfrm>
            <a:off x="695325" y="3068320"/>
            <a:ext cx="2520000" cy="2160000"/>
          </a:xfrm>
          <a:prstGeom prst="rect">
            <a:avLst/>
          </a:prstGeom>
        </p:spPr>
      </p:pic>
      <mc:AlternateContent xmlns:mc="http://schemas.openxmlformats.org/markup-compatibility/2006" xmlns:a14="http://schemas.microsoft.com/office/drawing/2010/main">
        <mc:Choice Requires="a14">
          <p:sp>
            <p:nvSpPr>
              <p:cNvPr id="6" name="文本框 5"/>
              <p:cNvSpPr txBox="1"/>
              <p:nvPr/>
            </p:nvSpPr>
            <p:spPr>
              <a:xfrm>
                <a:off x="3935730" y="1341120"/>
                <a:ext cx="4046220" cy="957580"/>
              </a:xfrm>
              <a:prstGeom prst="rect">
                <a:avLst/>
              </a:prstGeom>
              <a:noFill/>
            </p:spPr>
            <p:txBody>
              <a:bodyPr wrap="square" rtlCol="0">
                <a:spAutoFit/>
              </a:bodyPr>
              <a:lstStyle/>
              <a:p>
                <a:pPr/>
                <a14:m>
                  <m:oMathPara xmlns:m="http://schemas.openxmlformats.org/officeDocument/2006/math">
                    <m:o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𝑞</m:t>
                          </m:r>
                        </m:e>
                        <m:sub>
                          <m:r>
                            <a:rPr lang="en-US" altLang="zh-CN" i="1">
                              <a:latin typeface="Cambria Math" panose="02040503050406030204" charset="0"/>
                              <a:cs typeface="Cambria Math" panose="02040503050406030204" charset="0"/>
                            </a:rPr>
                            <m:t>𝑘𝑙</m:t>
                          </m:r>
                        </m:sub>
                      </m:sSub>
                      <m:r>
                        <a:rPr lang="en-US" altLang="zh-CN" i="1">
                          <a:latin typeface="Cambria Math" panose="02040503050406030204" charset="0"/>
                          <a:cs typeface="Cambria Math" panose="02040503050406030204" charset="0"/>
                        </a:rPr>
                        <m:t>=</m:t>
                      </m:r>
                      <m:f>
                        <m:fPr>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𝑁</m:t>
                          </m:r>
                        </m:den>
                      </m:f>
                      <m:nary>
                        <m:naryPr>
                          <m:chr m:val="∑"/>
                          <m:limLoc m:val="undOvr"/>
                          <m:ctrlPr>
                            <a:rPr lang="en-US" altLang="zh-CN" i="1">
                              <a:latin typeface="Cambria Math" panose="02040503050406030204" charset="0"/>
                              <a:cs typeface="Cambria Math" panose="02040503050406030204" charset="0"/>
                            </a:rPr>
                          </m:ctrlPr>
                        </m:naryPr>
                        <m:sub>
                          <m:r>
                            <a:rPr lang="en-US" altLang="zh-CN" i="1">
                              <a:latin typeface="Cambria Math" panose="02040503050406030204" charset="0"/>
                              <a:cs typeface="Cambria Math" panose="02040503050406030204" charset="0"/>
                            </a:rPr>
                            <m:t>𝑖</m:t>
                          </m:r>
                          <m:r>
                            <a:rPr lang="en-US" altLang="zh-CN" i="1">
                              <a:latin typeface="Cambria Math" panose="02040503050406030204" charset="0"/>
                              <a:cs typeface="Cambria Math" panose="02040503050406030204" charset="0"/>
                            </a:rPr>
                            <m:t>=1</m:t>
                          </m:r>
                        </m:sub>
                        <m:sup>
                          <m:r>
                            <a:rPr lang="en-US" altLang="zh-CN" i="1">
                              <a:latin typeface="Cambria Math" panose="02040503050406030204" charset="0"/>
                              <a:cs typeface="Cambria Math" panose="02040503050406030204" charset="0"/>
                            </a:rPr>
                            <m:t>𝑁</m:t>
                          </m:r>
                        </m:sup>
                        <m:e>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𝜎</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𝑘</m:t>
                              </m:r>
                              <m:r>
                                <a:rPr lang="en-US" altLang="zh-CN" i="1">
                                  <a:latin typeface="Cambria Math" panose="02040503050406030204" charset="0"/>
                                  <a:cs typeface="Cambria Math" panose="02040503050406030204" charset="0"/>
                                </a:rPr>
                                <m:t>)</m:t>
                              </m:r>
                            </m:sup>
                          </m:sSubSup>
                        </m:e>
                      </m:nary>
                      <m:sSubSup>
                        <m:sSubSupPr>
                          <m:ctrlPr>
                            <a:rPr lang="en-US" altLang="zh-CN" i="1">
                              <a:latin typeface="Cambria Math" panose="02040503050406030204" charset="0"/>
                              <a:cs typeface="Cambria Math" panose="02040503050406030204" charset="0"/>
                            </a:rPr>
                          </m:ctrlPr>
                        </m:sSubSupPr>
                        <m:e>
                          <m:r>
                            <a:rPr lang="en-US" altLang="zh-CN" i="1">
                              <a:latin typeface="Cambria Math" panose="02040503050406030204" charset="0"/>
                              <a:cs typeface="Cambria Math" panose="02040503050406030204" charset="0"/>
                            </a:rPr>
                            <m:t>𝜎</m:t>
                          </m:r>
                        </m:e>
                        <m:sub>
                          <m:r>
                            <a:rPr lang="en-US" altLang="zh-CN" i="1">
                              <a:latin typeface="Cambria Math" panose="02040503050406030204" charset="0"/>
                              <a:cs typeface="Cambria Math" panose="02040503050406030204" charset="0"/>
                            </a:rPr>
                            <m:t>𝑖</m:t>
                          </m:r>
                        </m:sub>
                        <m: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𝑙</m:t>
                          </m:r>
                          <m:r>
                            <a:rPr lang="en-US" altLang="zh-CN" i="1">
                              <a:latin typeface="Cambria Math" panose="02040503050406030204" charset="0"/>
                              <a:cs typeface="Cambria Math" panose="02040503050406030204" charset="0"/>
                            </a:rPr>
                            <m:t>)</m:t>
                          </m:r>
                        </m:sup>
                      </m:sSubSup>
                    </m:oMath>
                  </m:oMathPara>
                </a14:m>
                <a:endParaRPr lang="zh-CN" altLang="en-US"/>
              </a:p>
            </p:txBody>
          </p:sp>
        </mc:Choice>
        <mc:Fallback xmlns="">
          <p:sp>
            <p:nvSpPr>
              <p:cNvPr id="6" name="文本框 5"/>
              <p:cNvSpPr txBox="1">
                <a:spLocks noRot="1" noChangeAspect="1" noMove="1" noResize="1" noEditPoints="1" noAdjustHandles="1" noChangeArrowheads="1" noChangeShapeType="1" noTextEdit="1"/>
              </p:cNvSpPr>
              <p:nvPr/>
            </p:nvSpPr>
            <p:spPr>
              <a:xfrm>
                <a:off x="3935730" y="1341120"/>
                <a:ext cx="4046220" cy="957580"/>
              </a:xfrm>
              <a:prstGeom prst="rect">
                <a:avLst/>
              </a:prstGeom>
              <a:blipFill rotWithShape="1">
                <a:blip r:embed="rId4"/>
                <a:stretch>
                  <a:fillRect/>
                </a:stretch>
              </a:blipFill>
            </p:spPr>
            <p:txBody>
              <a:bodyPr/>
              <a:lstStyle/>
              <a:p>
                <a:r>
                  <a:rPr lang="zh-CN" altLang="en-US">
                    <a:noFill/>
                  </a:rPr>
                  <a:t> </a:t>
                </a:r>
              </a:p>
            </p:txBody>
          </p:sp>
        </mc:Fallback>
      </mc:AlternateContent>
      <p:pic>
        <p:nvPicPr>
          <p:cNvPr id="7" name="图片 6" descr="overlap_matrix_Gamma0.85_L4"/>
          <p:cNvPicPr/>
          <p:nvPr/>
        </p:nvPicPr>
        <p:blipFill>
          <a:blip r:embed="rId5"/>
          <a:stretch>
            <a:fillRect/>
          </a:stretch>
        </p:blipFill>
        <p:spPr>
          <a:xfrm>
            <a:off x="4367530" y="3068955"/>
            <a:ext cx="2520000" cy="2160000"/>
          </a:xfrm>
          <a:prstGeom prst="rect">
            <a:avLst/>
          </a:prstGeom>
        </p:spPr>
      </p:pic>
      <p:pic>
        <p:nvPicPr>
          <p:cNvPr id="8" name="图片 7" descr="overlap_matrix_Gamma3.00_L4"/>
          <p:cNvPicPr/>
          <p:nvPr/>
        </p:nvPicPr>
        <p:blipFill>
          <a:blip r:embed="rId6"/>
          <a:stretch>
            <a:fillRect/>
          </a:stretch>
        </p:blipFill>
        <p:spPr>
          <a:xfrm>
            <a:off x="8183880" y="3068320"/>
            <a:ext cx="2520000" cy="2160000"/>
          </a:xfrm>
          <a:prstGeom prst="rect">
            <a:avLst/>
          </a:prstGeom>
        </p:spPr>
      </p:pic>
      <mc:AlternateContent xmlns:mc="http://schemas.openxmlformats.org/markup-compatibility/2006" xmlns:a14="http://schemas.microsoft.com/office/drawing/2010/main">
        <mc:Choice Requires="a14">
          <p:sp>
            <p:nvSpPr>
              <p:cNvPr id="9" name="文本框 8"/>
              <p:cNvSpPr txBox="1"/>
              <p:nvPr/>
            </p:nvSpPr>
            <p:spPr>
              <a:xfrm>
                <a:off x="191135" y="5229225"/>
                <a:ext cx="11364595" cy="368300"/>
              </a:xfrm>
              <a:prstGeom prst="rect">
                <a:avLst/>
              </a:prstGeom>
              <a:noFill/>
            </p:spPr>
            <p:txBody>
              <a:bodyPr wrap="square" rtlCol="0">
                <a:spAutoFit/>
              </a:bodyPr>
              <a:lstStyle/>
              <a:p>
                <a14:m>
                  <m:oMath xmlns:m="http://schemas.openxmlformats.org/officeDocument/2006/math">
                    <m:r>
                      <a:rPr lang="en-US" altLang="zh-CN" i="1">
                        <a:latin typeface="Cambria Math" panose="02040503050406030204" charset="0"/>
                        <a:cs typeface="Cambria Math" panose="02040503050406030204" charset="0"/>
                      </a:rPr>
                      <m:t>𝛤</m:t>
                    </m:r>
                    <m:r>
                      <a:rPr lang="en-US" altLang="zh-CN" i="1">
                        <a:latin typeface="Cambria Math" panose="02040503050406030204" charset="0"/>
                        <a:cs typeface="Cambria Math" panose="02040503050406030204" charset="0"/>
                      </a:rPr>
                      <m:t>=0.3</m:t>
                    </m:r>
                  </m:oMath>
                </a14:m>
                <a:r>
                  <a:rPr lang="zh-CN" altLang="en-US">
                    <a:latin typeface="Cambria Math" panose="02040503050406030204" charset="0"/>
                    <a:cs typeface="Cambria Math" panose="02040503050406030204" charset="0"/>
                  </a:rPr>
                  <a:t>，矩阵块颜色较深，系统深度冻结，构型之间关联性较大，存在不相同的基态构型。</a:t>
                </a:r>
              </a:p>
            </p:txBody>
          </p:sp>
        </mc:Choice>
        <mc:Fallback xmlns="">
          <p:sp>
            <p:nvSpPr>
              <p:cNvPr id="9" name="文本框 8"/>
              <p:cNvSpPr txBox="1">
                <a:spLocks noRot="1" noChangeAspect="1" noMove="1" noResize="1" noEditPoints="1" noAdjustHandles="1" noChangeArrowheads="1" noChangeShapeType="1" noTextEdit="1"/>
              </p:cNvSpPr>
              <p:nvPr/>
            </p:nvSpPr>
            <p:spPr>
              <a:xfrm>
                <a:off x="191135" y="5229225"/>
                <a:ext cx="11364595" cy="36830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91135" y="5589270"/>
                <a:ext cx="11364595" cy="368300"/>
              </a:xfrm>
              <a:prstGeom prst="rect">
                <a:avLst/>
              </a:prstGeom>
              <a:noFill/>
            </p:spPr>
            <p:txBody>
              <a:bodyPr wrap="square" rtlCol="0">
                <a:spAutoFit/>
              </a:bodyPr>
              <a:lstStyle/>
              <a:p>
                <a14:m>
                  <m:oMath xmlns:m="http://schemas.openxmlformats.org/officeDocument/2006/math">
                    <m:r>
                      <a:rPr lang="en-US" altLang="zh-CN" i="1">
                        <a:latin typeface="Cambria Math" panose="02040503050406030204" charset="0"/>
                        <a:cs typeface="Cambria Math" panose="02040503050406030204" charset="0"/>
                      </a:rPr>
                      <m:t>𝛤</m:t>
                    </m:r>
                    <m:r>
                      <a:rPr lang="en-US" altLang="zh-CN" i="1">
                        <a:latin typeface="Cambria Math" panose="02040503050406030204" charset="0"/>
                        <a:cs typeface="Cambria Math" panose="02040503050406030204" charset="0"/>
                      </a:rPr>
                      <m:t>=0.85</m:t>
                    </m:r>
                  </m:oMath>
                </a14:m>
                <a:r>
                  <a:rPr lang="zh-CN" altLang="en-US">
                    <a:latin typeface="Cambria Math" panose="02040503050406030204" charset="0"/>
                    <a:cs typeface="Cambria Math" panose="02040503050406030204" charset="0"/>
                  </a:rPr>
                  <a:t>，矩阵块颜色变浅，量子涨落增强，构型之间关联性减弱，</a:t>
                </a:r>
                <a:r>
                  <a:rPr lang="zh-CN" altLang="en-US">
                    <a:latin typeface="Cambria Math" panose="02040503050406030204" charset="0"/>
                    <a:cs typeface="Cambria Math" panose="02040503050406030204" charset="0"/>
                    <a:sym typeface="+mn-ea"/>
                  </a:rPr>
                  <a:t>存在不相同的基态构型。</a:t>
                </a:r>
                <a:endParaRPr lang="zh-CN" altLang="en-US">
                  <a:latin typeface="Cambria Math" panose="02040503050406030204" charset="0"/>
                  <a:cs typeface="Cambria Math" panose="02040503050406030204"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191135" y="5589270"/>
                <a:ext cx="11364595" cy="368300"/>
              </a:xfrm>
              <a:prstGeom prst="rect">
                <a:avLst/>
              </a:prstGeom>
              <a:blipFill rotWithShape="1">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191135" y="5957570"/>
                <a:ext cx="11364595" cy="368300"/>
              </a:xfrm>
              <a:prstGeom prst="rect">
                <a:avLst/>
              </a:prstGeom>
              <a:noFill/>
            </p:spPr>
            <p:txBody>
              <a:bodyPr wrap="square" rtlCol="0">
                <a:spAutoFit/>
              </a:bodyPr>
              <a:lstStyle/>
              <a:p>
                <a14:m>
                  <m:oMath xmlns:m="http://schemas.openxmlformats.org/officeDocument/2006/math">
                    <m:r>
                      <a:rPr lang="en-US" altLang="zh-CN" i="1">
                        <a:latin typeface="Cambria Math" panose="02040503050406030204" charset="0"/>
                        <a:cs typeface="Cambria Math" panose="02040503050406030204" charset="0"/>
                      </a:rPr>
                      <m:t>𝛤</m:t>
                    </m:r>
                    <m:r>
                      <a:rPr lang="en-US" altLang="zh-CN" i="1">
                        <a:latin typeface="Cambria Math" panose="02040503050406030204" charset="0"/>
                        <a:cs typeface="Cambria Math" panose="02040503050406030204" charset="0"/>
                      </a:rPr>
                      <m:t>=3</m:t>
                    </m:r>
                  </m:oMath>
                </a14:m>
                <a:r>
                  <a:rPr lang="zh-CN" altLang="en-US">
                    <a:latin typeface="Cambria Math" panose="02040503050406030204" charset="0"/>
                    <a:cs typeface="Cambria Math" panose="02040503050406030204" charset="0"/>
                  </a:rPr>
                  <a:t>，矩阵块颜色较浅，相同的基态构型增多，系统没有冻结。</a:t>
                </a:r>
              </a:p>
            </p:txBody>
          </p:sp>
        </mc:Choice>
        <mc:Fallback xmlns="">
          <p:sp>
            <p:nvSpPr>
              <p:cNvPr id="11" name="文本框 10"/>
              <p:cNvSpPr txBox="1">
                <a:spLocks noRot="1" noChangeAspect="1" noMove="1" noResize="1" noEditPoints="1" noAdjustHandles="1" noChangeArrowheads="1" noChangeShapeType="1" noTextEdit="1"/>
              </p:cNvSpPr>
              <p:nvPr/>
            </p:nvSpPr>
            <p:spPr>
              <a:xfrm>
                <a:off x="191135" y="5957570"/>
                <a:ext cx="11364595" cy="368300"/>
              </a:xfrm>
              <a:prstGeom prst="rect">
                <a:avLst/>
              </a:prstGeom>
              <a:blipFill rotWithShape="1">
                <a:blip r:embed="rId9"/>
                <a:stretch>
                  <a:fillRect/>
                </a:stretch>
              </a:blipFill>
            </p:spPr>
            <p:txBody>
              <a:bodyPr/>
              <a:lstStyle/>
              <a:p>
                <a:r>
                  <a:rPr lang="zh-CN" altLang="en-US">
                    <a:noFill/>
                  </a:rPr>
                  <a:t> </a:t>
                </a:r>
              </a:p>
            </p:txBody>
          </p:sp>
        </mc:Fallback>
      </mc:AlternateContent>
      <p:sp>
        <p:nvSpPr>
          <p:cNvPr id="12" name="灯片编号占位符 11">
            <a:extLst>
              <a:ext uri="{FF2B5EF4-FFF2-40B4-BE49-F238E27FC236}">
                <a16:creationId xmlns:a16="http://schemas.microsoft.com/office/drawing/2014/main" id="{751CBE7E-239E-51A8-8385-3C9F47927D94}"/>
              </a:ext>
            </a:extLst>
          </p:cNvPr>
          <p:cNvSpPr>
            <a:spLocks noGrp="1"/>
          </p:cNvSpPr>
          <p:nvPr>
            <p:ph type="sldNum" sz="quarter" idx="12"/>
          </p:nvPr>
        </p:nvSpPr>
        <p:spPr/>
        <p:txBody>
          <a:bodyPr/>
          <a:lstStyle/>
          <a:p>
            <a:pPr>
              <a:defRPr/>
            </a:pPr>
            <a:fld id="{160EA27A-133F-45AA-8F39-06F9FC63F11A}" type="slidenum">
              <a:rPr lang="zh-CN" altLang="en-US" smtClean="0"/>
              <a:t>17</a:t>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6990" y="188595"/>
            <a:ext cx="10678160" cy="583565"/>
          </a:xfrm>
          <a:prstGeom prst="rect">
            <a:avLst/>
          </a:prstGeom>
          <a:noFill/>
        </p:spPr>
        <p:txBody>
          <a:bodyPr wrap="square" rtlCol="0" anchor="t">
            <a:spAutoFit/>
          </a:bodyPr>
          <a:lstStyle/>
          <a:p>
            <a:r>
              <a:rPr lang="zh-CN" altLang="en-US" sz="3200" dirty="0">
                <a:solidFill>
                  <a:srgbClr val="000000"/>
                </a:solidFill>
                <a:latin typeface="黑体" panose="02010609060101010101" pitchFamily="49" charset="-122"/>
                <a:ea typeface="黑体" panose="02010609060101010101" pitchFamily="49" charset="-122"/>
                <a:sym typeface="+mn-ea"/>
              </a:rPr>
              <a:t>无定形</a:t>
            </a:r>
            <a:r>
              <a:rPr lang="en-US" altLang="zh-CN" sz="3200" dirty="0">
                <a:solidFill>
                  <a:srgbClr val="000000"/>
                </a:solidFill>
                <a:latin typeface="黑体" panose="02010609060101010101" pitchFamily="49" charset="-122"/>
                <a:ea typeface="黑体" panose="02010609060101010101" pitchFamily="49" charset="-122"/>
                <a:sym typeface="+mn-ea"/>
              </a:rPr>
              <a:t>Kagome</a:t>
            </a:r>
            <a:r>
              <a:rPr lang="zh-CN" altLang="en-US" sz="3200" dirty="0">
                <a:solidFill>
                  <a:srgbClr val="000000"/>
                </a:solidFill>
                <a:latin typeface="黑体" panose="02010609060101010101" pitchFamily="49" charset="-122"/>
                <a:ea typeface="黑体" panose="02010609060101010101" pitchFamily="49" charset="-122"/>
                <a:sym typeface="+mn-ea"/>
              </a:rPr>
              <a:t>横场伊辛模型中的自旋玻璃量子相变</a:t>
            </a:r>
          </a:p>
        </p:txBody>
      </p:sp>
      <mc:AlternateContent xmlns:mc="http://schemas.openxmlformats.org/markup-compatibility/2006" xmlns:a14="http://schemas.microsoft.com/office/drawing/2010/main">
        <mc:Choice Requires="a14">
          <p:sp>
            <p:nvSpPr>
              <p:cNvPr id="6" name="文本框 5"/>
              <p:cNvSpPr txBox="1"/>
              <p:nvPr/>
            </p:nvSpPr>
            <p:spPr>
              <a:xfrm>
                <a:off x="262890" y="1125220"/>
                <a:ext cx="11033125" cy="652780"/>
              </a:xfrm>
              <a:prstGeom prst="rect">
                <a:avLst/>
              </a:prstGeom>
              <a:noFill/>
            </p:spPr>
            <p:txBody>
              <a:bodyPr wrap="square" rtlCol="0">
                <a:spAutoFit/>
              </a:bodyPr>
              <a:lstStyle/>
              <a:p>
                <a:r>
                  <a:rPr lang="en-US" altLang="zh-CN"/>
                  <a:t>Γ&gt;2</a:t>
                </a:r>
                <a:r>
                  <a:rPr lang="zh-CN" altLang="en-US"/>
                  <a:t>，</a:t>
                </a:r>
                <a14:m>
                  <m:oMath xmlns:m="http://schemas.openxmlformats.org/officeDocument/2006/math">
                    <m:d>
                      <m:dPr>
                        <m:begChr m:val="〈"/>
                        <m:endChr m:val="〉"/>
                        <m:ctrlPr>
                          <a:rPr lang="en-US" altLang="zh-CN" i="1">
                            <a:latin typeface="Cambria Math" panose="02040503050406030204" pitchFamily="18" charset="0"/>
                            <a:cs typeface="Cambria Math" panose="02040503050406030204" charset="0"/>
                          </a:rPr>
                        </m:ctrlPr>
                      </m:dPr>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𝑞</m:t>
                            </m:r>
                          </m:e>
                          <m:sup>
                            <m:r>
                              <a:rPr lang="en-US" altLang="zh-CN" i="1">
                                <a:latin typeface="Cambria Math" panose="02040503050406030204" charset="0"/>
                                <a:cs typeface="Cambria Math" panose="02040503050406030204" charset="0"/>
                              </a:rPr>
                              <m:t>2</m:t>
                            </m:r>
                          </m:sup>
                        </m:sSup>
                      </m:e>
                    </m:d>
                  </m:oMath>
                </a14:m>
                <a:r>
                  <a:rPr lang="zh-CN" altLang="en-US">
                    <a:latin typeface="Cambria Math" panose="02040503050406030204" charset="0"/>
                    <a:cs typeface="Cambria Math" panose="02040503050406030204" charset="0"/>
                  </a:rPr>
                  <a:t>接近</a:t>
                </a:r>
                <a14:m>
                  <m:oMath xmlns:m="http://schemas.openxmlformats.org/officeDocument/2006/math">
                    <m:f>
                      <m:fPr>
                        <m:type m:val="lin"/>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𝑁</m:t>
                        </m:r>
                      </m:den>
                    </m:f>
                  </m:oMath>
                </a14:m>
                <a:r>
                  <a:rPr lang="zh-CN" altLang="en-US">
                    <a:latin typeface="Cambria Math" panose="02040503050406030204" charset="0"/>
                    <a:cs typeface="Cambria Math" panose="02040503050406030204" charset="0"/>
                  </a:rPr>
                  <a:t>，表现为顺磁相；</a:t>
                </a:r>
                <a:r>
                  <a:rPr lang="en-US" altLang="zh-CN">
                    <a:latin typeface="Cambria Math" panose="02040503050406030204" charset="0"/>
                    <a:cs typeface="Cambria Math" panose="02040503050406030204" charset="0"/>
                  </a:rPr>
                  <a:t>0.8&lt;</a:t>
                </a:r>
                <a:r>
                  <a:rPr lang="en-US" altLang="zh-CN">
                    <a:sym typeface="+mn-ea"/>
                  </a:rPr>
                  <a:t>Γ&lt;0.9</a:t>
                </a:r>
                <a:r>
                  <a:rPr lang="zh-CN" altLang="en-US">
                    <a:sym typeface="+mn-ea"/>
                  </a:rPr>
                  <a:t>，曲线斜率最大，接近临界点；</a:t>
                </a:r>
                <a:r>
                  <a:rPr lang="en-US" altLang="zh-CN">
                    <a:sym typeface="+mn-ea"/>
                  </a:rPr>
                  <a:t>Γ&lt;0.6</a:t>
                </a:r>
                <a:r>
                  <a:rPr lang="zh-CN" altLang="en-US">
                    <a:sym typeface="+mn-ea"/>
                  </a:rPr>
                  <a:t>，</a:t>
                </a:r>
                <a14:m>
                  <m:oMath xmlns:m="http://schemas.openxmlformats.org/officeDocument/2006/math">
                    <m:d>
                      <m:dPr>
                        <m:begChr m:val="〈"/>
                        <m:endChr m:val="〉"/>
                        <m:ctrlPr>
                          <a:rPr lang="en-US" altLang="zh-CN" i="1">
                            <a:latin typeface="Cambria Math" panose="02040503050406030204" pitchFamily="18" charset="0"/>
                            <a:cs typeface="Cambria Math" panose="02040503050406030204" charset="0"/>
                          </a:rPr>
                        </m:ctrlPr>
                      </m:dPr>
                      <m:e>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𝑞</m:t>
                            </m:r>
                          </m:e>
                          <m:sup>
                            <m:r>
                              <a:rPr lang="en-US" altLang="zh-CN" i="1">
                                <a:latin typeface="Cambria Math" panose="02040503050406030204" charset="0"/>
                                <a:cs typeface="Cambria Math" panose="02040503050406030204" charset="0"/>
                              </a:rPr>
                              <m:t>2</m:t>
                            </m:r>
                          </m:sup>
                        </m:sSup>
                      </m:e>
                    </m:d>
                  </m:oMath>
                </a14:m>
                <a:r>
                  <a:rPr lang="zh-CN" altLang="en-US">
                    <a:latin typeface="Cambria Math" panose="02040503050406030204" charset="0"/>
                    <a:cs typeface="Cambria Math" panose="02040503050406030204" charset="0"/>
                  </a:rPr>
                  <a:t>远大于</a:t>
                </a:r>
                <a14:m>
                  <m:oMath xmlns:m="http://schemas.openxmlformats.org/officeDocument/2006/math">
                    <m:f>
                      <m:fPr>
                        <m:type m:val="lin"/>
                        <m:ctrlPr>
                          <a:rPr lang="en-US" altLang="zh-CN" i="1">
                            <a:latin typeface="Cambria Math" panose="02040503050406030204" charset="0"/>
                            <a:cs typeface="Cambria Math" panose="02040503050406030204" charset="0"/>
                          </a:rPr>
                        </m:ctrlPr>
                      </m:fPr>
                      <m:num>
                        <m:r>
                          <a:rPr lang="en-US" altLang="zh-CN" i="1">
                            <a:latin typeface="Cambria Math" panose="02040503050406030204" charset="0"/>
                            <a:cs typeface="Cambria Math" panose="02040503050406030204" charset="0"/>
                          </a:rPr>
                          <m:t>1</m:t>
                        </m:r>
                      </m:num>
                      <m:den>
                        <m:r>
                          <a:rPr lang="en-US" altLang="zh-CN" i="1">
                            <a:latin typeface="Cambria Math" panose="02040503050406030204" charset="0"/>
                            <a:cs typeface="Cambria Math" panose="02040503050406030204" charset="0"/>
                          </a:rPr>
                          <m:t>𝑁</m:t>
                        </m:r>
                      </m:den>
                    </m:f>
                  </m:oMath>
                </a14:m>
                <a:r>
                  <a:rPr lang="zh-CN" altLang="en-US">
                    <a:latin typeface="Cambria Math" panose="02040503050406030204" charset="0"/>
                    <a:cs typeface="Cambria Math" panose="02040503050406030204" charset="0"/>
                  </a:rPr>
                  <a:t>，表现为自旋玻璃相。</a:t>
                </a:r>
              </a:p>
            </p:txBody>
          </p:sp>
        </mc:Choice>
        <mc:Fallback xmlns="">
          <p:sp>
            <p:nvSpPr>
              <p:cNvPr id="6" name="文本框 5"/>
              <p:cNvSpPr txBox="1">
                <a:spLocks noRot="1" noChangeAspect="1" noMove="1" noResize="1" noEditPoints="1" noAdjustHandles="1" noChangeArrowheads="1" noChangeShapeType="1" noTextEdit="1"/>
              </p:cNvSpPr>
              <p:nvPr/>
            </p:nvSpPr>
            <p:spPr>
              <a:xfrm>
                <a:off x="262890" y="1125220"/>
                <a:ext cx="11033125" cy="652780"/>
              </a:xfrm>
              <a:prstGeom prst="rect">
                <a:avLst/>
              </a:prstGeom>
              <a:blipFill rotWithShape="1">
                <a:blip r:embed="rId3"/>
                <a:stretch>
                  <a:fillRect/>
                </a:stretch>
              </a:blipFill>
            </p:spPr>
            <p:txBody>
              <a:bodyPr/>
              <a:lstStyle/>
              <a:p>
                <a:r>
                  <a:rPr lang="zh-CN" altLang="en-US">
                    <a:noFill/>
                  </a:rPr>
                  <a:t> </a:t>
                </a:r>
              </a:p>
            </p:txBody>
          </p:sp>
        </mc:Fallback>
      </mc:AlternateContent>
      <p:pic>
        <p:nvPicPr>
          <p:cNvPr id="2" name="图片 1" descr="q2_vs_Gamma_L4"/>
          <p:cNvPicPr>
            <a:picLocks noChangeAspect="1"/>
          </p:cNvPicPr>
          <p:nvPr/>
        </p:nvPicPr>
        <p:blipFill>
          <a:blip r:embed="rId4"/>
          <a:stretch>
            <a:fillRect/>
          </a:stretch>
        </p:blipFill>
        <p:spPr>
          <a:xfrm>
            <a:off x="479425" y="1778000"/>
            <a:ext cx="3490595" cy="2894965"/>
          </a:xfrm>
          <a:prstGeom prst="rect">
            <a:avLst/>
          </a:prstGeom>
        </p:spPr>
      </p:pic>
      <mc:AlternateContent xmlns:mc="http://schemas.openxmlformats.org/markup-compatibility/2006" xmlns:a14="http://schemas.microsoft.com/office/drawing/2010/main">
        <mc:Choice Requires="a14">
          <p:sp>
            <p:nvSpPr>
              <p:cNvPr id="12" name="文本框 11"/>
              <p:cNvSpPr txBox="1"/>
              <p:nvPr/>
            </p:nvSpPr>
            <p:spPr>
              <a:xfrm>
                <a:off x="598170" y="5170006"/>
                <a:ext cx="10995660" cy="923290"/>
              </a:xfrm>
              <a:prstGeom prst="rect">
                <a:avLst/>
              </a:prstGeom>
              <a:noFill/>
            </p:spPr>
            <p:txBody>
              <a:bodyPr wrap="square" rtlCol="0">
                <a:spAutoFit/>
              </a:bodyPr>
              <a:lstStyle/>
              <a:p>
                <a:r>
                  <a:rPr lang="zh-CN" altLang="en-US"/>
                  <a:t>小横场对应</a:t>
                </a:r>
                <a14:m>
                  <m:oMath xmlns:m="http://schemas.openxmlformats.org/officeDocument/2006/math">
                    <m:sSub>
                      <m:sSubPr>
                        <m:ctrlPr>
                          <a:rPr lang="en-US" altLang="zh-CN" i="1">
                            <a:latin typeface="Cambria Math" panose="02040503050406030204" charset="0"/>
                            <a:cs typeface="Cambria Math" panose="02040503050406030204" charset="0"/>
                          </a:rPr>
                        </m:ctrlPr>
                      </m:sSubPr>
                      <m:e>
                        <m:r>
                          <a:rPr lang="en-US" altLang="zh-CN" i="1">
                            <a:latin typeface="Cambria Math" panose="02040503050406030204" charset="0"/>
                            <a:cs typeface="Cambria Math" panose="02040503050406030204" charset="0"/>
                          </a:rPr>
                          <m:t>𝐽</m:t>
                        </m:r>
                      </m:e>
                      <m:sub>
                        <m:r>
                          <a:rPr lang="en-US" altLang="zh-CN" i="1">
                            <a:latin typeface="Cambria Math" panose="02040503050406030204" charset="0"/>
                            <a:cs typeface="Cambria Math" panose="02040503050406030204" charset="0"/>
                          </a:rPr>
                          <m:t>𝑖𝑗</m:t>
                        </m:r>
                      </m:sub>
                    </m:sSub>
                  </m:oMath>
                </a14:m>
                <a:r>
                  <a:rPr lang="zh-CN" altLang="en-US">
                    <a:latin typeface="Cambria Math" panose="02040503050406030204" charset="0"/>
                    <a:cs typeface="Cambria Math" panose="02040503050406030204" charset="0"/>
                  </a:rPr>
                  <a:t>主导，位置无序使每个格点受到的局域阻挫程度和有效场各不相同，自旋随机冻结，即表现为自旋玻璃相。</a:t>
                </a:r>
              </a:p>
              <a:p>
                <a:r>
                  <a:rPr lang="zh-CN" altLang="en-US">
                    <a:latin typeface="Cambria Math" panose="02040503050406030204" charset="0"/>
                    <a:cs typeface="Cambria Math" panose="02040503050406030204" charset="0"/>
                  </a:rPr>
                  <a:t>大横场对应横场项主导，自旋快速翻转，量子涨落抹平局域有序，即表现为顺磁相。</a:t>
                </a:r>
              </a:p>
            </p:txBody>
          </p:sp>
        </mc:Choice>
        <mc:Fallback xmlns="">
          <p:sp>
            <p:nvSpPr>
              <p:cNvPr id="12" name="文本框 11"/>
              <p:cNvSpPr txBox="1">
                <a:spLocks noRot="1" noChangeAspect="1" noMove="1" noResize="1" noEditPoints="1" noAdjustHandles="1" noChangeArrowheads="1" noChangeShapeType="1" noTextEdit="1"/>
              </p:cNvSpPr>
              <p:nvPr/>
            </p:nvSpPr>
            <p:spPr>
              <a:xfrm>
                <a:off x="598170" y="5170006"/>
                <a:ext cx="10995660" cy="923290"/>
              </a:xfrm>
              <a:prstGeom prst="rect">
                <a:avLst/>
              </a:prstGeom>
              <a:blipFill>
                <a:blip r:embed="rId5"/>
                <a:stretch>
                  <a:fillRect l="-443" t="-2632" b="-11842"/>
                </a:stretch>
              </a:blipFill>
            </p:spPr>
            <p:txBody>
              <a:bodyPr/>
              <a:lstStyle/>
              <a:p>
                <a:r>
                  <a:rPr lang="zh-CN" altLang="en-US">
                    <a:noFill/>
                  </a:rPr>
                  <a:t> </a:t>
                </a:r>
              </a:p>
            </p:txBody>
          </p:sp>
        </mc:Fallback>
      </mc:AlternateContent>
      <p:sp>
        <p:nvSpPr>
          <p:cNvPr id="13" name="文本框 12"/>
          <p:cNvSpPr txBox="1"/>
          <p:nvPr/>
        </p:nvSpPr>
        <p:spPr>
          <a:xfrm>
            <a:off x="650240" y="6184265"/>
            <a:ext cx="10074910" cy="306705"/>
          </a:xfrm>
          <a:prstGeom prst="rect">
            <a:avLst/>
          </a:prstGeom>
          <a:noFill/>
        </p:spPr>
        <p:txBody>
          <a:bodyPr wrap="square" rtlCol="0">
            <a:spAutoFit/>
          </a:bodyPr>
          <a:lstStyle/>
          <a:p>
            <a:r>
              <a:rPr lang="zh-CN" altLang="en-US" sz="1400"/>
              <a:t>参考文献：</a:t>
            </a:r>
            <a:r>
              <a:rPr lang="en-US" altLang="zh-CN" sz="1400"/>
              <a:t>Spin-glass quantum phase transition in amorphous arrays of Rydberg atoms</a:t>
            </a:r>
            <a:r>
              <a:rPr lang="zh-CN" altLang="en-US" sz="1400"/>
              <a:t>（并非复现文章，仅作参考）</a:t>
            </a:r>
          </a:p>
        </p:txBody>
      </p:sp>
      <p:pic>
        <p:nvPicPr>
          <p:cNvPr id="14" name="图片 13"/>
          <p:cNvPicPr>
            <a:picLocks noChangeAspect="1"/>
          </p:cNvPicPr>
          <p:nvPr/>
        </p:nvPicPr>
        <p:blipFill>
          <a:blip r:embed="rId6"/>
          <a:stretch>
            <a:fillRect/>
          </a:stretch>
        </p:blipFill>
        <p:spPr>
          <a:xfrm>
            <a:off x="4079875" y="1844675"/>
            <a:ext cx="3714750" cy="2730500"/>
          </a:xfrm>
          <a:prstGeom prst="rect">
            <a:avLst/>
          </a:prstGeom>
        </p:spPr>
      </p:pic>
      <p:pic>
        <p:nvPicPr>
          <p:cNvPr id="15" name="图片 14" descr="屏幕截图 2026-09-17 192848"/>
          <p:cNvPicPr>
            <a:picLocks noChangeAspect="1"/>
          </p:cNvPicPr>
          <p:nvPr/>
        </p:nvPicPr>
        <p:blipFill>
          <a:blip r:embed="rId7"/>
          <a:stretch>
            <a:fillRect/>
          </a:stretch>
        </p:blipFill>
        <p:spPr>
          <a:xfrm>
            <a:off x="7967980" y="2420620"/>
            <a:ext cx="3524250" cy="1085850"/>
          </a:xfrm>
          <a:prstGeom prst="rect">
            <a:avLst/>
          </a:prstGeom>
        </p:spPr>
      </p:pic>
      <p:sp>
        <p:nvSpPr>
          <p:cNvPr id="16" name="文本框 15"/>
          <p:cNvSpPr txBox="1"/>
          <p:nvPr/>
        </p:nvSpPr>
        <p:spPr>
          <a:xfrm>
            <a:off x="8328025" y="3644900"/>
            <a:ext cx="3439160" cy="337185"/>
          </a:xfrm>
          <a:prstGeom prst="rect">
            <a:avLst/>
          </a:prstGeom>
          <a:noFill/>
        </p:spPr>
        <p:txBody>
          <a:bodyPr wrap="square" rtlCol="0">
            <a:spAutoFit/>
          </a:bodyPr>
          <a:lstStyle/>
          <a:p>
            <a:r>
              <a:rPr lang="zh-CN" altLang="en-US" sz="1600">
                <a:latin typeface="Cambria Math" panose="02040503050406030204" charset="0"/>
                <a:cs typeface="Cambria Math" panose="02040503050406030204" charset="0"/>
                <a:sym typeface="+mn-ea"/>
              </a:rPr>
              <a:t>参考文献给出的相变点</a:t>
            </a:r>
            <a:r>
              <a:rPr lang="en-US" altLang="zh-CN" sz="1600">
                <a:latin typeface="Cambria Math" panose="02040503050406030204" charset="0"/>
                <a:cs typeface="Cambria Math" panose="02040503050406030204" charset="0"/>
                <a:sym typeface="+mn-ea"/>
              </a:rPr>
              <a:t>0.864</a:t>
            </a:r>
            <a:endParaRPr lang="zh-CN" altLang="en-US" sz="1600"/>
          </a:p>
        </p:txBody>
      </p:sp>
      <mc:AlternateContent xmlns:mc="http://schemas.openxmlformats.org/markup-compatibility/2006" xmlns:a14="http://schemas.microsoft.com/office/drawing/2010/main">
        <mc:Choice Requires="a14">
          <p:sp>
            <p:nvSpPr>
              <p:cNvPr id="17" name="文本框 16"/>
              <p:cNvSpPr txBox="1"/>
              <p:nvPr/>
            </p:nvSpPr>
            <p:spPr>
              <a:xfrm>
                <a:off x="4871720" y="4524375"/>
                <a:ext cx="3439160" cy="396240"/>
              </a:xfrm>
              <a:prstGeom prst="rect">
                <a:avLst/>
              </a:prstGeom>
              <a:noFill/>
            </p:spPr>
            <p:txBody>
              <a:bodyPr wrap="square" rtlCol="0">
                <a:spAutoFit/>
              </a:bodyPr>
              <a:lstStyle/>
              <a:p>
                <a:r>
                  <a:rPr lang="zh-CN" altLang="en-US" sz="1600">
                    <a:latin typeface="Cambria Math" panose="02040503050406030204" charset="0"/>
                    <a:cs typeface="Cambria Math" panose="02040503050406030204" charset="0"/>
                    <a:sym typeface="+mn-ea"/>
                  </a:rPr>
                  <a:t>参考文献的</a:t>
                </a:r>
                <a14:m>
                  <m:oMath xmlns:m="http://schemas.openxmlformats.org/officeDocument/2006/math">
                    <m:d>
                      <m:dPr>
                        <m:begChr m:val="〈"/>
                        <m:endChr m:val="〉"/>
                        <m:ctrlPr>
                          <a:rPr lang="en-US" altLang="zh-CN" sz="1600" i="1">
                            <a:latin typeface="Cambria Math" panose="02040503050406030204" pitchFamily="18" charset="0"/>
                            <a:cs typeface="Cambria Math" panose="02040503050406030204" charset="0"/>
                          </a:rPr>
                        </m:ctrlPr>
                      </m:dPr>
                      <m:e>
                        <m:sSup>
                          <m:sSupPr>
                            <m:ctrlPr>
                              <a:rPr lang="en-US" altLang="zh-CN" sz="1600" i="1">
                                <a:latin typeface="Cambria Math" panose="02040503050406030204" charset="0"/>
                                <a:cs typeface="Cambria Math" panose="02040503050406030204" charset="0"/>
                              </a:rPr>
                            </m:ctrlPr>
                          </m:sSupPr>
                          <m:e>
                            <m:r>
                              <a:rPr lang="en-US" altLang="zh-CN" sz="1600" i="1">
                                <a:latin typeface="Cambria Math" panose="02040503050406030204" charset="0"/>
                                <a:cs typeface="Cambria Math" panose="02040503050406030204" charset="0"/>
                              </a:rPr>
                              <m:t>𝑞</m:t>
                            </m:r>
                          </m:e>
                          <m:sup>
                            <m:r>
                              <a:rPr lang="en-US" altLang="zh-CN" sz="1600" i="1">
                                <a:latin typeface="Cambria Math" panose="02040503050406030204" charset="0"/>
                                <a:cs typeface="Cambria Math" panose="02040503050406030204" charset="0"/>
                              </a:rPr>
                              <m:t>2</m:t>
                            </m:r>
                          </m:sup>
                        </m:sSup>
                      </m:e>
                    </m:d>
                    <m:r>
                      <a:rPr lang="en-US" altLang="zh-CN" sz="1600" i="1">
                        <a:latin typeface="Cambria Math" panose="02040503050406030204" charset="0"/>
                        <a:cs typeface="Cambria Math" panose="02040503050406030204" charset="0"/>
                      </a:rPr>
                      <m:t>·</m:t>
                    </m:r>
                    <m:sSup>
                      <m:sSupPr>
                        <m:ctrlPr>
                          <a:rPr lang="en-US" altLang="zh-CN" sz="1600" i="1">
                            <a:latin typeface="Cambria Math" panose="02040503050406030204" charset="0"/>
                            <a:cs typeface="Cambria Math" panose="02040503050406030204" charset="0"/>
                          </a:rPr>
                        </m:ctrlPr>
                      </m:sSupPr>
                      <m:e>
                        <m:r>
                          <a:rPr lang="en-US" altLang="zh-CN" sz="1600" i="1">
                            <a:latin typeface="Cambria Math" panose="02040503050406030204" charset="0"/>
                            <a:cs typeface="Cambria Math" panose="02040503050406030204" charset="0"/>
                          </a:rPr>
                          <m:t>𝐿</m:t>
                        </m:r>
                      </m:e>
                      <m:sup>
                        <m:r>
                          <a:rPr lang="en-US" altLang="zh-CN" sz="1600" i="1">
                            <a:latin typeface="Cambria Math" panose="02040503050406030204" charset="0"/>
                            <a:cs typeface="Cambria Math" panose="02040503050406030204" charset="0"/>
                          </a:rPr>
                          <m:t>𝑏𝑞</m:t>
                        </m:r>
                      </m:sup>
                    </m:sSup>
                  </m:oMath>
                </a14:m>
                <a:r>
                  <a:rPr lang="zh-CN" altLang="en-US" sz="1600">
                    <a:latin typeface="Cambria Math" panose="02040503050406030204" charset="0"/>
                    <a:cs typeface="Cambria Math" panose="02040503050406030204" charset="0"/>
                    <a:sym typeface="+mn-ea"/>
                  </a:rPr>
                  <a:t>。</a:t>
                </a:r>
                <a:endParaRPr lang="zh-CN" altLang="en-US" sz="1600"/>
              </a:p>
            </p:txBody>
          </p:sp>
        </mc:Choice>
        <mc:Fallback xmlns="">
          <p:sp>
            <p:nvSpPr>
              <p:cNvPr id="17" name="文本框 16"/>
              <p:cNvSpPr txBox="1">
                <a:spLocks noRot="1" noChangeAspect="1" noMove="1" noResize="1" noEditPoints="1" noAdjustHandles="1" noChangeArrowheads="1" noChangeShapeType="1" noTextEdit="1"/>
              </p:cNvSpPr>
              <p:nvPr/>
            </p:nvSpPr>
            <p:spPr>
              <a:xfrm>
                <a:off x="4871720" y="4524375"/>
                <a:ext cx="3439160" cy="396240"/>
              </a:xfrm>
              <a:prstGeom prst="rect">
                <a:avLst/>
              </a:prstGeom>
              <a:blipFill rotWithShape="1">
                <a:blip r:embed="rId8"/>
                <a:stretch>
                  <a:fillRect/>
                </a:stretch>
              </a:blipFill>
            </p:spPr>
            <p:txBody>
              <a:bodyPr/>
              <a:lstStyle/>
              <a:p>
                <a:r>
                  <a:rPr lang="zh-CN" altLang="en-US">
                    <a:noFill/>
                  </a:rPr>
                  <a:t> </a:t>
                </a:r>
              </a:p>
            </p:txBody>
          </p:sp>
        </mc:Fallback>
      </mc:AlternateContent>
      <p:sp>
        <p:nvSpPr>
          <p:cNvPr id="18" name="文本框 17"/>
          <p:cNvSpPr txBox="1"/>
          <p:nvPr/>
        </p:nvSpPr>
        <p:spPr>
          <a:xfrm>
            <a:off x="1703705" y="4710430"/>
            <a:ext cx="3439160" cy="337185"/>
          </a:xfrm>
          <a:prstGeom prst="rect">
            <a:avLst/>
          </a:prstGeom>
          <a:noFill/>
        </p:spPr>
        <p:txBody>
          <a:bodyPr wrap="square" rtlCol="0">
            <a:spAutoFit/>
          </a:bodyPr>
          <a:lstStyle/>
          <a:p>
            <a:r>
              <a:rPr lang="zh-CN" altLang="en-US" sz="1600"/>
              <a:t>模拟曲线</a:t>
            </a:r>
          </a:p>
        </p:txBody>
      </p:sp>
      <p:sp>
        <p:nvSpPr>
          <p:cNvPr id="5" name="灯片编号占位符 4">
            <a:extLst>
              <a:ext uri="{FF2B5EF4-FFF2-40B4-BE49-F238E27FC236}">
                <a16:creationId xmlns:a16="http://schemas.microsoft.com/office/drawing/2014/main" id="{3ABD8E60-E1F6-4DDD-0792-EF252D6C546B}"/>
              </a:ext>
            </a:extLst>
          </p:cNvPr>
          <p:cNvSpPr>
            <a:spLocks noGrp="1"/>
          </p:cNvSpPr>
          <p:nvPr>
            <p:ph type="sldNum" sz="quarter" idx="12"/>
          </p:nvPr>
        </p:nvSpPr>
        <p:spPr/>
        <p:txBody>
          <a:bodyPr/>
          <a:lstStyle/>
          <a:p>
            <a:pPr>
              <a:defRPr/>
            </a:pPr>
            <a:fld id="{160EA27A-133F-45AA-8F39-06F9FC63F11A}" type="slidenum">
              <a:rPr lang="zh-CN" altLang="en-US" smtClean="0"/>
              <a:t>18</a:t>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156000" y="939800"/>
            <a:ext cx="1188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Rectangle 2"/>
          <p:cNvSpPr>
            <a:spLocks noGrp="1"/>
          </p:cNvSpPr>
          <p:nvPr>
            <p:ph type="title"/>
          </p:nvPr>
        </p:nvSpPr>
        <p:spPr>
          <a:xfrm>
            <a:off x="263525" y="142875"/>
            <a:ext cx="8572500" cy="796925"/>
          </a:xfrm>
        </p:spPr>
        <p:txBody>
          <a:bodyPr>
            <a:normAutofit fontScale="90000"/>
          </a:bodyPr>
          <a:lstStyle/>
          <a:p>
            <a:r>
              <a:rPr lang="zh-CN" altLang="en-US" sz="3200" dirty="0">
                <a:solidFill>
                  <a:srgbClr val="000000"/>
                </a:solidFill>
                <a:latin typeface="黑体" panose="02010609060101010101" pitchFamily="49" charset="-122"/>
                <a:ea typeface="黑体" panose="02010609060101010101" pitchFamily="49" charset="-122"/>
                <a:sym typeface="+mn-ea"/>
              </a:rPr>
              <a:t>无定形</a:t>
            </a:r>
            <a:r>
              <a:rPr lang="en-US" altLang="zh-CN" sz="3200" dirty="0">
                <a:solidFill>
                  <a:srgbClr val="000000"/>
                </a:solidFill>
                <a:latin typeface="黑体" panose="02010609060101010101" pitchFamily="49" charset="-122"/>
                <a:ea typeface="黑体" panose="02010609060101010101" pitchFamily="49" charset="-122"/>
                <a:sym typeface="+mn-ea"/>
              </a:rPr>
              <a:t>Kagome</a:t>
            </a:r>
            <a:r>
              <a:rPr lang="zh-CN" altLang="en-US" sz="3200" dirty="0">
                <a:solidFill>
                  <a:srgbClr val="000000"/>
                </a:solidFill>
                <a:latin typeface="黑体" panose="02010609060101010101" pitchFamily="49" charset="-122"/>
                <a:ea typeface="黑体" panose="02010609060101010101" pitchFamily="49" charset="-122"/>
                <a:sym typeface="+mn-ea"/>
              </a:rPr>
              <a:t>横场伊辛模型量子相变的蒙卡计算</a:t>
            </a:r>
            <a:endParaRPr lang="zh-CN" altLang="en-US" sz="3200" dirty="0">
              <a:solidFill>
                <a:srgbClr val="000000"/>
              </a:solidFill>
              <a:latin typeface="黑体" panose="02010609060101010101" pitchFamily="49" charset="-122"/>
              <a:ea typeface="黑体" panose="02010609060101010101" pitchFamily="49" charset="-122"/>
            </a:endParaRPr>
          </a:p>
        </p:txBody>
      </p:sp>
      <p:pic>
        <p:nvPicPr>
          <p:cNvPr id="5" name="图片 4" descr="chi_Gamma_0.05noise"/>
          <p:cNvPicPr/>
          <p:nvPr/>
        </p:nvPicPr>
        <p:blipFill>
          <a:blip r:embed="rId3"/>
          <a:stretch>
            <a:fillRect/>
          </a:stretch>
        </p:blipFill>
        <p:spPr>
          <a:xfrm>
            <a:off x="262890" y="1341120"/>
            <a:ext cx="4320000" cy="3600000"/>
          </a:xfrm>
          <a:prstGeom prst="rect">
            <a:avLst/>
          </a:prstGeom>
        </p:spPr>
      </p:pic>
      <p:pic>
        <p:nvPicPr>
          <p:cNvPr id="6" name="图片 5" descr="chi_SG_vs_Gamma"/>
          <p:cNvPicPr/>
          <p:nvPr/>
        </p:nvPicPr>
        <p:blipFill>
          <a:blip r:embed="rId4"/>
          <a:stretch>
            <a:fillRect/>
          </a:stretch>
        </p:blipFill>
        <p:spPr>
          <a:xfrm>
            <a:off x="5159375" y="1341120"/>
            <a:ext cx="4320000" cy="3600000"/>
          </a:xfrm>
          <a:prstGeom prst="rect">
            <a:avLst/>
          </a:prstGeom>
        </p:spPr>
      </p:pic>
      <p:pic>
        <p:nvPicPr>
          <p:cNvPr id="7" name="图片 6" descr="屏幕截图 2026-10-15 164753"/>
          <p:cNvPicPr>
            <a:picLocks noChangeAspect="1"/>
          </p:cNvPicPr>
          <p:nvPr/>
        </p:nvPicPr>
        <p:blipFill>
          <a:blip r:embed="rId5"/>
          <a:stretch>
            <a:fillRect/>
          </a:stretch>
        </p:blipFill>
        <p:spPr>
          <a:xfrm>
            <a:off x="1127125" y="5877560"/>
            <a:ext cx="7410450" cy="558800"/>
          </a:xfrm>
          <a:prstGeom prst="rect">
            <a:avLst/>
          </a:prstGeom>
        </p:spPr>
      </p:pic>
      <p:sp>
        <p:nvSpPr>
          <p:cNvPr id="8" name="文本框 7"/>
          <p:cNvSpPr txBox="1"/>
          <p:nvPr/>
        </p:nvSpPr>
        <p:spPr>
          <a:xfrm>
            <a:off x="1415415" y="5013325"/>
            <a:ext cx="3757930" cy="368300"/>
          </a:xfrm>
          <a:prstGeom prst="rect">
            <a:avLst/>
          </a:prstGeom>
          <a:noFill/>
        </p:spPr>
        <p:txBody>
          <a:bodyPr wrap="square" rtlCol="0">
            <a:spAutoFit/>
          </a:bodyPr>
          <a:lstStyle/>
          <a:p>
            <a:r>
              <a:rPr lang="en-US" altLang="zh-CN"/>
              <a:t>kagome+</a:t>
            </a:r>
            <a:r>
              <a:rPr lang="zh-CN" altLang="en-US"/>
              <a:t>位置噪声随机</a:t>
            </a:r>
          </a:p>
        </p:txBody>
      </p:sp>
      <p:sp>
        <p:nvSpPr>
          <p:cNvPr id="9" name="文本框 8"/>
          <p:cNvSpPr txBox="1"/>
          <p:nvPr/>
        </p:nvSpPr>
        <p:spPr>
          <a:xfrm>
            <a:off x="6816090" y="5013325"/>
            <a:ext cx="3757930" cy="368300"/>
          </a:xfrm>
          <a:prstGeom prst="rect">
            <a:avLst/>
          </a:prstGeom>
          <a:noFill/>
        </p:spPr>
        <p:txBody>
          <a:bodyPr wrap="square" rtlCol="0">
            <a:spAutoFit/>
          </a:bodyPr>
          <a:lstStyle/>
          <a:p>
            <a:r>
              <a:rPr lang="zh-CN" altLang="en-US" dirty="0"/>
              <a:t>纯净</a:t>
            </a:r>
            <a:r>
              <a:rPr lang="en-US" altLang="zh-CN" dirty="0" err="1"/>
              <a:t>kagome</a:t>
            </a:r>
            <a:endParaRPr lang="zh-CN" altLang="en-US" dirty="0"/>
          </a:p>
        </p:txBody>
      </p:sp>
      <p:pic>
        <p:nvPicPr>
          <p:cNvPr id="10" name="图片 9"/>
          <p:cNvPicPr>
            <a:picLocks noChangeAspect="1"/>
          </p:cNvPicPr>
          <p:nvPr/>
        </p:nvPicPr>
        <p:blipFill>
          <a:blip r:embed="rId6"/>
          <a:stretch>
            <a:fillRect/>
          </a:stretch>
        </p:blipFill>
        <p:spPr>
          <a:xfrm>
            <a:off x="9336405" y="4725035"/>
            <a:ext cx="2390775" cy="19507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stretch>
            <a:fillRect/>
          </a:stretch>
        </p:blipFill>
        <p:spPr>
          <a:xfrm>
            <a:off x="0" y="0"/>
            <a:ext cx="12192000" cy="6858001"/>
          </a:xfrm>
          <a:prstGeom prst="rect">
            <a:avLst/>
          </a:prstGeom>
        </p:spPr>
      </p:pic>
      <p:sp>
        <p:nvSpPr>
          <p:cNvPr id="2" name="矩形 1"/>
          <p:cNvSpPr/>
          <p:nvPr/>
        </p:nvSpPr>
        <p:spPr>
          <a:xfrm>
            <a:off x="0" y="1"/>
            <a:ext cx="12192000" cy="6858000"/>
          </a:xfrm>
          <a:prstGeom prst="rect">
            <a:avLst/>
          </a:prstGeom>
          <a:solidFill>
            <a:srgbClr val="FFFFFF">
              <a:alpha val="3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defRPr/>
            </a:pPr>
            <a:endParaRPr lang="zh-CN" altLang="en-US" sz="1015">
              <a:solidFill>
                <a:srgbClr val="FF0000"/>
              </a:solidFill>
              <a:latin typeface="Arial" panose="020B0604020202020204"/>
              <a:ea typeface="宋体" panose="02010600030101010101" pitchFamily="2" charset="-122"/>
            </a:endParaRPr>
          </a:p>
        </p:txBody>
      </p:sp>
      <p:sp>
        <p:nvSpPr>
          <p:cNvPr id="5" name="矩形 4"/>
          <p:cNvSpPr/>
          <p:nvPr/>
        </p:nvSpPr>
        <p:spPr>
          <a:xfrm>
            <a:off x="0" y="4437113"/>
            <a:ext cx="12192000" cy="242088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015">
              <a:solidFill>
                <a:prstClr val="white"/>
              </a:solidFill>
              <a:latin typeface="Arial" panose="020B0604020202020204"/>
              <a:ea typeface="宋体" panose="02010600030101010101" pitchFamily="2" charset="-122"/>
              <a:sym typeface="Arial" panose="020B0604020202020204" pitchFamily="34" charset="0"/>
            </a:endParaRPr>
          </a:p>
        </p:txBody>
      </p:sp>
      <p:sp>
        <p:nvSpPr>
          <p:cNvPr id="6" name="文本框 6"/>
          <p:cNvSpPr txBox="1">
            <a:spLocks noChangeArrowheads="1"/>
          </p:cNvSpPr>
          <p:nvPr/>
        </p:nvSpPr>
        <p:spPr bwMode="auto">
          <a:xfrm>
            <a:off x="1055440" y="4640527"/>
            <a:ext cx="10729192" cy="1283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defRPr>
            </a:lvl9pPr>
          </a:lstStyle>
          <a:p>
            <a:pPr algn="ctr" fontAlgn="auto">
              <a:spcBef>
                <a:spcPts val="340"/>
              </a:spcBef>
              <a:spcAft>
                <a:spcPts val="0"/>
              </a:spcAft>
              <a:buNone/>
              <a:defRPr/>
            </a:pPr>
            <a:r>
              <a:rPr lang="zh-CN" altLang="en-US" sz="6000" b="1" dirty="0">
                <a:solidFill>
                  <a:srgbClr val="FFFF00"/>
                </a:solidFill>
                <a:latin typeface="Arial" panose="020B0604020202020204" pitchFamily="34" charset="0"/>
                <a:sym typeface="Arial" panose="020B0604020202020204" pitchFamily="34" charset="0"/>
              </a:rPr>
              <a:t>谢谢！</a:t>
            </a:r>
          </a:p>
        </p:txBody>
      </p:sp>
      <p:cxnSp>
        <p:nvCxnSpPr>
          <p:cNvPr id="7" name="直接连接符 6"/>
          <p:cNvCxnSpPr/>
          <p:nvPr/>
        </p:nvCxnSpPr>
        <p:spPr>
          <a:xfrm>
            <a:off x="2711624" y="5886669"/>
            <a:ext cx="684076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灯片编号占位符 7"/>
          <p:cNvSpPr>
            <a:spLocks noGrp="1"/>
          </p:cNvSpPr>
          <p:nvPr>
            <p:ph type="sldNum" sz="quarter" idx="12"/>
          </p:nvPr>
        </p:nvSpPr>
        <p:spPr/>
        <p:txBody>
          <a:bodyPr/>
          <a:lstStyle/>
          <a:p>
            <a:pPr>
              <a:defRPr/>
            </a:pPr>
            <a:fld id="{A4F1CF0E-A275-4991-BFC2-D3FA590A122F}" type="slidenum">
              <a:rPr lang="en-GB" altLang="zh-CN" smtClean="0">
                <a:solidFill>
                  <a:srgbClr val="808080"/>
                </a:solidFill>
              </a:rPr>
              <a:t>20</a:t>
            </a:fld>
            <a:endParaRPr lang="en-GB" altLang="zh-CN" dirty="0"/>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PP_MARK_KEY" val="24ff8ffc-682a-4ad0-9367-7b8261af76fc"/>
  <p:tag name="COMMONDATA" val="eyJoZGlkIjoiY2QyMTQ0MTFiMDNjNzU4ODliMTE1YjI3Y2U0ZDg4MD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2182</TotalTime>
  <Words>2723</Words>
  <Application>Microsoft Office PowerPoint</Application>
  <PresentationFormat>宽屏</PresentationFormat>
  <Paragraphs>161</Paragraphs>
  <Slides>20</Slides>
  <Notes>18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等线</vt:lpstr>
      <vt:lpstr>黑体</vt:lpstr>
      <vt:lpstr>楷体</vt:lpstr>
      <vt:lpstr>微软雅黑</vt:lpstr>
      <vt:lpstr>Arial</vt:lpstr>
      <vt:lpstr>Calibri</vt:lpstr>
      <vt:lpstr>Calibri Light</vt:lpstr>
      <vt:lpstr>Cambria Math</vt:lpstr>
      <vt:lpstr>Wingdings</vt:lpstr>
      <vt:lpstr>默认设计模板</vt:lpstr>
      <vt:lpstr>量子模拟和纠错理论工作进展汇报</vt:lpstr>
      <vt:lpstr>本周原定计划及目标</vt:lpstr>
      <vt:lpstr>当前工作进展</vt:lpstr>
      <vt:lpstr>当前工作进展</vt:lpstr>
      <vt:lpstr>当前工作进展  </vt:lpstr>
      <vt:lpstr>PowerPoint 演示文稿</vt:lpstr>
      <vt:lpstr>PowerPoint 演示文稿</vt:lpstr>
      <vt:lpstr>当前工作进展</vt:lpstr>
      <vt:lpstr>当前工作进展  </vt:lpstr>
      <vt:lpstr>PowerPoint 演示文稿</vt:lpstr>
      <vt:lpstr>PowerPoint 演示文稿</vt:lpstr>
      <vt:lpstr>PowerPoint 演示文稿</vt:lpstr>
      <vt:lpstr>PowerPoint 演示文稿</vt:lpstr>
      <vt:lpstr>无定形Kagome横场伊辛模型的蒙卡计算</vt:lpstr>
      <vt:lpstr>无定形Kagome横场伊辛模型中的自旋玻璃量子相变</vt:lpstr>
      <vt:lpstr>无定形Kagome横场伊辛模型中的自旋玻璃量子相变</vt:lpstr>
      <vt:lpstr>无定形Kagome横场伊辛模型中的自旋玻璃量子相变</vt:lpstr>
      <vt:lpstr>PowerPoint 演示文稿</vt:lpstr>
      <vt:lpstr>无定形Kagome横场伊辛模型量子相变的蒙卡计算</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Quwei</dc:creator>
  <cp:lastModifiedBy>L W</cp:lastModifiedBy>
  <cp:revision>1303</cp:revision>
  <cp:lastPrinted>2022-04-20T05:30:00Z</cp:lastPrinted>
  <dcterms:created xsi:type="dcterms:W3CDTF">2022-04-20T05:30:00Z</dcterms:created>
  <dcterms:modified xsi:type="dcterms:W3CDTF">2026-10-16T07:55:48Z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2052-12.1.0.26885</vt:lpwstr>
  </property>
  <property fmtid="{D5CDD505-2E9C-101B-9397-08002B2CF9AE}" pid="3" name="ICV">
    <vt:lpwstr>3A5213F5566A4B42A5241BA9A9EEEABA_13</vt:lpwstr>
  </property>
</Properties>
</file>